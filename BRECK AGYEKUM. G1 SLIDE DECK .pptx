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sldIdLst>
    <p:sldId id="256" r:id="rId2"/>
    <p:sldId id="265" r:id="rId3"/>
    <p:sldId id="271" r:id="rId4"/>
    <p:sldId id="259" r:id="rId5"/>
    <p:sldId id="260" r:id="rId6"/>
    <p:sldId id="267" r:id="rId7"/>
    <p:sldId id="272" r:id="rId8"/>
    <p:sldId id="269" r:id="rId9"/>
    <p:sldId id="270" r:id="rId10"/>
    <p:sldId id="274" r:id="rId11"/>
    <p:sldId id="264" r:id="rId12"/>
    <p:sldId id="276" r:id="rId13"/>
    <p:sldId id="277" r:id="rId14"/>
    <p:sldId id="295" r:id="rId15"/>
    <p:sldId id="278" r:id="rId16"/>
    <p:sldId id="279" r:id="rId17"/>
    <p:sldId id="289" r:id="rId18"/>
    <p:sldId id="290" r:id="rId19"/>
    <p:sldId id="291" r:id="rId20"/>
    <p:sldId id="280" r:id="rId21"/>
    <p:sldId id="281" r:id="rId22"/>
    <p:sldId id="282" r:id="rId23"/>
    <p:sldId id="296" r:id="rId24"/>
    <p:sldId id="284" r:id="rId25"/>
    <p:sldId id="285" r:id="rId26"/>
    <p:sldId id="286" r:id="rId27"/>
    <p:sldId id="297" r:id="rId28"/>
    <p:sldId id="298" r:id="rId29"/>
    <p:sldId id="299" r:id="rId30"/>
    <p:sldId id="300" r:id="rId31"/>
    <p:sldId id="301" r:id="rId32"/>
    <p:sldId id="288" r:id="rId33"/>
  </p:sldIdLst>
  <p:sldSz cx="9144000" cy="6858000" type="screen4x3"/>
  <p:notesSz cx="9236075" cy="7010400"/>
  <p:defaultTextStyle>
    <a:defPPr>
      <a:defRPr lang="en-GB"/>
    </a:defPPr>
    <a:lvl1pPr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1"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B06145-FE13-3E10-C8B0-63F06A9A0F9E}" name="Tony Bailetti" initials="TB" userId="S::tonybailetti@cunet.carleton.ca::54091aa5-2114-46ca-a55c-8a7a46078b6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2450" autoAdjust="0"/>
  </p:normalViewPr>
  <p:slideViewPr>
    <p:cSldViewPr showGuides="1">
      <p:cViewPr varScale="1">
        <p:scale>
          <a:sx n="66" d="100"/>
          <a:sy n="66" d="100"/>
        </p:scale>
        <p:origin x="1644" y="48"/>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showGuides="1">
      <p:cViewPr varScale="1">
        <p:scale>
          <a:sx n="59" d="100"/>
          <a:sy n="59" d="100"/>
        </p:scale>
        <p:origin x="-1752" y="-72"/>
      </p:cViewPr>
      <p:guideLst>
        <p:guide orient="horz" pos="2881"/>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a:extLst>
              <a:ext uri="{FF2B5EF4-FFF2-40B4-BE49-F238E27FC236}">
                <a16:creationId xmlns:a16="http://schemas.microsoft.com/office/drawing/2014/main" id="{4976026D-CB88-7074-0D85-BDA98C9C111C}"/>
              </a:ext>
            </a:extLst>
          </p:cNvPr>
          <p:cNvSpPr>
            <a:spLocks noChangeArrowheads="1"/>
          </p:cNvSpPr>
          <p:nvPr/>
        </p:nvSpPr>
        <p:spPr bwMode="auto">
          <a:xfrm>
            <a:off x="0" y="1"/>
            <a:ext cx="9236075" cy="7010400"/>
          </a:xfrm>
          <a:prstGeom prst="roundRect">
            <a:avLst>
              <a:gd name="adj" fmla="val 19"/>
            </a:avLst>
          </a:prstGeom>
          <a:solidFill>
            <a:srgbClr val="FFFFFF"/>
          </a:solidFill>
          <a:ln>
            <a:noFill/>
          </a:ln>
          <a:effectLst/>
          <a:extLst>
            <a:ext uri="{91240B29-F687-4F45-9708-019B960494DF}">
              <a14:hiddenLine xmlns:a14="http://schemas.microsoft.com/office/drawing/2010/main" w="9360" cap="flat">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0" name="AutoShape 2">
            <a:extLst>
              <a:ext uri="{FF2B5EF4-FFF2-40B4-BE49-F238E27FC236}">
                <a16:creationId xmlns:a16="http://schemas.microsoft.com/office/drawing/2014/main" id="{F7F5FCCF-410B-1C97-E7DE-7F8EB32D7E09}"/>
              </a:ext>
            </a:extLst>
          </p:cNvPr>
          <p:cNvSpPr>
            <a:spLocks noChangeArrowheads="1"/>
          </p:cNvSpPr>
          <p:nvPr/>
        </p:nvSpPr>
        <p:spPr bwMode="auto">
          <a:xfrm>
            <a:off x="0" y="1"/>
            <a:ext cx="9236075" cy="7010400"/>
          </a:xfrm>
          <a:prstGeom prst="roundRect">
            <a:avLst>
              <a:gd name="adj" fmla="val 19"/>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1" name="AutoShape 3">
            <a:extLst>
              <a:ext uri="{FF2B5EF4-FFF2-40B4-BE49-F238E27FC236}">
                <a16:creationId xmlns:a16="http://schemas.microsoft.com/office/drawing/2014/main" id="{16B018FD-E8BB-4B17-9460-6A9A9E6ED7AB}"/>
              </a:ext>
            </a:extLst>
          </p:cNvPr>
          <p:cNvSpPr>
            <a:spLocks noChangeArrowheads="1"/>
          </p:cNvSpPr>
          <p:nvPr/>
        </p:nvSpPr>
        <p:spPr bwMode="auto">
          <a:xfrm>
            <a:off x="0" y="1"/>
            <a:ext cx="9236075" cy="7010400"/>
          </a:xfrm>
          <a:prstGeom prst="roundRect">
            <a:avLst>
              <a:gd name="adj" fmla="val 19"/>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2" name="AutoShape 4">
            <a:extLst>
              <a:ext uri="{FF2B5EF4-FFF2-40B4-BE49-F238E27FC236}">
                <a16:creationId xmlns:a16="http://schemas.microsoft.com/office/drawing/2014/main" id="{BE64DEE4-70EB-5938-346C-D9646A530063}"/>
              </a:ext>
            </a:extLst>
          </p:cNvPr>
          <p:cNvSpPr>
            <a:spLocks noChangeArrowheads="1"/>
          </p:cNvSpPr>
          <p:nvPr/>
        </p:nvSpPr>
        <p:spPr bwMode="auto">
          <a:xfrm>
            <a:off x="0" y="1"/>
            <a:ext cx="9236075" cy="7010400"/>
          </a:xfrm>
          <a:prstGeom prst="roundRect">
            <a:avLst>
              <a:gd name="adj" fmla="val 19"/>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3" name="AutoShape 5">
            <a:extLst>
              <a:ext uri="{FF2B5EF4-FFF2-40B4-BE49-F238E27FC236}">
                <a16:creationId xmlns:a16="http://schemas.microsoft.com/office/drawing/2014/main" id="{8BE0264A-11B4-AD84-7FCB-242262CA6102}"/>
              </a:ext>
            </a:extLst>
          </p:cNvPr>
          <p:cNvSpPr>
            <a:spLocks noChangeArrowheads="1"/>
          </p:cNvSpPr>
          <p:nvPr/>
        </p:nvSpPr>
        <p:spPr bwMode="auto">
          <a:xfrm>
            <a:off x="0" y="1"/>
            <a:ext cx="9236075" cy="7010400"/>
          </a:xfrm>
          <a:prstGeom prst="roundRect">
            <a:avLst>
              <a:gd name="adj" fmla="val 19"/>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4" name="AutoShape 6">
            <a:extLst>
              <a:ext uri="{FF2B5EF4-FFF2-40B4-BE49-F238E27FC236}">
                <a16:creationId xmlns:a16="http://schemas.microsoft.com/office/drawing/2014/main" id="{B966E6C8-E565-712F-7F4C-45EB1A6FA85C}"/>
              </a:ext>
            </a:extLst>
          </p:cNvPr>
          <p:cNvSpPr>
            <a:spLocks noChangeArrowheads="1"/>
          </p:cNvSpPr>
          <p:nvPr/>
        </p:nvSpPr>
        <p:spPr bwMode="auto">
          <a:xfrm>
            <a:off x="1" y="0"/>
            <a:ext cx="9234487" cy="7011987"/>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5" name="AutoShape 7">
            <a:extLst>
              <a:ext uri="{FF2B5EF4-FFF2-40B4-BE49-F238E27FC236}">
                <a16:creationId xmlns:a16="http://schemas.microsoft.com/office/drawing/2014/main" id="{7B6E52CC-DDD0-DBBF-A6FA-D1D111327194}"/>
              </a:ext>
            </a:extLst>
          </p:cNvPr>
          <p:cNvSpPr>
            <a:spLocks noChangeArrowheads="1"/>
          </p:cNvSpPr>
          <p:nvPr/>
        </p:nvSpPr>
        <p:spPr bwMode="auto">
          <a:xfrm>
            <a:off x="1" y="0"/>
            <a:ext cx="9234487" cy="7011987"/>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6" name="Text Box 8">
            <a:extLst>
              <a:ext uri="{FF2B5EF4-FFF2-40B4-BE49-F238E27FC236}">
                <a16:creationId xmlns:a16="http://schemas.microsoft.com/office/drawing/2014/main" id="{BB20697F-FF67-465A-71B2-C62A59755CC1}"/>
              </a:ext>
            </a:extLst>
          </p:cNvPr>
          <p:cNvSpPr txBox="1">
            <a:spLocks noChangeArrowheads="1"/>
          </p:cNvSpPr>
          <p:nvPr/>
        </p:nvSpPr>
        <p:spPr bwMode="auto">
          <a:xfrm>
            <a:off x="0" y="0"/>
            <a:ext cx="3998226" cy="347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7" name="Text Box 9">
            <a:extLst>
              <a:ext uri="{FF2B5EF4-FFF2-40B4-BE49-F238E27FC236}">
                <a16:creationId xmlns:a16="http://schemas.microsoft.com/office/drawing/2014/main" id="{5867F99A-F624-A2FE-2341-52DAE64F509D}"/>
              </a:ext>
            </a:extLst>
          </p:cNvPr>
          <p:cNvSpPr txBox="1">
            <a:spLocks noChangeArrowheads="1"/>
          </p:cNvSpPr>
          <p:nvPr/>
        </p:nvSpPr>
        <p:spPr bwMode="auto">
          <a:xfrm>
            <a:off x="5233089" y="0"/>
            <a:ext cx="3996638" cy="347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58" name="Rectangle 10">
            <a:extLst>
              <a:ext uri="{FF2B5EF4-FFF2-40B4-BE49-F238E27FC236}">
                <a16:creationId xmlns:a16="http://schemas.microsoft.com/office/drawing/2014/main" id="{EF460DA6-E112-4D5F-274D-7EA57A6F294A}"/>
              </a:ext>
            </a:extLst>
          </p:cNvPr>
          <p:cNvSpPr>
            <a:spLocks noGrp="1" noRot="1" noChangeAspect="1" noChangeArrowheads="1"/>
          </p:cNvSpPr>
          <p:nvPr>
            <p:ph type="sldImg"/>
          </p:nvPr>
        </p:nvSpPr>
        <p:spPr bwMode="auto">
          <a:xfrm>
            <a:off x="2867025" y="527050"/>
            <a:ext cx="3489325" cy="2617788"/>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9" name="Rectangle 11">
            <a:extLst>
              <a:ext uri="{FF2B5EF4-FFF2-40B4-BE49-F238E27FC236}">
                <a16:creationId xmlns:a16="http://schemas.microsoft.com/office/drawing/2014/main" id="{ADAC4C96-3C3D-F282-7142-91559EBB094D}"/>
              </a:ext>
            </a:extLst>
          </p:cNvPr>
          <p:cNvSpPr>
            <a:spLocks noGrp="1" noChangeArrowheads="1"/>
          </p:cNvSpPr>
          <p:nvPr>
            <p:ph type="body"/>
          </p:nvPr>
        </p:nvSpPr>
        <p:spPr bwMode="auto">
          <a:xfrm>
            <a:off x="1230101" y="3331329"/>
            <a:ext cx="6760000" cy="314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7520" rIns="91440" bIns="47520" numCol="1" anchor="t" anchorCtr="0" compatLnSpc="1">
            <a:prstTxWarp prst="textNoShape">
              <a:avLst/>
            </a:prstTxWarp>
          </a:bodyPr>
          <a:lstStyle/>
          <a:p>
            <a:pPr lvl="0"/>
            <a:endParaRPr lang="en-US" altLang="en-US"/>
          </a:p>
        </p:txBody>
      </p:sp>
      <p:sp>
        <p:nvSpPr>
          <p:cNvPr id="2060" name="Text Box 12">
            <a:extLst>
              <a:ext uri="{FF2B5EF4-FFF2-40B4-BE49-F238E27FC236}">
                <a16:creationId xmlns:a16="http://schemas.microsoft.com/office/drawing/2014/main" id="{2F880A86-807D-D52F-AB0F-C1B1CD6BFCA6}"/>
              </a:ext>
            </a:extLst>
          </p:cNvPr>
          <p:cNvSpPr txBox="1">
            <a:spLocks noChangeArrowheads="1"/>
          </p:cNvSpPr>
          <p:nvPr/>
        </p:nvSpPr>
        <p:spPr bwMode="auto">
          <a:xfrm>
            <a:off x="0" y="6661071"/>
            <a:ext cx="3998226" cy="349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61" name="Rectangle 13">
            <a:extLst>
              <a:ext uri="{FF2B5EF4-FFF2-40B4-BE49-F238E27FC236}">
                <a16:creationId xmlns:a16="http://schemas.microsoft.com/office/drawing/2014/main" id="{00C04AA7-8A73-D5B0-9548-DC2939AE1150}"/>
              </a:ext>
            </a:extLst>
          </p:cNvPr>
          <p:cNvSpPr>
            <a:spLocks noGrp="1" noChangeArrowheads="1"/>
          </p:cNvSpPr>
          <p:nvPr>
            <p:ph type="sldNum"/>
          </p:nvPr>
        </p:nvSpPr>
        <p:spPr bwMode="auto">
          <a:xfrm>
            <a:off x="5233089" y="6661071"/>
            <a:ext cx="3988701" cy="341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7520" rIns="91440" bIns="47520" numCol="1" anchor="b" anchorCtr="0" compatLnSpc="1">
            <a:prstTxWarp prst="textNoShape">
              <a:avLst/>
            </a:prstTxWarp>
          </a:bodyPr>
          <a:lstStyle>
            <a:lvl1pPr algn="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200">
                <a:solidFill>
                  <a:srgbClr val="000000"/>
                </a:solidFill>
                <a:cs typeface="Arial Unicode MS" pitchFamily="32" charset="0"/>
              </a:defRPr>
            </a:lvl1pPr>
          </a:lstStyle>
          <a:p>
            <a:fld id="{DACD2B05-E854-494B-9C31-1083916A310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46A6CEEB-26C9-CC9A-6FE5-71A7000E9A8A}"/>
              </a:ext>
            </a:extLst>
          </p:cNvPr>
          <p:cNvSpPr>
            <a:spLocks noGrp="1" noChangeArrowheads="1"/>
          </p:cNvSpPr>
          <p:nvPr>
            <p:ph type="sldNum"/>
          </p:nvPr>
        </p:nvSpPr>
        <p:spPr>
          <a:ln/>
        </p:spPr>
        <p:txBody>
          <a:bodyPr/>
          <a:lstStyle/>
          <a:p>
            <a:fld id="{61CC773E-C7E6-4068-A24A-EE9B28D59152}" type="slidenum">
              <a:rPr lang="en-US" altLang="en-US"/>
              <a:pPr/>
              <a:t>1</a:t>
            </a:fld>
            <a:endParaRPr lang="en-US" altLang="en-US"/>
          </a:p>
        </p:txBody>
      </p:sp>
      <p:sp>
        <p:nvSpPr>
          <p:cNvPr id="12289" name="Text Box 1">
            <a:extLst>
              <a:ext uri="{FF2B5EF4-FFF2-40B4-BE49-F238E27FC236}">
                <a16:creationId xmlns:a16="http://schemas.microsoft.com/office/drawing/2014/main" id="{15E30B50-04A0-777D-428D-88DCC51C01CC}"/>
              </a:ext>
            </a:extLst>
          </p:cNvPr>
          <p:cNvSpPr txBox="1">
            <a:spLocks noChangeArrowheads="1"/>
          </p:cNvSpPr>
          <p:nvPr/>
        </p:nvSpPr>
        <p:spPr bwMode="auto">
          <a:xfrm>
            <a:off x="5233089" y="6661071"/>
            <a:ext cx="3996638" cy="349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7520" bIns="4752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r" eaLnBrk="1" hangingPunct="1">
              <a:buClrTx/>
              <a:buFontTx/>
              <a:buNone/>
            </a:pPr>
            <a:fld id="{5082AE36-AAC7-4B86-BD26-BAC38016B6B9}" type="slidenum">
              <a:rPr lang="en-US" altLang="en-US" sz="1200">
                <a:solidFill>
                  <a:srgbClr val="000000"/>
                </a:solidFill>
                <a:cs typeface="Arial Unicode MS" pitchFamily="32" charset="0"/>
              </a:rPr>
              <a:pPr algn="r" eaLnBrk="1" hangingPunct="1">
                <a:buClrTx/>
                <a:buFontTx/>
                <a:buNone/>
              </a:pPr>
              <a:t>1</a:t>
            </a:fld>
            <a:endParaRPr lang="en-US" altLang="en-US" sz="1200">
              <a:solidFill>
                <a:srgbClr val="000000"/>
              </a:solidFill>
              <a:cs typeface="Arial Unicode MS" pitchFamily="32" charset="0"/>
            </a:endParaRPr>
          </a:p>
        </p:txBody>
      </p:sp>
      <p:sp>
        <p:nvSpPr>
          <p:cNvPr id="12290" name="Text Box 2">
            <a:extLst>
              <a:ext uri="{FF2B5EF4-FFF2-40B4-BE49-F238E27FC236}">
                <a16:creationId xmlns:a16="http://schemas.microsoft.com/office/drawing/2014/main" id="{67BB8810-9DBC-0462-82F7-D4312BFD4F86}"/>
              </a:ext>
            </a:extLst>
          </p:cNvPr>
          <p:cNvSpPr txBox="1">
            <a:spLocks noChangeArrowheads="1"/>
          </p:cNvSpPr>
          <p:nvPr/>
        </p:nvSpPr>
        <p:spPr bwMode="auto">
          <a:xfrm>
            <a:off x="1539611" y="525582"/>
            <a:ext cx="6155267" cy="2629495"/>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12291" name="Rectangle 3">
            <a:extLst>
              <a:ext uri="{FF2B5EF4-FFF2-40B4-BE49-F238E27FC236}">
                <a16:creationId xmlns:a16="http://schemas.microsoft.com/office/drawing/2014/main" id="{9084F432-58E7-4F14-40D4-27C5C918DF76}"/>
              </a:ext>
            </a:extLst>
          </p:cNvPr>
          <p:cNvSpPr txBox="1">
            <a:spLocks noGrp="1" noChangeArrowheads="1"/>
          </p:cNvSpPr>
          <p:nvPr>
            <p:ph type="body"/>
          </p:nvPr>
        </p:nvSpPr>
        <p:spPr bwMode="auto">
          <a:xfrm>
            <a:off x="1230101" y="3331329"/>
            <a:ext cx="6772698" cy="322653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8B07A49-134E-D413-6C5E-CEDA86E25488}"/>
              </a:ext>
            </a:extLst>
          </p:cNvPr>
          <p:cNvSpPr>
            <a:spLocks noGrp="1" noChangeArrowheads="1"/>
          </p:cNvSpPr>
          <p:nvPr>
            <p:ph type="sldNum"/>
          </p:nvPr>
        </p:nvSpPr>
        <p:spPr>
          <a:ln/>
        </p:spPr>
        <p:txBody>
          <a:bodyPr/>
          <a:lstStyle/>
          <a:p>
            <a:fld id="{AFD3D64F-D616-4274-8EF0-EFE6A214CE19}" type="slidenum">
              <a:rPr lang="en-US" altLang="en-US"/>
              <a:pPr/>
              <a:t>4</a:t>
            </a:fld>
            <a:endParaRPr lang="en-US" altLang="en-US"/>
          </a:p>
        </p:txBody>
      </p:sp>
      <p:sp>
        <p:nvSpPr>
          <p:cNvPr id="15361" name="Text Box 1">
            <a:extLst>
              <a:ext uri="{FF2B5EF4-FFF2-40B4-BE49-F238E27FC236}">
                <a16:creationId xmlns:a16="http://schemas.microsoft.com/office/drawing/2014/main" id="{DB92FFFC-F179-5A99-4085-0A27E277AEB6}"/>
              </a:ext>
            </a:extLst>
          </p:cNvPr>
          <p:cNvSpPr txBox="1">
            <a:spLocks noChangeArrowheads="1"/>
          </p:cNvSpPr>
          <p:nvPr/>
        </p:nvSpPr>
        <p:spPr bwMode="auto">
          <a:xfrm>
            <a:off x="5233089" y="6661071"/>
            <a:ext cx="3996638" cy="349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7520" bIns="4752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r" eaLnBrk="1" hangingPunct="1">
              <a:buClrTx/>
              <a:buFontTx/>
              <a:buNone/>
            </a:pPr>
            <a:fld id="{36EBE139-400E-403E-99A6-B4B4595CF5E4}" type="slidenum">
              <a:rPr lang="en-US" altLang="en-US" sz="1200">
                <a:solidFill>
                  <a:srgbClr val="000000"/>
                </a:solidFill>
                <a:cs typeface="Arial Unicode MS" pitchFamily="32" charset="0"/>
              </a:rPr>
              <a:pPr algn="r" eaLnBrk="1" hangingPunct="1">
                <a:buClrTx/>
                <a:buFontTx/>
                <a:buNone/>
              </a:pPr>
              <a:t>4</a:t>
            </a:fld>
            <a:endParaRPr lang="en-US" altLang="en-US" sz="1200">
              <a:solidFill>
                <a:srgbClr val="000000"/>
              </a:solidFill>
              <a:cs typeface="Arial Unicode MS" pitchFamily="32" charset="0"/>
            </a:endParaRPr>
          </a:p>
        </p:txBody>
      </p:sp>
      <p:sp>
        <p:nvSpPr>
          <p:cNvPr id="15362" name="Text Box 2">
            <a:extLst>
              <a:ext uri="{FF2B5EF4-FFF2-40B4-BE49-F238E27FC236}">
                <a16:creationId xmlns:a16="http://schemas.microsoft.com/office/drawing/2014/main" id="{AE800077-421C-D568-8ABA-DC40C4E307B2}"/>
              </a:ext>
            </a:extLst>
          </p:cNvPr>
          <p:cNvSpPr txBox="1">
            <a:spLocks noChangeArrowheads="1"/>
          </p:cNvSpPr>
          <p:nvPr/>
        </p:nvSpPr>
        <p:spPr bwMode="auto">
          <a:xfrm>
            <a:off x="1539611" y="525582"/>
            <a:ext cx="6155267" cy="2629495"/>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15363" name="Rectangle 3">
            <a:extLst>
              <a:ext uri="{FF2B5EF4-FFF2-40B4-BE49-F238E27FC236}">
                <a16:creationId xmlns:a16="http://schemas.microsoft.com/office/drawing/2014/main" id="{B97BC34D-3DA3-98E5-2B06-AE9D6D455EDF}"/>
              </a:ext>
            </a:extLst>
          </p:cNvPr>
          <p:cNvSpPr txBox="1">
            <a:spLocks noGrp="1" noChangeArrowheads="1"/>
          </p:cNvSpPr>
          <p:nvPr>
            <p:ph type="body"/>
          </p:nvPr>
        </p:nvSpPr>
        <p:spPr bwMode="auto">
          <a:xfrm>
            <a:off x="1230101" y="3331329"/>
            <a:ext cx="6772698" cy="322653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B29BA1E9-6385-B392-05E8-A624F14E8E40}"/>
              </a:ext>
            </a:extLst>
          </p:cNvPr>
          <p:cNvSpPr>
            <a:spLocks noGrp="1" noChangeArrowheads="1"/>
          </p:cNvSpPr>
          <p:nvPr>
            <p:ph type="sldNum"/>
          </p:nvPr>
        </p:nvSpPr>
        <p:spPr>
          <a:ln/>
        </p:spPr>
        <p:txBody>
          <a:bodyPr/>
          <a:lstStyle/>
          <a:p>
            <a:fld id="{977F1E29-CA5C-4BEF-904C-0D4919678C87}" type="slidenum">
              <a:rPr lang="en-US" altLang="en-US"/>
              <a:pPr/>
              <a:t>5</a:t>
            </a:fld>
            <a:endParaRPr lang="en-US" altLang="en-US"/>
          </a:p>
        </p:txBody>
      </p:sp>
      <p:sp>
        <p:nvSpPr>
          <p:cNvPr id="16385" name="Text Box 1">
            <a:extLst>
              <a:ext uri="{FF2B5EF4-FFF2-40B4-BE49-F238E27FC236}">
                <a16:creationId xmlns:a16="http://schemas.microsoft.com/office/drawing/2014/main" id="{FB5B0C26-E007-3864-7460-8821EA5EE8DC}"/>
              </a:ext>
            </a:extLst>
          </p:cNvPr>
          <p:cNvSpPr txBox="1">
            <a:spLocks noChangeArrowheads="1"/>
          </p:cNvSpPr>
          <p:nvPr/>
        </p:nvSpPr>
        <p:spPr bwMode="auto">
          <a:xfrm>
            <a:off x="5233089" y="6661071"/>
            <a:ext cx="3996638" cy="349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7520" bIns="4752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r" eaLnBrk="1" hangingPunct="1">
              <a:buClrTx/>
              <a:buFontTx/>
              <a:buNone/>
            </a:pPr>
            <a:fld id="{A4413520-9582-44B0-B82C-D4080A09869D}" type="slidenum">
              <a:rPr lang="en-US" altLang="en-US" sz="1200">
                <a:solidFill>
                  <a:srgbClr val="000000"/>
                </a:solidFill>
                <a:cs typeface="Arial Unicode MS" pitchFamily="32" charset="0"/>
              </a:rPr>
              <a:pPr algn="r" eaLnBrk="1" hangingPunct="1">
                <a:buClrTx/>
                <a:buFontTx/>
                <a:buNone/>
              </a:pPr>
              <a:t>5</a:t>
            </a:fld>
            <a:endParaRPr lang="en-US" altLang="en-US" sz="1200">
              <a:solidFill>
                <a:srgbClr val="000000"/>
              </a:solidFill>
              <a:cs typeface="Arial Unicode MS" pitchFamily="32" charset="0"/>
            </a:endParaRPr>
          </a:p>
        </p:txBody>
      </p:sp>
      <p:sp>
        <p:nvSpPr>
          <p:cNvPr id="16386" name="Text Box 2">
            <a:extLst>
              <a:ext uri="{FF2B5EF4-FFF2-40B4-BE49-F238E27FC236}">
                <a16:creationId xmlns:a16="http://schemas.microsoft.com/office/drawing/2014/main" id="{5B09E166-81D1-C318-CC13-4F2AF50FC34C}"/>
              </a:ext>
            </a:extLst>
          </p:cNvPr>
          <p:cNvSpPr txBox="1">
            <a:spLocks noChangeArrowheads="1"/>
          </p:cNvSpPr>
          <p:nvPr/>
        </p:nvSpPr>
        <p:spPr bwMode="auto">
          <a:xfrm>
            <a:off x="1539611" y="525582"/>
            <a:ext cx="6155267" cy="2629495"/>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16387" name="Rectangle 3">
            <a:extLst>
              <a:ext uri="{FF2B5EF4-FFF2-40B4-BE49-F238E27FC236}">
                <a16:creationId xmlns:a16="http://schemas.microsoft.com/office/drawing/2014/main" id="{9847A505-480B-D040-9776-101F7F6E8149}"/>
              </a:ext>
            </a:extLst>
          </p:cNvPr>
          <p:cNvSpPr txBox="1">
            <a:spLocks noGrp="1" noChangeArrowheads="1"/>
          </p:cNvSpPr>
          <p:nvPr>
            <p:ph type="body"/>
          </p:nvPr>
        </p:nvSpPr>
        <p:spPr bwMode="auto">
          <a:xfrm>
            <a:off x="1230101" y="3331329"/>
            <a:ext cx="6772698" cy="322653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05A48F0A-BF92-AFD7-CBE1-C59F08769E78}"/>
              </a:ext>
            </a:extLst>
          </p:cNvPr>
          <p:cNvSpPr>
            <a:spLocks noGrp="1" noChangeArrowheads="1"/>
          </p:cNvSpPr>
          <p:nvPr>
            <p:ph type="sldNum"/>
          </p:nvPr>
        </p:nvSpPr>
        <p:spPr>
          <a:ln/>
        </p:spPr>
        <p:txBody>
          <a:bodyPr/>
          <a:lstStyle/>
          <a:p>
            <a:fld id="{0CDB4BDA-E5AE-4B0A-8BF4-77B5DE8A8F4E}" type="slidenum">
              <a:rPr lang="en-US" altLang="en-US"/>
              <a:pPr/>
              <a:t>11</a:t>
            </a:fld>
            <a:endParaRPr lang="en-US" altLang="en-US"/>
          </a:p>
        </p:txBody>
      </p:sp>
      <p:sp>
        <p:nvSpPr>
          <p:cNvPr id="20481" name="Text Box 1">
            <a:extLst>
              <a:ext uri="{FF2B5EF4-FFF2-40B4-BE49-F238E27FC236}">
                <a16:creationId xmlns:a16="http://schemas.microsoft.com/office/drawing/2014/main" id="{68A97E63-4D2C-54B8-EC61-711FDFF4156D}"/>
              </a:ext>
            </a:extLst>
          </p:cNvPr>
          <p:cNvSpPr txBox="1">
            <a:spLocks noChangeArrowheads="1"/>
          </p:cNvSpPr>
          <p:nvPr/>
        </p:nvSpPr>
        <p:spPr bwMode="auto">
          <a:xfrm>
            <a:off x="5233089" y="6661071"/>
            <a:ext cx="3996638" cy="349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7520" bIns="4752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r" eaLnBrk="1" hangingPunct="1">
              <a:buClrTx/>
              <a:buFontTx/>
              <a:buNone/>
            </a:pPr>
            <a:fld id="{88D1A62B-311A-470F-B5A7-B81951F59448}" type="slidenum">
              <a:rPr lang="en-US" altLang="en-US" sz="1200">
                <a:solidFill>
                  <a:srgbClr val="000000"/>
                </a:solidFill>
                <a:cs typeface="Arial Unicode MS" pitchFamily="32" charset="0"/>
              </a:rPr>
              <a:pPr algn="r" eaLnBrk="1" hangingPunct="1">
                <a:buClrTx/>
                <a:buFontTx/>
                <a:buNone/>
              </a:pPr>
              <a:t>11</a:t>
            </a:fld>
            <a:endParaRPr lang="en-US" altLang="en-US" sz="1200">
              <a:solidFill>
                <a:srgbClr val="000000"/>
              </a:solidFill>
              <a:cs typeface="Arial Unicode MS" pitchFamily="32" charset="0"/>
            </a:endParaRPr>
          </a:p>
        </p:txBody>
      </p:sp>
      <p:sp>
        <p:nvSpPr>
          <p:cNvPr id="20482" name="Text Box 2">
            <a:extLst>
              <a:ext uri="{FF2B5EF4-FFF2-40B4-BE49-F238E27FC236}">
                <a16:creationId xmlns:a16="http://schemas.microsoft.com/office/drawing/2014/main" id="{D9C2D52E-5EE1-7582-64F7-BE1A891F09EA}"/>
              </a:ext>
            </a:extLst>
          </p:cNvPr>
          <p:cNvSpPr txBox="1">
            <a:spLocks noChangeArrowheads="1"/>
          </p:cNvSpPr>
          <p:nvPr/>
        </p:nvSpPr>
        <p:spPr bwMode="auto">
          <a:xfrm>
            <a:off x="1539611" y="525582"/>
            <a:ext cx="6155267" cy="2629495"/>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0483" name="Rectangle 3">
            <a:extLst>
              <a:ext uri="{FF2B5EF4-FFF2-40B4-BE49-F238E27FC236}">
                <a16:creationId xmlns:a16="http://schemas.microsoft.com/office/drawing/2014/main" id="{1DB7890C-A778-7960-FCBA-99B9929A3D25}"/>
              </a:ext>
            </a:extLst>
          </p:cNvPr>
          <p:cNvSpPr txBox="1">
            <a:spLocks noGrp="1" noChangeArrowheads="1"/>
          </p:cNvSpPr>
          <p:nvPr>
            <p:ph type="body"/>
          </p:nvPr>
        </p:nvSpPr>
        <p:spPr bwMode="auto">
          <a:xfrm>
            <a:off x="1230101" y="3331329"/>
            <a:ext cx="6772698" cy="322653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E1E8A-B2FE-E539-DC99-76D3738A719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259552E-A921-ECD5-A8F8-5C207D70F87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Footer Placeholder 3">
            <a:extLst>
              <a:ext uri="{FF2B5EF4-FFF2-40B4-BE49-F238E27FC236}">
                <a16:creationId xmlns:a16="http://schemas.microsoft.com/office/drawing/2014/main" id="{1F82E53C-EC30-9D72-B50A-5E42A3EAB9CF}"/>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5" name="Slide Number Placeholder 4">
            <a:extLst>
              <a:ext uri="{FF2B5EF4-FFF2-40B4-BE49-F238E27FC236}">
                <a16:creationId xmlns:a16="http://schemas.microsoft.com/office/drawing/2014/main" id="{A086EA81-AC6F-54C1-2A38-0DDDC4053B7E}"/>
              </a:ext>
            </a:extLst>
          </p:cNvPr>
          <p:cNvSpPr>
            <a:spLocks noGrp="1"/>
          </p:cNvSpPr>
          <p:nvPr>
            <p:ph type="sldNum" idx="11"/>
          </p:nvPr>
        </p:nvSpPr>
        <p:spPr/>
        <p:txBody>
          <a:bodyPr/>
          <a:lstStyle>
            <a:lvl1pPr>
              <a:defRPr/>
            </a:lvl1pPr>
          </a:lstStyle>
          <a:p>
            <a:r>
              <a:rPr lang="en-CA" altLang="en-US"/>
              <a:t>Slide </a:t>
            </a:r>
            <a:fld id="{5C314563-EE83-480B-8C54-B791C8FE1607}" type="slidenum">
              <a:rPr lang="en-CA" altLang="en-US"/>
              <a:pPr/>
              <a:t>‹#›</a:t>
            </a:fld>
            <a:endParaRPr lang="en-CA" altLang="en-US"/>
          </a:p>
        </p:txBody>
      </p:sp>
    </p:spTree>
    <p:extLst>
      <p:ext uri="{BB962C8B-B14F-4D97-AF65-F5344CB8AC3E}">
        <p14:creationId xmlns:p14="http://schemas.microsoft.com/office/powerpoint/2010/main" val="77601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FA3BA-3D0A-23BD-1B59-AB364B78699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7C21410-2815-C9D2-E594-35EC0AEBD8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Footer Placeholder 3">
            <a:extLst>
              <a:ext uri="{FF2B5EF4-FFF2-40B4-BE49-F238E27FC236}">
                <a16:creationId xmlns:a16="http://schemas.microsoft.com/office/drawing/2014/main" id="{BC7D8FFD-B8A0-E7CC-3A27-0406951549E2}"/>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5" name="Slide Number Placeholder 4">
            <a:extLst>
              <a:ext uri="{FF2B5EF4-FFF2-40B4-BE49-F238E27FC236}">
                <a16:creationId xmlns:a16="http://schemas.microsoft.com/office/drawing/2014/main" id="{7EAB917D-0ADE-236D-E9F3-7F0ACFAEE077}"/>
              </a:ext>
            </a:extLst>
          </p:cNvPr>
          <p:cNvSpPr>
            <a:spLocks noGrp="1"/>
          </p:cNvSpPr>
          <p:nvPr>
            <p:ph type="sldNum" idx="11"/>
          </p:nvPr>
        </p:nvSpPr>
        <p:spPr/>
        <p:txBody>
          <a:bodyPr/>
          <a:lstStyle>
            <a:lvl1pPr>
              <a:defRPr/>
            </a:lvl1pPr>
          </a:lstStyle>
          <a:p>
            <a:r>
              <a:rPr lang="en-CA" altLang="en-US"/>
              <a:t>Slide </a:t>
            </a:r>
            <a:fld id="{D0E521B3-2D97-41A1-93A6-82B79EEE9018}" type="slidenum">
              <a:rPr lang="en-CA" altLang="en-US"/>
              <a:pPr/>
              <a:t>‹#›</a:t>
            </a:fld>
            <a:endParaRPr lang="en-CA" altLang="en-US"/>
          </a:p>
        </p:txBody>
      </p:sp>
    </p:spTree>
    <p:extLst>
      <p:ext uri="{BB962C8B-B14F-4D97-AF65-F5344CB8AC3E}">
        <p14:creationId xmlns:p14="http://schemas.microsoft.com/office/powerpoint/2010/main" val="120120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BCF8-B9C9-6921-4919-BDF590B9B5F0}"/>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FB28034-CA17-19C7-EB12-70BDA50036A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a:extLst>
              <a:ext uri="{FF2B5EF4-FFF2-40B4-BE49-F238E27FC236}">
                <a16:creationId xmlns:a16="http://schemas.microsoft.com/office/drawing/2014/main" id="{12CD95F1-47FC-153F-1B45-C3B2A42104F2}"/>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5" name="Slide Number Placeholder 4">
            <a:extLst>
              <a:ext uri="{FF2B5EF4-FFF2-40B4-BE49-F238E27FC236}">
                <a16:creationId xmlns:a16="http://schemas.microsoft.com/office/drawing/2014/main" id="{E0D7D85F-9DB0-7FB9-1F30-903206D904E3}"/>
              </a:ext>
            </a:extLst>
          </p:cNvPr>
          <p:cNvSpPr>
            <a:spLocks noGrp="1"/>
          </p:cNvSpPr>
          <p:nvPr>
            <p:ph type="sldNum" idx="11"/>
          </p:nvPr>
        </p:nvSpPr>
        <p:spPr/>
        <p:txBody>
          <a:bodyPr/>
          <a:lstStyle>
            <a:lvl1pPr>
              <a:defRPr/>
            </a:lvl1pPr>
          </a:lstStyle>
          <a:p>
            <a:r>
              <a:rPr lang="en-CA" altLang="en-US"/>
              <a:t>Slide </a:t>
            </a:r>
            <a:fld id="{6A85A4FA-95E4-4217-86D4-EECA3A5BDBEB}" type="slidenum">
              <a:rPr lang="en-CA" altLang="en-US"/>
              <a:pPr/>
              <a:t>‹#›</a:t>
            </a:fld>
            <a:endParaRPr lang="en-CA" altLang="en-US"/>
          </a:p>
        </p:txBody>
      </p:sp>
    </p:spTree>
    <p:extLst>
      <p:ext uri="{BB962C8B-B14F-4D97-AF65-F5344CB8AC3E}">
        <p14:creationId xmlns:p14="http://schemas.microsoft.com/office/powerpoint/2010/main" val="2578481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3B1F-0945-BD05-2F97-B4730533A53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BBCCAE2-E51A-D160-F165-B40F3B8934A1}"/>
              </a:ext>
            </a:extLst>
          </p:cNvPr>
          <p:cNvSpPr>
            <a:spLocks noGrp="1"/>
          </p:cNvSpPr>
          <p:nvPr>
            <p:ph sz="half" idx="1"/>
          </p:nvPr>
        </p:nvSpPr>
        <p:spPr>
          <a:xfrm>
            <a:off x="609600" y="1524000"/>
            <a:ext cx="3803650" cy="4560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6025ED2-9ACF-AF7C-ABCF-D77D3F203897}"/>
              </a:ext>
            </a:extLst>
          </p:cNvPr>
          <p:cNvSpPr>
            <a:spLocks noGrp="1"/>
          </p:cNvSpPr>
          <p:nvPr>
            <p:ph sz="half" idx="2"/>
          </p:nvPr>
        </p:nvSpPr>
        <p:spPr>
          <a:xfrm>
            <a:off x="4565650" y="1524000"/>
            <a:ext cx="3805238" cy="4560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Footer Placeholder 4">
            <a:extLst>
              <a:ext uri="{FF2B5EF4-FFF2-40B4-BE49-F238E27FC236}">
                <a16:creationId xmlns:a16="http://schemas.microsoft.com/office/drawing/2014/main" id="{0B2DB9EC-ACCE-CB21-1300-9AC6FED672D4}"/>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6" name="Slide Number Placeholder 5">
            <a:extLst>
              <a:ext uri="{FF2B5EF4-FFF2-40B4-BE49-F238E27FC236}">
                <a16:creationId xmlns:a16="http://schemas.microsoft.com/office/drawing/2014/main" id="{768FA032-087D-70B8-C89D-9D809B22E571}"/>
              </a:ext>
            </a:extLst>
          </p:cNvPr>
          <p:cNvSpPr>
            <a:spLocks noGrp="1"/>
          </p:cNvSpPr>
          <p:nvPr>
            <p:ph type="sldNum" idx="11"/>
          </p:nvPr>
        </p:nvSpPr>
        <p:spPr/>
        <p:txBody>
          <a:bodyPr/>
          <a:lstStyle>
            <a:lvl1pPr>
              <a:defRPr/>
            </a:lvl1pPr>
          </a:lstStyle>
          <a:p>
            <a:r>
              <a:rPr lang="en-CA" altLang="en-US"/>
              <a:t>Slide </a:t>
            </a:r>
            <a:fld id="{F3CC2194-01B9-4DD7-9E24-37D34CEB90AC}" type="slidenum">
              <a:rPr lang="en-CA" altLang="en-US"/>
              <a:pPr/>
              <a:t>‹#›</a:t>
            </a:fld>
            <a:endParaRPr lang="en-CA" altLang="en-US"/>
          </a:p>
        </p:txBody>
      </p:sp>
    </p:spTree>
    <p:extLst>
      <p:ext uri="{BB962C8B-B14F-4D97-AF65-F5344CB8AC3E}">
        <p14:creationId xmlns:p14="http://schemas.microsoft.com/office/powerpoint/2010/main" val="334709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4E677-3891-CA43-6C1A-AE9227914428}"/>
              </a:ext>
            </a:extLst>
          </p:cNvPr>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155B4A0-593D-C858-E935-2AC78A130E5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12CC07-99F2-AEDE-3085-902AC34546E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040E267-9E96-AFC6-38D6-75633E986A9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FB2335-D7D3-2FB3-FC71-39DCE43C84A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Footer Placeholder 6">
            <a:extLst>
              <a:ext uri="{FF2B5EF4-FFF2-40B4-BE49-F238E27FC236}">
                <a16:creationId xmlns:a16="http://schemas.microsoft.com/office/drawing/2014/main" id="{E985B50D-CF41-4342-62CB-AC6DCF59C3AC}"/>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8" name="Slide Number Placeholder 7">
            <a:extLst>
              <a:ext uri="{FF2B5EF4-FFF2-40B4-BE49-F238E27FC236}">
                <a16:creationId xmlns:a16="http://schemas.microsoft.com/office/drawing/2014/main" id="{ECE91E0F-8D7B-6714-472D-8D8A2844B510}"/>
              </a:ext>
            </a:extLst>
          </p:cNvPr>
          <p:cNvSpPr>
            <a:spLocks noGrp="1"/>
          </p:cNvSpPr>
          <p:nvPr>
            <p:ph type="sldNum" idx="11"/>
          </p:nvPr>
        </p:nvSpPr>
        <p:spPr/>
        <p:txBody>
          <a:bodyPr/>
          <a:lstStyle>
            <a:lvl1pPr>
              <a:defRPr/>
            </a:lvl1pPr>
          </a:lstStyle>
          <a:p>
            <a:r>
              <a:rPr lang="en-CA" altLang="en-US"/>
              <a:t>Slide </a:t>
            </a:r>
            <a:fld id="{80A83BB3-F495-4AB0-9915-208BFEC496B7}" type="slidenum">
              <a:rPr lang="en-CA" altLang="en-US"/>
              <a:pPr/>
              <a:t>‹#›</a:t>
            </a:fld>
            <a:endParaRPr lang="en-CA" altLang="en-US"/>
          </a:p>
        </p:txBody>
      </p:sp>
    </p:spTree>
    <p:extLst>
      <p:ext uri="{BB962C8B-B14F-4D97-AF65-F5344CB8AC3E}">
        <p14:creationId xmlns:p14="http://schemas.microsoft.com/office/powerpoint/2010/main" val="115738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EFE1-32E9-0984-A93A-43222957C720}"/>
              </a:ext>
            </a:extLst>
          </p:cNvPr>
          <p:cNvSpPr>
            <a:spLocks noGrp="1"/>
          </p:cNvSpPr>
          <p:nvPr>
            <p:ph type="title"/>
          </p:nvPr>
        </p:nvSpPr>
        <p:spPr/>
        <p:txBody>
          <a:bodyPr/>
          <a:lstStyle/>
          <a:p>
            <a:r>
              <a:rPr lang="en-US"/>
              <a:t>Click to edit Master title style</a:t>
            </a:r>
            <a:endParaRPr lang="en-CA"/>
          </a:p>
        </p:txBody>
      </p:sp>
      <p:sp>
        <p:nvSpPr>
          <p:cNvPr id="3" name="Footer Placeholder 2">
            <a:extLst>
              <a:ext uri="{FF2B5EF4-FFF2-40B4-BE49-F238E27FC236}">
                <a16:creationId xmlns:a16="http://schemas.microsoft.com/office/drawing/2014/main" id="{97F6F335-7B41-E128-7DFA-95F3FF6173CD}"/>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4" name="Slide Number Placeholder 3">
            <a:extLst>
              <a:ext uri="{FF2B5EF4-FFF2-40B4-BE49-F238E27FC236}">
                <a16:creationId xmlns:a16="http://schemas.microsoft.com/office/drawing/2014/main" id="{9D728EFE-3241-82B1-04F9-F948BD4EBD9F}"/>
              </a:ext>
            </a:extLst>
          </p:cNvPr>
          <p:cNvSpPr>
            <a:spLocks noGrp="1"/>
          </p:cNvSpPr>
          <p:nvPr>
            <p:ph type="sldNum" idx="11"/>
          </p:nvPr>
        </p:nvSpPr>
        <p:spPr/>
        <p:txBody>
          <a:bodyPr/>
          <a:lstStyle>
            <a:lvl1pPr>
              <a:defRPr/>
            </a:lvl1pPr>
          </a:lstStyle>
          <a:p>
            <a:r>
              <a:rPr lang="en-CA" altLang="en-US"/>
              <a:t>Slide </a:t>
            </a:r>
            <a:fld id="{44FA9C9D-B1E5-483D-8899-9F541F5B1CB6}" type="slidenum">
              <a:rPr lang="en-CA" altLang="en-US"/>
              <a:pPr/>
              <a:t>‹#›</a:t>
            </a:fld>
            <a:endParaRPr lang="en-CA" altLang="en-US"/>
          </a:p>
        </p:txBody>
      </p:sp>
    </p:spTree>
    <p:extLst>
      <p:ext uri="{BB962C8B-B14F-4D97-AF65-F5344CB8AC3E}">
        <p14:creationId xmlns:p14="http://schemas.microsoft.com/office/powerpoint/2010/main" val="95276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92A9BA-DCD5-28B8-C623-C6364CC7D7B2}"/>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3" name="Slide Number Placeholder 2">
            <a:extLst>
              <a:ext uri="{FF2B5EF4-FFF2-40B4-BE49-F238E27FC236}">
                <a16:creationId xmlns:a16="http://schemas.microsoft.com/office/drawing/2014/main" id="{E18A03D1-C130-79AA-8374-8E71C4A39871}"/>
              </a:ext>
            </a:extLst>
          </p:cNvPr>
          <p:cNvSpPr>
            <a:spLocks noGrp="1"/>
          </p:cNvSpPr>
          <p:nvPr>
            <p:ph type="sldNum" idx="11"/>
          </p:nvPr>
        </p:nvSpPr>
        <p:spPr/>
        <p:txBody>
          <a:bodyPr/>
          <a:lstStyle>
            <a:lvl1pPr>
              <a:defRPr/>
            </a:lvl1pPr>
          </a:lstStyle>
          <a:p>
            <a:r>
              <a:rPr lang="en-CA" altLang="en-US"/>
              <a:t>Slide </a:t>
            </a:r>
            <a:fld id="{A8EBA431-3ABB-43B5-B155-304743FE94A7}" type="slidenum">
              <a:rPr lang="en-CA" altLang="en-US"/>
              <a:pPr/>
              <a:t>‹#›</a:t>
            </a:fld>
            <a:endParaRPr lang="en-CA" altLang="en-US"/>
          </a:p>
        </p:txBody>
      </p:sp>
    </p:spTree>
    <p:extLst>
      <p:ext uri="{BB962C8B-B14F-4D97-AF65-F5344CB8AC3E}">
        <p14:creationId xmlns:p14="http://schemas.microsoft.com/office/powerpoint/2010/main" val="4139227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469C-6813-5A19-6225-AEF6128E4E2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BA8B65C-0B68-6051-A469-450A0CEC351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3896185-D175-582E-F2A0-66A7687651C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B4CAE194-06B6-EDA1-2290-D2F239E67D8C}"/>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6" name="Slide Number Placeholder 5">
            <a:extLst>
              <a:ext uri="{FF2B5EF4-FFF2-40B4-BE49-F238E27FC236}">
                <a16:creationId xmlns:a16="http://schemas.microsoft.com/office/drawing/2014/main" id="{71FDB3A3-4B9E-5CB3-105D-00559E1898A0}"/>
              </a:ext>
            </a:extLst>
          </p:cNvPr>
          <p:cNvSpPr>
            <a:spLocks noGrp="1"/>
          </p:cNvSpPr>
          <p:nvPr>
            <p:ph type="sldNum" idx="11"/>
          </p:nvPr>
        </p:nvSpPr>
        <p:spPr/>
        <p:txBody>
          <a:bodyPr/>
          <a:lstStyle>
            <a:lvl1pPr>
              <a:defRPr/>
            </a:lvl1pPr>
          </a:lstStyle>
          <a:p>
            <a:r>
              <a:rPr lang="en-CA" altLang="en-US"/>
              <a:t>Slide </a:t>
            </a:r>
            <a:fld id="{B95C7766-A7D6-4D36-B12F-47D0BC65FD6A}" type="slidenum">
              <a:rPr lang="en-CA" altLang="en-US"/>
              <a:pPr/>
              <a:t>‹#›</a:t>
            </a:fld>
            <a:endParaRPr lang="en-CA" altLang="en-US"/>
          </a:p>
        </p:txBody>
      </p:sp>
    </p:spTree>
    <p:extLst>
      <p:ext uri="{BB962C8B-B14F-4D97-AF65-F5344CB8AC3E}">
        <p14:creationId xmlns:p14="http://schemas.microsoft.com/office/powerpoint/2010/main" val="4264133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4ED06-A3D5-2686-6DBB-F8FE7BAC738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2426F39-E455-F823-5ADE-7886015038B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84924C5D-D963-E388-B7B4-DD02CF35C4D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C3903C36-D6CE-0040-DE6B-021391BAA5A2}"/>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6" name="Slide Number Placeholder 5">
            <a:extLst>
              <a:ext uri="{FF2B5EF4-FFF2-40B4-BE49-F238E27FC236}">
                <a16:creationId xmlns:a16="http://schemas.microsoft.com/office/drawing/2014/main" id="{A2D2D875-8884-AFED-6648-07B42E9D144C}"/>
              </a:ext>
            </a:extLst>
          </p:cNvPr>
          <p:cNvSpPr>
            <a:spLocks noGrp="1"/>
          </p:cNvSpPr>
          <p:nvPr>
            <p:ph type="sldNum" idx="11"/>
          </p:nvPr>
        </p:nvSpPr>
        <p:spPr/>
        <p:txBody>
          <a:bodyPr/>
          <a:lstStyle>
            <a:lvl1pPr>
              <a:defRPr/>
            </a:lvl1pPr>
          </a:lstStyle>
          <a:p>
            <a:r>
              <a:rPr lang="en-CA" altLang="en-US"/>
              <a:t>Slide </a:t>
            </a:r>
            <a:fld id="{24E969B1-8B01-439A-8469-CA62C37D0648}" type="slidenum">
              <a:rPr lang="en-CA" altLang="en-US"/>
              <a:pPr/>
              <a:t>‹#›</a:t>
            </a:fld>
            <a:endParaRPr lang="en-CA" altLang="en-US"/>
          </a:p>
        </p:txBody>
      </p:sp>
    </p:spTree>
    <p:extLst>
      <p:ext uri="{BB962C8B-B14F-4D97-AF65-F5344CB8AC3E}">
        <p14:creationId xmlns:p14="http://schemas.microsoft.com/office/powerpoint/2010/main" val="4088678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FD134-B7D2-401A-5686-CBF3AB6B4C9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88FA254-B119-F3C8-EFE6-CCDCA1FA5E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Footer Placeholder 3">
            <a:extLst>
              <a:ext uri="{FF2B5EF4-FFF2-40B4-BE49-F238E27FC236}">
                <a16:creationId xmlns:a16="http://schemas.microsoft.com/office/drawing/2014/main" id="{9984294B-B317-A3CA-7C7F-22C4CFF6FE92}"/>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5" name="Slide Number Placeholder 4">
            <a:extLst>
              <a:ext uri="{FF2B5EF4-FFF2-40B4-BE49-F238E27FC236}">
                <a16:creationId xmlns:a16="http://schemas.microsoft.com/office/drawing/2014/main" id="{D64711CE-B58A-8D7E-283B-CA221D030B09}"/>
              </a:ext>
            </a:extLst>
          </p:cNvPr>
          <p:cNvSpPr>
            <a:spLocks noGrp="1"/>
          </p:cNvSpPr>
          <p:nvPr>
            <p:ph type="sldNum" idx="11"/>
          </p:nvPr>
        </p:nvSpPr>
        <p:spPr/>
        <p:txBody>
          <a:bodyPr/>
          <a:lstStyle>
            <a:lvl1pPr>
              <a:defRPr/>
            </a:lvl1pPr>
          </a:lstStyle>
          <a:p>
            <a:r>
              <a:rPr lang="en-CA" altLang="en-US"/>
              <a:t>Slide </a:t>
            </a:r>
            <a:fld id="{A25C2C5C-CC53-43AF-8A23-0F93F253C877}" type="slidenum">
              <a:rPr lang="en-CA" altLang="en-US"/>
              <a:pPr/>
              <a:t>‹#›</a:t>
            </a:fld>
            <a:endParaRPr lang="en-CA" altLang="en-US"/>
          </a:p>
        </p:txBody>
      </p:sp>
    </p:spTree>
    <p:extLst>
      <p:ext uri="{BB962C8B-B14F-4D97-AF65-F5344CB8AC3E}">
        <p14:creationId xmlns:p14="http://schemas.microsoft.com/office/powerpoint/2010/main" val="566608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A6C9E4-2531-723F-E8D7-929960B35BB6}"/>
              </a:ext>
            </a:extLst>
          </p:cNvPr>
          <p:cNvSpPr>
            <a:spLocks noGrp="1"/>
          </p:cNvSpPr>
          <p:nvPr>
            <p:ph type="title" orient="vert"/>
          </p:nvPr>
        </p:nvSpPr>
        <p:spPr>
          <a:xfrm>
            <a:off x="6743700" y="0"/>
            <a:ext cx="2244725" cy="608488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E3477B9-9B82-8DE2-D380-A82800C1E970}"/>
              </a:ext>
            </a:extLst>
          </p:cNvPr>
          <p:cNvSpPr>
            <a:spLocks noGrp="1"/>
          </p:cNvSpPr>
          <p:nvPr>
            <p:ph type="body" orient="vert" idx="1"/>
          </p:nvPr>
        </p:nvSpPr>
        <p:spPr>
          <a:xfrm>
            <a:off x="7938" y="0"/>
            <a:ext cx="6583362" cy="608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Footer Placeholder 3">
            <a:extLst>
              <a:ext uri="{FF2B5EF4-FFF2-40B4-BE49-F238E27FC236}">
                <a16:creationId xmlns:a16="http://schemas.microsoft.com/office/drawing/2014/main" id="{71F592BA-5201-D15A-70AD-C31CA8713210}"/>
              </a:ext>
            </a:extLst>
          </p:cNvPr>
          <p:cNvSpPr>
            <a:spLocks noGrp="1"/>
          </p:cNvSpPr>
          <p:nvPr>
            <p:ph type="ftr" idx="10"/>
          </p:nvPr>
        </p:nvSpPr>
        <p:spPr/>
        <p:txBody>
          <a:bodyPr/>
          <a:lstStyle>
            <a:lvl1pPr>
              <a:defRPr/>
            </a:lvl1pPr>
          </a:lstStyle>
          <a:p>
            <a:r>
              <a:rPr lang="en-CA" altLang="en-US"/>
              <a:t>Your</a:t>
            </a:r>
            <a:r>
              <a:rPr lang="en-CA" altLang="en-US">
                <a:solidFill>
                  <a:srgbClr val="000000"/>
                </a:solidFill>
              </a:rPr>
              <a:t> </a:t>
            </a:r>
            <a:r>
              <a:rPr lang="en-CA" altLang="en-US"/>
              <a:t>email</a:t>
            </a:r>
          </a:p>
        </p:txBody>
      </p:sp>
      <p:sp>
        <p:nvSpPr>
          <p:cNvPr id="5" name="Slide Number Placeholder 4">
            <a:extLst>
              <a:ext uri="{FF2B5EF4-FFF2-40B4-BE49-F238E27FC236}">
                <a16:creationId xmlns:a16="http://schemas.microsoft.com/office/drawing/2014/main" id="{C196ADC6-FC1F-E8A3-9B25-7BE7C62A79B7}"/>
              </a:ext>
            </a:extLst>
          </p:cNvPr>
          <p:cNvSpPr>
            <a:spLocks noGrp="1"/>
          </p:cNvSpPr>
          <p:nvPr>
            <p:ph type="sldNum" idx="11"/>
          </p:nvPr>
        </p:nvSpPr>
        <p:spPr/>
        <p:txBody>
          <a:bodyPr/>
          <a:lstStyle>
            <a:lvl1pPr>
              <a:defRPr/>
            </a:lvl1pPr>
          </a:lstStyle>
          <a:p>
            <a:r>
              <a:rPr lang="en-CA" altLang="en-US"/>
              <a:t>Slide </a:t>
            </a:r>
            <a:fld id="{7B0628C8-029D-469A-AE69-0C31CF904C8D}" type="slidenum">
              <a:rPr lang="en-CA" altLang="en-US"/>
              <a:pPr/>
              <a:t>‹#›</a:t>
            </a:fld>
            <a:endParaRPr lang="en-CA" altLang="en-US"/>
          </a:p>
        </p:txBody>
      </p:sp>
    </p:spTree>
    <p:extLst>
      <p:ext uri="{BB962C8B-B14F-4D97-AF65-F5344CB8AC3E}">
        <p14:creationId xmlns:p14="http://schemas.microsoft.com/office/powerpoint/2010/main" val="622337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A259DB36-A45B-88E7-A2EB-B72262CFCB5A}"/>
              </a:ext>
            </a:extLst>
          </p:cNvPr>
          <p:cNvSpPr>
            <a:spLocks noChangeArrowheads="1"/>
          </p:cNvSpPr>
          <p:nvPr/>
        </p:nvSpPr>
        <p:spPr bwMode="auto">
          <a:xfrm>
            <a:off x="0" y="6478588"/>
            <a:ext cx="9144000" cy="379412"/>
          </a:xfrm>
          <a:prstGeom prst="rect">
            <a:avLst/>
          </a:prstGeom>
          <a:solidFill>
            <a:srgbClr val="993300"/>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1026" name="Rectangle 2">
            <a:extLst>
              <a:ext uri="{FF2B5EF4-FFF2-40B4-BE49-F238E27FC236}">
                <a16:creationId xmlns:a16="http://schemas.microsoft.com/office/drawing/2014/main" id="{80DA0782-A452-13D0-B9E7-147ECDCABEF5}"/>
              </a:ext>
            </a:extLst>
          </p:cNvPr>
          <p:cNvSpPr>
            <a:spLocks noGrp="1" noChangeArrowheads="1"/>
          </p:cNvSpPr>
          <p:nvPr>
            <p:ph type="title"/>
          </p:nvPr>
        </p:nvSpPr>
        <p:spPr bwMode="auto">
          <a:xfrm>
            <a:off x="7938" y="0"/>
            <a:ext cx="89804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3">
            <a:extLst>
              <a:ext uri="{FF2B5EF4-FFF2-40B4-BE49-F238E27FC236}">
                <a16:creationId xmlns:a16="http://schemas.microsoft.com/office/drawing/2014/main" id="{70470A52-45B3-5D72-030E-8EE0782CEBFF}"/>
              </a:ext>
            </a:extLst>
          </p:cNvPr>
          <p:cNvSpPr>
            <a:spLocks noGrp="1" noChangeArrowheads="1"/>
          </p:cNvSpPr>
          <p:nvPr>
            <p:ph type="body" idx="1"/>
          </p:nvPr>
        </p:nvSpPr>
        <p:spPr bwMode="auto">
          <a:xfrm>
            <a:off x="609600" y="1524000"/>
            <a:ext cx="7761288" cy="456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8" name="Text Box 4">
            <a:extLst>
              <a:ext uri="{FF2B5EF4-FFF2-40B4-BE49-F238E27FC236}">
                <a16:creationId xmlns:a16="http://schemas.microsoft.com/office/drawing/2014/main" id="{8655DC5A-37D7-E5F1-BC0E-C58BF4D08D3F}"/>
              </a:ext>
            </a:extLst>
          </p:cNvPr>
          <p:cNvSpPr txBox="1">
            <a:spLocks noChangeArrowheads="1"/>
          </p:cNvSpPr>
          <p:nvPr/>
        </p:nvSpPr>
        <p:spPr bwMode="auto">
          <a:xfrm>
            <a:off x="3695700" y="6400800"/>
            <a:ext cx="1749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1029" name="Rectangle 5">
            <a:extLst>
              <a:ext uri="{FF2B5EF4-FFF2-40B4-BE49-F238E27FC236}">
                <a16:creationId xmlns:a16="http://schemas.microsoft.com/office/drawing/2014/main" id="{37CD6A08-6C0E-765B-E31D-976BE3F766B3}"/>
              </a:ext>
            </a:extLst>
          </p:cNvPr>
          <p:cNvSpPr>
            <a:spLocks noGrp="1" noChangeArrowheads="1"/>
          </p:cNvSpPr>
          <p:nvPr>
            <p:ph type="ftr"/>
          </p:nvPr>
        </p:nvSpPr>
        <p:spPr bwMode="auto">
          <a:xfrm>
            <a:off x="609600" y="6400800"/>
            <a:ext cx="1741488"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bodyPr>
          <a:lstStyle>
            <a:lvl1pPr algn="ct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a:solidFill>
                  <a:srgbClr val="FFFFFF"/>
                </a:solidFill>
                <a:latin typeface="+mn-lt"/>
                <a:cs typeface="Arial Unicode MS" pitchFamily="32" charset="0"/>
              </a:defRPr>
            </a:lvl1pPr>
          </a:lstStyle>
          <a:p>
            <a:r>
              <a:rPr lang="en-CA" altLang="en-US"/>
              <a:t>Your</a:t>
            </a:r>
            <a:r>
              <a:rPr lang="en-CA" altLang="en-US">
                <a:solidFill>
                  <a:srgbClr val="000000"/>
                </a:solidFill>
              </a:rPr>
              <a:t> </a:t>
            </a:r>
            <a:r>
              <a:rPr lang="en-CA" altLang="en-US"/>
              <a:t>email</a:t>
            </a:r>
          </a:p>
        </p:txBody>
      </p:sp>
      <p:sp>
        <p:nvSpPr>
          <p:cNvPr id="1030" name="Rectangle 6">
            <a:extLst>
              <a:ext uri="{FF2B5EF4-FFF2-40B4-BE49-F238E27FC236}">
                <a16:creationId xmlns:a16="http://schemas.microsoft.com/office/drawing/2014/main" id="{4FA7F195-0306-A8A2-64EE-8DD33E4B7CF7}"/>
              </a:ext>
            </a:extLst>
          </p:cNvPr>
          <p:cNvSpPr>
            <a:spLocks noGrp="1" noChangeArrowheads="1"/>
          </p:cNvSpPr>
          <p:nvPr>
            <p:ph type="sldNum"/>
          </p:nvPr>
        </p:nvSpPr>
        <p:spPr bwMode="auto">
          <a:xfrm>
            <a:off x="7543800" y="6400800"/>
            <a:ext cx="827088"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bodyPr>
          <a:lstStyle>
            <a:lvl1pPr algn="ct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a:solidFill>
                  <a:srgbClr val="FFFFFF"/>
                </a:solidFill>
                <a:latin typeface="+mn-lt"/>
                <a:cs typeface="Arial Unicode MS" pitchFamily="32" charset="0"/>
              </a:defRPr>
            </a:lvl1pPr>
          </a:lstStyle>
          <a:p>
            <a:r>
              <a:rPr lang="en-CA" altLang="en-US"/>
              <a:t>Slide </a:t>
            </a:r>
            <a:fld id="{B3D1A643-C7B6-4114-BC2F-F077B95E3A43}" type="slidenum">
              <a:rPr lang="en-CA" altLang="en-US"/>
              <a:pPr/>
              <a:t>‹#›</a:t>
            </a:fld>
            <a:endParaRPr lang="en-CA" altLang="en-US"/>
          </a:p>
        </p:txBody>
      </p:sp>
      <p:sp>
        <p:nvSpPr>
          <p:cNvPr id="1031" name="Rectangle 7">
            <a:extLst>
              <a:ext uri="{FF2B5EF4-FFF2-40B4-BE49-F238E27FC236}">
                <a16:creationId xmlns:a16="http://schemas.microsoft.com/office/drawing/2014/main" id="{BD593DE8-94A9-BE3D-9B48-8B2B2B491F48}"/>
              </a:ext>
            </a:extLst>
          </p:cNvPr>
          <p:cNvSpPr>
            <a:spLocks noChangeArrowheads="1"/>
          </p:cNvSpPr>
          <p:nvPr/>
        </p:nvSpPr>
        <p:spPr bwMode="auto">
          <a:xfrm>
            <a:off x="0" y="1066800"/>
            <a:ext cx="9144000" cy="74613"/>
          </a:xfrm>
          <a:prstGeom prst="rect">
            <a:avLst/>
          </a:prstGeom>
          <a:solidFill>
            <a:srgbClr val="312873"/>
          </a:solidFill>
          <a:ln w="9360" cap="sq">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pic>
        <p:nvPicPr>
          <p:cNvPr id="1032" name="Picture 8">
            <a:extLst>
              <a:ext uri="{FF2B5EF4-FFF2-40B4-BE49-F238E27FC236}">
                <a16:creationId xmlns:a16="http://schemas.microsoft.com/office/drawing/2014/main" id="{4B4C5DD0-B0D7-B9DD-6F36-EDDFDA9A72B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l="10815" t="21989" r="11095" b="23050"/>
          <a:stretch>
            <a:fillRect/>
          </a:stretch>
        </p:blipFill>
        <p:spPr bwMode="auto">
          <a:xfrm>
            <a:off x="6372225" y="84138"/>
            <a:ext cx="2808288" cy="965200"/>
          </a:xfrm>
          <a:prstGeom prst="rect">
            <a:avLst/>
          </a:prstGeom>
          <a:noFill/>
          <a:ln>
            <a:noFill/>
          </a:ln>
          <a:effectLst/>
          <a:extLst>
            <a:ext uri="{909E8E84-426E-40DD-AFC4-6F175D3DCCD1}">
              <a14:hiddenFill xmlns:a14="http://schemas.microsoft.com/office/drawing/2010/main">
                <a:blipFill dpi="0" rotWithShape="0">
                  <a:blip/>
                  <a:srcRect l="10815" t="21989" r="11095" b="23050"/>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5pPr>
      <a:lvl6pPr marL="25146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6pPr>
      <a:lvl7pPr marL="29718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7pPr>
      <a:lvl8pPr marL="3429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8pPr>
      <a:lvl9pPr marL="3886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ea typeface="MS Gothic" panose="020B0609070205080204" pitchFamily="49" charset="-128"/>
        </a:defRPr>
      </a:lvl9pPr>
    </p:titleStyle>
    <p:bodyStyle>
      <a:lvl1pPr marL="342900" indent="-342900" algn="l" defTabSz="449263"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2pPr>
      <a:lvl3pPr marL="1143000" indent="-228600" algn="l" defTabSz="449263" rtl="0" eaLnBrk="0" fontAlgn="base" hangingPunct="0">
        <a:spcBef>
          <a:spcPts val="450"/>
        </a:spcBef>
        <a:spcAft>
          <a:spcPct val="0"/>
        </a:spcAft>
        <a:buClr>
          <a:srgbClr val="000000"/>
        </a:buClr>
        <a:buSzPct val="100000"/>
        <a:buFont typeface="Times New Roman" panose="02020603050405020304" pitchFamily="18" charset="0"/>
        <a:defRPr kern="1200">
          <a:solidFill>
            <a:srgbClr val="000000"/>
          </a:solidFill>
          <a:latin typeface="+mn-lt"/>
          <a:ea typeface="+mn-ea"/>
          <a:cs typeface="+mn-cs"/>
        </a:defRPr>
      </a:lvl3pPr>
      <a:lvl4pPr marL="16002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doi.org/10.1016/j.tre.2022.102611" TargetMode="External"/><Relationship Id="rId3" Type="http://schemas.openxmlformats.org/officeDocument/2006/relationships/hyperlink" Target="https://www.jetvision.ai/" TargetMode="External"/><Relationship Id="rId7" Type="http://schemas.openxmlformats.org/officeDocument/2006/relationships/hyperlink" Target="https://doi.org/10.1108/IJOPM-03-2022-0164" TargetMode="External"/><Relationship Id="rId2" Type="http://schemas.openxmlformats.org/officeDocument/2006/relationships/hyperlink" Target="https://www.cbinsights.com/" TargetMode="External"/><Relationship Id="rId1" Type="http://schemas.openxmlformats.org/officeDocument/2006/relationships/slideLayout" Target="../slideLayouts/slideLayout2.xml"/><Relationship Id="rId6" Type="http://schemas.openxmlformats.org/officeDocument/2006/relationships/hyperlink" Target="https://www.planetcrust.com/" TargetMode="External"/><Relationship Id="rId5" Type="http://schemas.openxmlformats.org/officeDocument/2006/relationships/hyperlink" Target="https://www.kobo360.com/" TargetMode="External"/><Relationship Id="rId4" Type="http://schemas.openxmlformats.org/officeDocument/2006/relationships/hyperlink" Target="https://doi.org/10.1016/j.scs.2020.10265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D9201856-91FD-3A43-A4AE-1DB8F37FA466}"/>
              </a:ext>
            </a:extLst>
          </p:cNvPr>
          <p:cNvSpPr>
            <a:spLocks noChangeArrowheads="1"/>
          </p:cNvSpPr>
          <p:nvPr/>
        </p:nvSpPr>
        <p:spPr bwMode="auto">
          <a:xfrm>
            <a:off x="0" y="685800"/>
            <a:ext cx="914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3074" name="Rectangle 2">
            <a:extLst>
              <a:ext uri="{FF2B5EF4-FFF2-40B4-BE49-F238E27FC236}">
                <a16:creationId xmlns:a16="http://schemas.microsoft.com/office/drawing/2014/main" id="{794760E3-7490-AFA3-4004-6F6B950AA72C}"/>
              </a:ext>
            </a:extLst>
          </p:cNvPr>
          <p:cNvSpPr>
            <a:spLocks noChangeArrowheads="1"/>
          </p:cNvSpPr>
          <p:nvPr/>
        </p:nvSpPr>
        <p:spPr bwMode="auto">
          <a:xfrm>
            <a:off x="152400" y="1417732"/>
            <a:ext cx="8763000" cy="472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buClrTx/>
              <a:buFontTx/>
              <a:buNone/>
            </a:pPr>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Selecting AI Logistics Tools for Cross-Border Trade Between Canada and Africa</a:t>
            </a:r>
          </a:p>
          <a:p>
            <a:pPr eaLnBrk="1" hangingPunct="1">
              <a:buClrTx/>
              <a:buFontTx/>
              <a:buNone/>
            </a:pPr>
            <a:endPar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eaLnBrk="1" hangingPunct="1">
              <a:buClrTx/>
              <a:buFontTx/>
              <a:buNone/>
            </a:pPr>
            <a:r>
              <a:rPr lang="en-US" altLang="en-US" dirty="0">
                <a:solidFill>
                  <a:srgbClr val="000000"/>
                </a:solidFill>
                <a:latin typeface="Calibri" panose="020F0502020204030204" pitchFamily="34" charset="0"/>
                <a:cs typeface="Calibri" panose="020F0502020204030204" pitchFamily="34" charset="0"/>
              </a:rPr>
              <a:t>Breck </a:t>
            </a:r>
            <a:r>
              <a:rPr lang="en-US" altLang="en-US" dirty="0" err="1">
                <a:solidFill>
                  <a:srgbClr val="000000"/>
                </a:solidFill>
                <a:latin typeface="Calibri" panose="020F0502020204030204" pitchFamily="34" charset="0"/>
                <a:cs typeface="Calibri" panose="020F0502020204030204" pitchFamily="34" charset="0"/>
              </a:rPr>
              <a:t>Onwona</a:t>
            </a:r>
            <a:r>
              <a:rPr lang="en-US" altLang="en-US" dirty="0">
                <a:solidFill>
                  <a:srgbClr val="000000"/>
                </a:solidFill>
                <a:latin typeface="Calibri" panose="020F0502020204030204" pitchFamily="34" charset="0"/>
                <a:cs typeface="Calibri" panose="020F0502020204030204" pitchFamily="34" charset="0"/>
              </a:rPr>
              <a:t> Agyekum</a:t>
            </a:r>
            <a:br>
              <a:rPr lang="en-US" altLang="en-US" i="1" dirty="0">
                <a:solidFill>
                  <a:srgbClr val="000000"/>
                </a:solidFill>
                <a:latin typeface="Calibri" panose="020F0502020204030204" pitchFamily="34" charset="0"/>
                <a:cs typeface="Calibri" panose="020F0502020204030204" pitchFamily="34" charset="0"/>
              </a:rPr>
            </a:br>
            <a:br>
              <a:rPr lang="en-US" altLang="en-US" i="1" dirty="0">
                <a:solidFill>
                  <a:srgbClr val="000000"/>
                </a:solidFill>
                <a:latin typeface="Calibri" panose="020F0502020204030204" pitchFamily="34" charset="0"/>
                <a:cs typeface="Calibri" panose="020F0502020204030204" pitchFamily="34" charset="0"/>
              </a:rPr>
            </a:br>
            <a:endParaRPr lang="en-US" altLang="en-US" i="1" dirty="0">
              <a:solidFill>
                <a:srgbClr val="000000"/>
              </a:solidFill>
              <a:latin typeface="Calibri" panose="020F0502020204030204" pitchFamily="34" charset="0"/>
              <a:cs typeface="Calibri" panose="020F0502020204030204" pitchFamily="34" charset="0"/>
            </a:endParaRPr>
          </a:p>
          <a:p>
            <a:pPr eaLnBrk="1" hangingPunct="1">
              <a:buClrTx/>
              <a:buFontTx/>
              <a:buNone/>
            </a:pPr>
            <a:br>
              <a:rPr lang="en-US" altLang="en-US" i="1" dirty="0">
                <a:solidFill>
                  <a:srgbClr val="000000"/>
                </a:solidFill>
                <a:latin typeface="Calibri" panose="020F0502020204030204" pitchFamily="34" charset="0"/>
                <a:cs typeface="Calibri" panose="020F0502020204030204" pitchFamily="34" charset="0"/>
              </a:rPr>
            </a:br>
            <a:r>
              <a:rPr lang="en-US" altLang="en-US" i="1" dirty="0">
                <a:solidFill>
                  <a:srgbClr val="000000"/>
                </a:solidFill>
                <a:latin typeface="Calibri" panose="020F0502020204030204" pitchFamily="34" charset="0"/>
                <a:cs typeface="Calibri" panose="020F0502020204030204" pitchFamily="34" charset="0"/>
              </a:rPr>
              <a:t>Gate 1 (MEng.) Project presentation</a:t>
            </a:r>
            <a:br>
              <a:rPr lang="en-US" altLang="en-US" i="1" dirty="0">
                <a:solidFill>
                  <a:srgbClr val="000000"/>
                </a:solidFill>
                <a:latin typeface="Calibri" panose="020F0502020204030204" pitchFamily="34" charset="0"/>
                <a:cs typeface="Calibri" panose="020F0502020204030204" pitchFamily="34" charset="0"/>
              </a:rPr>
            </a:br>
            <a:r>
              <a:rPr lang="en-US" altLang="en-US" i="1" dirty="0">
                <a:solidFill>
                  <a:srgbClr val="000000"/>
                </a:solidFill>
                <a:latin typeface="Calibri" panose="020F0502020204030204" pitchFamily="34" charset="0"/>
                <a:cs typeface="Calibri" panose="020F0502020204030204" pitchFamily="34" charset="0"/>
              </a:rPr>
              <a:t>Technology Innovation Management</a:t>
            </a:r>
          </a:p>
          <a:p>
            <a:pPr eaLnBrk="1" hangingPunct="1">
              <a:buClrTx/>
              <a:buFontTx/>
              <a:buNone/>
            </a:pPr>
            <a:r>
              <a:rPr lang="en-US" altLang="en-US" i="1" dirty="0">
                <a:solidFill>
                  <a:srgbClr val="000000"/>
                </a:solidFill>
                <a:latin typeface="Calibri" panose="020F0502020204030204" pitchFamily="34" charset="0"/>
                <a:cs typeface="Calibri" panose="020F0502020204030204" pitchFamily="34" charset="0"/>
              </a:rPr>
              <a:t>August 19</a:t>
            </a:r>
            <a:r>
              <a:rPr lang="en-US" altLang="en-US" i="1" baseline="30000" dirty="0">
                <a:solidFill>
                  <a:srgbClr val="000000"/>
                </a:solidFill>
                <a:latin typeface="Calibri" panose="020F0502020204030204" pitchFamily="34" charset="0"/>
                <a:cs typeface="Calibri" panose="020F0502020204030204" pitchFamily="34" charset="0"/>
              </a:rPr>
              <a:t>th</a:t>
            </a:r>
            <a:r>
              <a:rPr lang="en-US" altLang="en-US" i="1" dirty="0">
                <a:solidFill>
                  <a:srgbClr val="000000"/>
                </a:solidFill>
                <a:latin typeface="Calibri" panose="020F0502020204030204" pitchFamily="34" charset="0"/>
                <a:cs typeface="Calibri" panose="020F0502020204030204" pitchFamily="34" charset="0"/>
              </a:rPr>
              <a:t>, 2025</a:t>
            </a:r>
            <a:br>
              <a:rPr lang="en-US" altLang="en-US" i="1" dirty="0">
                <a:solidFill>
                  <a:srgbClr val="000000"/>
                </a:solidFill>
                <a:latin typeface="Calibri" panose="020F0502020204030204" pitchFamily="34" charset="0"/>
                <a:cs typeface="Calibri" panose="020F0502020204030204" pitchFamily="34" charset="0"/>
              </a:rPr>
            </a:br>
            <a:endParaRPr lang="en-US" altLang="en-US" i="1" dirty="0">
              <a:solidFill>
                <a:srgbClr val="000000"/>
              </a:solidFill>
              <a:latin typeface="Calibri" panose="020F0502020204030204" pitchFamily="34" charset="0"/>
              <a:cs typeface="Calibri" panose="020F0502020204030204"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B6B1DC-0A40-44BD-1BDB-BA2136A17F5E}"/>
              </a:ext>
            </a:extLst>
          </p:cNvPr>
          <p:cNvSpPr txBox="1"/>
          <p:nvPr/>
        </p:nvSpPr>
        <p:spPr>
          <a:xfrm>
            <a:off x="131064" y="964997"/>
            <a:ext cx="8619338" cy="1813253"/>
          </a:xfrm>
          <a:prstGeom prst="rect">
            <a:avLst/>
          </a:prstGeom>
          <a:noFill/>
        </p:spPr>
        <p:txBody>
          <a:bodyPr wrap="square">
            <a:spAutoFit/>
          </a:bodyPr>
          <a:lstStyle/>
          <a:p>
            <a:pPr>
              <a:lnSpc>
                <a:spcPct val="150000"/>
              </a:lnSpc>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Objective</a:t>
            </a:r>
          </a:p>
          <a:p>
            <a:pPr>
              <a:lnSpc>
                <a:spcPct val="150000"/>
              </a:lnSpc>
            </a:pPr>
            <a:r>
              <a:rPr lang="en-CA" sz="1400" dirty="0">
                <a:solidFill>
                  <a:schemeClr val="tx1"/>
                </a:solidFill>
                <a:latin typeface="Calibri" panose="020F0502020204030204" pitchFamily="34" charset="0"/>
                <a:ea typeface="Calibri" panose="020F0502020204030204" pitchFamily="34" charset="0"/>
                <a:cs typeface="Calibri" panose="020F0502020204030204" pitchFamily="34" charset="0"/>
              </a:rPr>
              <a:t>Deliver a decision-support package &amp; implementation plan to identify, classify, and evaluate AI-driven logistics tools for ATD’s Canada–Africa non-perishables corridor (serving Canadian wholesalers of non-perishable goods and African suppliers), enabling selection of the most suitable tools and measurable improvements in efficiency and scalability, while streamlining operations and minimizing overhead.</a:t>
            </a:r>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EABDEB5-F60E-D569-4376-3050BFCAA44E}"/>
              </a:ext>
            </a:extLst>
          </p:cNvPr>
          <p:cNvSpPr txBox="1"/>
          <p:nvPr/>
        </p:nvSpPr>
        <p:spPr>
          <a:xfrm>
            <a:off x="304800" y="304800"/>
            <a:ext cx="6019800" cy="584775"/>
          </a:xfrm>
          <a:prstGeom prst="rect">
            <a:avLst/>
          </a:prstGeom>
          <a:noFill/>
        </p:spPr>
        <p:txBody>
          <a:bodyPr wrap="square">
            <a:spAutoFit/>
          </a:bodyPr>
          <a:lstStyle/>
          <a:p>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Objectives and Deliverables </a:t>
            </a:r>
          </a:p>
        </p:txBody>
      </p:sp>
      <p:sp>
        <p:nvSpPr>
          <p:cNvPr id="7" name="TextBox 6">
            <a:extLst>
              <a:ext uri="{FF2B5EF4-FFF2-40B4-BE49-F238E27FC236}">
                <a16:creationId xmlns:a16="http://schemas.microsoft.com/office/drawing/2014/main" id="{9A69B7C2-E710-BAE8-6075-05724EB8E83C}"/>
              </a:ext>
            </a:extLst>
          </p:cNvPr>
          <p:cNvSpPr txBox="1"/>
          <p:nvPr/>
        </p:nvSpPr>
        <p:spPr>
          <a:xfrm>
            <a:off x="46927" y="3121496"/>
            <a:ext cx="8704277" cy="2628861"/>
          </a:xfrm>
          <a:prstGeom prst="rect">
            <a:avLst/>
          </a:prstGeom>
          <a:noFill/>
        </p:spPr>
        <p:txBody>
          <a:bodyPr wrap="square">
            <a:spAutoFit/>
          </a:bodyPr>
          <a:lstStyle/>
          <a:p>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Deliverables </a:t>
            </a:r>
          </a:p>
          <a:p>
            <a:pPr marL="457200" indent="-457200">
              <a:lnSpc>
                <a:spcPct val="150000"/>
              </a:lnSpc>
              <a:buFont typeface="+mj-lt"/>
              <a:buAutoNum type="arabicPeriod"/>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PRISMA-</a:t>
            </a:r>
            <a:r>
              <a:rPr 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ScR</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compliant s</a:t>
            </a: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coping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l</a:t>
            </a: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iterature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r</a:t>
            </a: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eview of what is known about AI logistics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a:t>
            </a: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ools relevant to small trade facilitators </a:t>
            </a:r>
          </a:p>
          <a:p>
            <a:pPr marL="457200" indent="-457200">
              <a:lnSpc>
                <a:spcPct val="150000"/>
              </a:lnSpc>
              <a:buFont typeface="+mj-lt"/>
              <a:buAutoNum type="arabicPeriod"/>
            </a:pP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Classification system that groups logistics tools by functionality and the specific supply chain challenges they address.</a:t>
            </a:r>
          </a:p>
          <a:p>
            <a:pPr marL="457200" indent="-457200">
              <a:lnSpc>
                <a:spcPct val="150000"/>
              </a:lnSpc>
              <a:buFont typeface="+mj-lt"/>
              <a:buAutoNum type="arabicPeriod"/>
            </a:pP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Tool Evaluation Matrix that assesses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shortlisted AI tools against specific criteria</a:t>
            </a:r>
            <a:r>
              <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457200" indent="-457200">
              <a:lnSpc>
                <a:spcPct val="150000"/>
              </a:lnSpc>
              <a:buFont typeface="+mj-lt"/>
              <a:buAutoNum type="arabicPeriod"/>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AI-First Implementation Roadmap – A step-by-step guide tailored to ATD for adopting and integrating selected tools</a:t>
            </a:r>
            <a:endParaRPr lang="en-US" sz="1400" i="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 Box 3">
            <a:extLst>
              <a:ext uri="{FF2B5EF4-FFF2-40B4-BE49-F238E27FC236}">
                <a16:creationId xmlns:a16="http://schemas.microsoft.com/office/drawing/2014/main" id="{54DCD8F2-CD80-4324-11D7-B9BD1E7471D8}"/>
              </a:ext>
            </a:extLst>
          </p:cNvPr>
          <p:cNvSpPr txBox="1">
            <a:spLocks noChangeArrowheads="1"/>
          </p:cNvSpPr>
          <p:nvPr/>
        </p:nvSpPr>
        <p:spPr bwMode="auto">
          <a:xfrm>
            <a:off x="-152400" y="6419589"/>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9" name="Text Box 3">
            <a:extLst>
              <a:ext uri="{FF2B5EF4-FFF2-40B4-BE49-F238E27FC236}">
                <a16:creationId xmlns:a16="http://schemas.microsoft.com/office/drawing/2014/main" id="{2AB13358-7086-09ED-4EDC-F21450D99DD6}"/>
              </a:ext>
            </a:extLst>
          </p:cNvPr>
          <p:cNvSpPr txBox="1">
            <a:spLocks noChangeArrowheads="1"/>
          </p:cNvSpPr>
          <p:nvPr/>
        </p:nvSpPr>
        <p:spPr bwMode="auto">
          <a:xfrm>
            <a:off x="60960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Slide 2</a:t>
            </a:r>
            <a:endParaRPr lang="en-CA" altLang="en-US" sz="1000" b="1" i="1" dirty="0">
              <a:latin typeface="Arial" panose="020B0604020202020204" pitchFamily="34" charset="0"/>
              <a:cs typeface="Arial Unicode MS" pitchFamily="32" charset="0"/>
            </a:endParaRPr>
          </a:p>
        </p:txBody>
      </p:sp>
      <p:sp>
        <p:nvSpPr>
          <p:cNvPr id="3" name="TextBox 2">
            <a:extLst>
              <a:ext uri="{FF2B5EF4-FFF2-40B4-BE49-F238E27FC236}">
                <a16:creationId xmlns:a16="http://schemas.microsoft.com/office/drawing/2014/main" id="{25BA1C5D-24E9-270A-0141-B4467EE7D29C}"/>
              </a:ext>
            </a:extLst>
          </p:cNvPr>
          <p:cNvSpPr txBox="1"/>
          <p:nvPr/>
        </p:nvSpPr>
        <p:spPr>
          <a:xfrm>
            <a:off x="4175760" y="6553200"/>
            <a:ext cx="4663440" cy="246221"/>
          </a:xfrm>
          <a:prstGeom prst="rect">
            <a:avLst/>
          </a:prstGeom>
          <a:noFill/>
        </p:spPr>
        <p:txBody>
          <a:bodyPr wrap="square">
            <a:spAutoFit/>
          </a:bodyPr>
          <a:lstStyle/>
          <a:p>
            <a:r>
              <a:rPr lang="en-US" sz="1000" dirty="0"/>
              <a:t>July 29th, 2025</a:t>
            </a:r>
          </a:p>
        </p:txBody>
      </p:sp>
    </p:spTree>
    <p:extLst>
      <p:ext uri="{BB962C8B-B14F-4D97-AF65-F5344CB8AC3E}">
        <p14:creationId xmlns:p14="http://schemas.microsoft.com/office/powerpoint/2010/main" val="3111726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367A9E-326A-4128-E1EB-77E9B7C9A2B5}"/>
              </a:ext>
            </a:extLst>
          </p:cNvPr>
          <p:cNvSpPr txBox="1"/>
          <p:nvPr/>
        </p:nvSpPr>
        <p:spPr>
          <a:xfrm>
            <a:off x="101944" y="213329"/>
            <a:ext cx="6542762" cy="584775"/>
          </a:xfrm>
          <a:prstGeom prst="rect">
            <a:avLst/>
          </a:prstGeom>
          <a:noFill/>
        </p:spPr>
        <p:txBody>
          <a:bodyPr wrap="square">
            <a:spAutoFit/>
          </a:bodyPr>
          <a:lstStyle/>
          <a:p>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Relevance to the Client Company</a:t>
            </a:r>
          </a:p>
        </p:txBody>
      </p:sp>
      <p:sp>
        <p:nvSpPr>
          <p:cNvPr id="8" name="TextBox 7">
            <a:extLst>
              <a:ext uri="{FF2B5EF4-FFF2-40B4-BE49-F238E27FC236}">
                <a16:creationId xmlns:a16="http://schemas.microsoft.com/office/drawing/2014/main" id="{6038DC5A-A719-7307-2F72-26D99412B1CB}"/>
              </a:ext>
            </a:extLst>
          </p:cNvPr>
          <p:cNvSpPr txBox="1"/>
          <p:nvPr/>
        </p:nvSpPr>
        <p:spPr>
          <a:xfrm>
            <a:off x="228600" y="1125756"/>
            <a:ext cx="8686800" cy="4770537"/>
          </a:xfrm>
          <a:prstGeom prst="rect">
            <a:avLst/>
          </a:prstGeom>
          <a:noFill/>
        </p:spPr>
        <p:txBody>
          <a:bodyPr wrap="square">
            <a:spAutoFit/>
          </a:bodyPr>
          <a:lstStyle/>
          <a:p>
            <a:pPr algn="just"/>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Client</a:t>
            </a:r>
          </a:p>
          <a:p>
            <a:pPr algn="just"/>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ATD is a small Ottawa-based organization that facilitates trade between Canadian wholesalers and African suppliers.  Susan Namulindwa and Victoria Schorr lead ATD’s efforts in trade enablement.</a:t>
            </a:r>
          </a:p>
          <a:p>
            <a:pPr algn="just"/>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Evidence of Interest</a:t>
            </a:r>
          </a:p>
          <a:p>
            <a:pPr algn="just"/>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ATD works in a fast-paced logistics environment where timely decisions matter. The client specifically requested help identifying cost-effective AI logistics tools to support Canadian businesses trading in Africa. Key challenges include customs delays, tracking gaps, and paperwork-heavy processes.</a:t>
            </a:r>
          </a:p>
          <a:p>
            <a:pPr algn="just"/>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Potential Value to ATD</a:t>
            </a:r>
          </a:p>
          <a:p>
            <a:pPr marL="285750" indent="-285750" algn="just">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Increase attractiveness of investing in ATD</a:t>
            </a:r>
          </a:p>
          <a:p>
            <a:pPr marL="285750" indent="-285750" algn="just">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 tailored overview and classification of relevant AI logistics tools</a:t>
            </a:r>
          </a:p>
          <a:p>
            <a:pPr marL="285750" indent="-285750" algn="just">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 decision-support framework to guide tool recommendations</a:t>
            </a:r>
          </a:p>
          <a:p>
            <a:pPr marL="285750" indent="-285750" algn="just">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Reduced implementation risk and improved workflow efficiency</a:t>
            </a:r>
          </a:p>
          <a:p>
            <a:pPr marL="285750" indent="-285750" algn="just">
              <a:buFont typeface="Arial" panose="020B0604020202020204" pitchFamily="34" charset="0"/>
              <a:buChar char="•"/>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Stronger positioning as a trusted advisor to Canadian SMEs</a:t>
            </a:r>
          </a:p>
          <a:p>
            <a:pPr algn="just"/>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Relationship to Client</a:t>
            </a:r>
          </a:p>
          <a:p>
            <a:pPr algn="just"/>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This project was initiated by the supervisor in collaboration with ATD. It combined academic research with practical insights, offering real-world value to a potential employer or partner.</a:t>
            </a:r>
          </a:p>
        </p:txBody>
      </p:sp>
      <p:sp>
        <p:nvSpPr>
          <p:cNvPr id="10" name="Rectangle 2">
            <a:extLst>
              <a:ext uri="{FF2B5EF4-FFF2-40B4-BE49-F238E27FC236}">
                <a16:creationId xmlns:a16="http://schemas.microsoft.com/office/drawing/2014/main" id="{3E631118-319F-45D7-09BA-BDE677E3FD10}"/>
              </a:ext>
            </a:extLst>
          </p:cNvPr>
          <p:cNvSpPr>
            <a:spLocks noChangeArrowheads="1"/>
          </p:cNvSpPr>
          <p:nvPr/>
        </p:nvSpPr>
        <p:spPr bwMode="auto">
          <a:xfrm>
            <a:off x="154982" y="-184666"/>
            <a:ext cx="82915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E2B4AF06-FA4B-E3EA-63DC-7BAA2DF33332}"/>
              </a:ext>
            </a:extLst>
          </p:cNvPr>
          <p:cNvSpPr>
            <a:spLocks noChangeArrowheads="1"/>
          </p:cNvSpPr>
          <p:nvPr/>
        </p:nvSpPr>
        <p:spPr bwMode="auto">
          <a:xfrm>
            <a:off x="-120069" y="-2469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6" name="Footer Placeholder 1">
            <a:extLst>
              <a:ext uri="{FF2B5EF4-FFF2-40B4-BE49-F238E27FC236}">
                <a16:creationId xmlns:a16="http://schemas.microsoft.com/office/drawing/2014/main" id="{54FB58F4-DCB5-4880-5BD2-194689E143FB}"/>
              </a:ext>
            </a:extLst>
          </p:cNvPr>
          <p:cNvSpPr txBox="1">
            <a:spLocks/>
          </p:cNvSpPr>
          <p:nvPr/>
        </p:nvSpPr>
        <p:spPr bwMode="auto">
          <a:xfrm>
            <a:off x="3430034" y="6411912"/>
            <a:ext cx="1741488"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dirty="0"/>
              <a:t>July 29th, 2025</a:t>
            </a:r>
          </a:p>
        </p:txBody>
      </p:sp>
      <p:sp>
        <p:nvSpPr>
          <p:cNvPr id="3" name="Text Box 3">
            <a:extLst>
              <a:ext uri="{FF2B5EF4-FFF2-40B4-BE49-F238E27FC236}">
                <a16:creationId xmlns:a16="http://schemas.microsoft.com/office/drawing/2014/main" id="{D9DB4583-A306-8510-6FA2-1D1E21EC4EB9}"/>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7" name="Text Box 3">
            <a:extLst>
              <a:ext uri="{FF2B5EF4-FFF2-40B4-BE49-F238E27FC236}">
                <a16:creationId xmlns:a16="http://schemas.microsoft.com/office/drawing/2014/main" id="{ED297504-4C82-8F79-64EC-94B8ECE2E76F}"/>
              </a:ext>
            </a:extLst>
          </p:cNvPr>
          <p:cNvSpPr txBox="1">
            <a:spLocks noChangeArrowheads="1"/>
          </p:cNvSpPr>
          <p:nvPr/>
        </p:nvSpPr>
        <p:spPr bwMode="auto">
          <a:xfrm>
            <a:off x="60960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Slide 3</a:t>
            </a:r>
            <a:endParaRPr lang="en-CA" altLang="en-US" sz="1000" b="1" i="1" dirty="0">
              <a:latin typeface="Arial" panose="020B0604020202020204" pitchFamily="34" charset="0"/>
              <a:cs typeface="Arial Unicode MS" pitchFamily="32" charset="0"/>
            </a:endParaRPr>
          </a:p>
        </p:txBody>
      </p:sp>
    </p:spTree>
    <p:extLst>
      <p:ext uri="{BB962C8B-B14F-4D97-AF65-F5344CB8AC3E}">
        <p14:creationId xmlns:p14="http://schemas.microsoft.com/office/powerpoint/2010/main" val="3127603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7" name="Text Box 3">
            <a:extLst>
              <a:ext uri="{FF2B5EF4-FFF2-40B4-BE49-F238E27FC236}">
                <a16:creationId xmlns:a16="http://schemas.microsoft.com/office/drawing/2014/main" id="{6874379A-AE3A-A98B-5935-BE9E4FC0A901}"/>
              </a:ext>
            </a:extLst>
          </p:cNvPr>
          <p:cNvSpPr txBox="1">
            <a:spLocks noChangeArrowheads="1"/>
          </p:cNvSpPr>
          <p:nvPr/>
        </p:nvSpPr>
        <p:spPr bwMode="auto">
          <a:xfrm>
            <a:off x="7756525" y="6400800"/>
            <a:ext cx="8604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CA" altLang="en-US" sz="1000" b="1" i="1" dirty="0">
                <a:latin typeface="Arial" panose="020B0604020202020204" pitchFamily="34" charset="0"/>
                <a:cs typeface="Arial Unicode MS" pitchFamily="32" charset="0"/>
              </a:rPr>
              <a:t>Slide 4</a:t>
            </a:r>
          </a:p>
        </p:txBody>
      </p:sp>
      <p:sp>
        <p:nvSpPr>
          <p:cNvPr id="6148" name="Text Box 4">
            <a:extLst>
              <a:ext uri="{FF2B5EF4-FFF2-40B4-BE49-F238E27FC236}">
                <a16:creationId xmlns:a16="http://schemas.microsoft.com/office/drawing/2014/main" id="{0FFD6677-059C-5DCB-9CFB-D6234EFA5E41}"/>
              </a:ext>
            </a:extLst>
          </p:cNvPr>
          <p:cNvSpPr txBox="1">
            <a:spLocks noChangeArrowheads="1"/>
          </p:cNvSpPr>
          <p:nvPr/>
        </p:nvSpPr>
        <p:spPr bwMode="auto">
          <a:xfrm>
            <a:off x="191942" y="-19771"/>
            <a:ext cx="8991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buClrTx/>
              <a:buFontTx/>
              <a:buNone/>
            </a:pPr>
            <a:r>
              <a:rPr lang="en-CA"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Problem and Gap</a:t>
            </a:r>
          </a:p>
        </p:txBody>
      </p:sp>
      <p:sp>
        <p:nvSpPr>
          <p:cNvPr id="6149" name="Text Box 5">
            <a:extLst>
              <a:ext uri="{FF2B5EF4-FFF2-40B4-BE49-F238E27FC236}">
                <a16:creationId xmlns:a16="http://schemas.microsoft.com/office/drawing/2014/main" id="{E194311D-ADFB-65C1-01E6-DE146326D6B8}"/>
              </a:ext>
            </a:extLst>
          </p:cNvPr>
          <p:cNvSpPr txBox="1">
            <a:spLocks noChangeArrowheads="1"/>
          </p:cNvSpPr>
          <p:nvPr/>
        </p:nvSpPr>
        <p:spPr bwMode="auto">
          <a:xfrm>
            <a:off x="39542" y="1143000"/>
            <a:ext cx="9296400" cy="548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Tx/>
              <a:buNone/>
            </a:pPr>
            <a:r>
              <a:rPr lang="en-CA" altLang="en-US" sz="1500" b="1" dirty="0">
                <a:solidFill>
                  <a:srgbClr val="000000"/>
                </a:solidFill>
                <a:latin typeface="Calibri" panose="020F0502020204030204" pitchFamily="34" charset="0"/>
                <a:ea typeface="Calibri" panose="020F0502020204030204" pitchFamily="34" charset="0"/>
                <a:cs typeface="Calibri" panose="020F0502020204030204" pitchFamily="34" charset="0"/>
              </a:rPr>
              <a:t>Client problem : </a:t>
            </a:r>
            <a:r>
              <a:rPr 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ATD wants to adopt AI-driven logistics tools to better connect African suppliers with Canadian wholesalers. However, it lacks the internal capability to identify, evaluate, and implement suitable technologies—leading to poor decisions and limited scalability in cross-border operations.</a:t>
            </a:r>
          </a:p>
          <a:p>
            <a:pPr marL="0" indent="7938" eaLnBrk="1" hangingPunct="1">
              <a:spcBef>
                <a:spcPts val="600"/>
              </a:spcBef>
              <a:buClrTx/>
              <a:buFontTx/>
              <a:buNone/>
            </a:pPr>
            <a:r>
              <a:rPr lang="en-CA" altLang="en-US" sz="1500" b="1" dirty="0">
                <a:solidFill>
                  <a:srgbClr val="000000"/>
                </a:solidFill>
                <a:latin typeface="Calibri" panose="020F0502020204030204" pitchFamily="34" charset="0"/>
                <a:ea typeface="Calibri" panose="020F0502020204030204" pitchFamily="34" charset="0"/>
                <a:cs typeface="Calibri" panose="020F0502020204030204" pitchFamily="34" charset="0"/>
              </a:rPr>
              <a:t>What is Known</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AI improves logistics performance, enhancing speed and visibility through tools like tracking and automation (Wang et al., 2022).</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Small and medium size businesses (SMBs) face adoption barriers such as high costs, poor integration, and limited technical capacity, especially in Africa-focused trade (</a:t>
            </a:r>
            <a:r>
              <a:rPr lang="en-US" altLang="en-US" sz="1500" dirty="0" err="1">
                <a:solidFill>
                  <a:schemeClr val="tx1"/>
                </a:solidFill>
                <a:latin typeface="Calibri" panose="020F0502020204030204" pitchFamily="34" charset="0"/>
                <a:ea typeface="Calibri" panose="020F0502020204030204" pitchFamily="34" charset="0"/>
                <a:cs typeface="Calibri" panose="020F0502020204030204" pitchFamily="34" charset="0"/>
              </a:rPr>
              <a:t>Saghafian</a:t>
            </a:r>
            <a:r>
              <a:rPr lang="en-US"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 &amp; Van Oyen, 2023).</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Multi-criteria decision analysis (MCDA) supports effective tool selection based on cost, usability, and scalability (Kabir &amp; Sadiq, 2021).</a:t>
            </a:r>
          </a:p>
          <a:p>
            <a:pPr marL="0" indent="0"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b="1" dirty="0">
                <a:solidFill>
                  <a:schemeClr val="tx1"/>
                </a:solidFill>
                <a:latin typeface="Calibri" panose="020F0502020204030204" pitchFamily="34" charset="0"/>
                <a:ea typeface="Calibri" panose="020F0502020204030204" pitchFamily="34" charset="0"/>
                <a:cs typeface="Calibri" panose="020F0502020204030204" pitchFamily="34" charset="0"/>
              </a:rPr>
              <a:t>What is Not known</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What is known about AI logistic tools in the grey literature? (Deliverables 1)</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Assessing what is known about AI logistic tools used to facilitate trade between Canada and multi-African countries? (Deliverables 1)</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Which AI tools can satisfy ATD’s need to support small teams? (Deliverables 2)</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Which tools are cost-effective, scalable, and usable by small teams? (Deliverables 3)</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500" dirty="0">
                <a:solidFill>
                  <a:schemeClr val="tx1"/>
                </a:solidFill>
                <a:latin typeface="Calibri" panose="020F0502020204030204" pitchFamily="34" charset="0"/>
                <a:ea typeface="Calibri" panose="020F0502020204030204" pitchFamily="34" charset="0"/>
                <a:cs typeface="Calibri" panose="020F0502020204030204" pitchFamily="34" charset="0"/>
              </a:rPr>
              <a:t>What is not known about how AI-First strategies can be implemented by small trade facilitation teams operating between Canada and multiple African countries? (Deliverable 4)</a:t>
            </a:r>
          </a:p>
          <a:p>
            <a:pPr marL="0" indent="0"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endParaRPr lang="en-US" altLang="en-US" sz="15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773F08CA-E6BC-6F42-C4BD-B10CD5197A84}"/>
              </a:ext>
            </a:extLst>
          </p:cNvPr>
          <p:cNvPicPr>
            <a:picLocks noChangeAspect="1"/>
          </p:cNvPicPr>
          <p:nvPr/>
        </p:nvPicPr>
        <p:blipFill>
          <a:blip r:embed="rId3"/>
          <a:stretch>
            <a:fillRect/>
          </a:stretch>
        </p:blipFill>
        <p:spPr>
          <a:xfrm>
            <a:off x="0" y="6412153"/>
            <a:ext cx="3048264" cy="530398"/>
          </a:xfrm>
          <a:prstGeom prst="rect">
            <a:avLst/>
          </a:prstGeom>
        </p:spPr>
      </p:pic>
      <p:sp>
        <p:nvSpPr>
          <p:cNvPr id="7" name="Text Box 3">
            <a:extLst>
              <a:ext uri="{FF2B5EF4-FFF2-40B4-BE49-F238E27FC236}">
                <a16:creationId xmlns:a16="http://schemas.microsoft.com/office/drawing/2014/main" id="{CDC81873-DF48-47A3-9BD9-EB7021C18707}"/>
              </a:ext>
            </a:extLst>
          </p:cNvPr>
          <p:cNvSpPr txBox="1">
            <a:spLocks noChangeArrowheads="1"/>
          </p:cNvSpPr>
          <p:nvPr/>
        </p:nvSpPr>
        <p:spPr bwMode="auto">
          <a:xfrm>
            <a:off x="3878394" y="6412153"/>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r>
              <a:rPr lang="en-US" sz="1100" dirty="0">
                <a:latin typeface="Calibri" panose="020F0502020204030204" pitchFamily="34" charset="0"/>
                <a:ea typeface="Calibri" panose="020F0502020204030204" pitchFamily="34" charset="0"/>
                <a:cs typeface="Calibri" panose="020F0502020204030204" pitchFamily="34" charset="0"/>
              </a:rPr>
              <a:t>July 29th, 2025</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1" name="Text Box 3">
            <a:extLst>
              <a:ext uri="{FF2B5EF4-FFF2-40B4-BE49-F238E27FC236}">
                <a16:creationId xmlns:a16="http://schemas.microsoft.com/office/drawing/2014/main" id="{285D0F92-F032-3405-DF38-423AD460D0E2}"/>
              </a:ext>
            </a:extLst>
          </p:cNvPr>
          <p:cNvSpPr txBox="1">
            <a:spLocks noChangeArrowheads="1"/>
          </p:cNvSpPr>
          <p:nvPr/>
        </p:nvSpPr>
        <p:spPr bwMode="auto">
          <a:xfrm>
            <a:off x="7531608" y="6400800"/>
            <a:ext cx="8350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CA" altLang="en-US" sz="1000" b="1" i="1" dirty="0">
                <a:latin typeface="Arial" panose="020B0604020202020204" pitchFamily="34" charset="0"/>
                <a:cs typeface="Arial Unicode MS" pitchFamily="32" charset="0"/>
              </a:rPr>
              <a:t>Slide 5</a:t>
            </a:r>
          </a:p>
        </p:txBody>
      </p:sp>
      <p:sp>
        <p:nvSpPr>
          <p:cNvPr id="7226" name="Text Box 58">
            <a:extLst>
              <a:ext uri="{FF2B5EF4-FFF2-40B4-BE49-F238E27FC236}">
                <a16:creationId xmlns:a16="http://schemas.microsoft.com/office/drawing/2014/main" id="{3F4E7EBE-41C9-540F-3A74-BD3BBFAB622E}"/>
              </a:ext>
            </a:extLst>
          </p:cNvPr>
          <p:cNvSpPr txBox="1">
            <a:spLocks noChangeArrowheads="1"/>
          </p:cNvSpPr>
          <p:nvPr/>
        </p:nvSpPr>
        <p:spPr bwMode="auto">
          <a:xfrm>
            <a:off x="266700" y="0"/>
            <a:ext cx="8991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buClrTx/>
              <a:buFontTx/>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Literature review</a:t>
            </a:r>
          </a:p>
        </p:txBody>
      </p:sp>
      <p:sp>
        <p:nvSpPr>
          <p:cNvPr id="7" name="Text Box 3">
            <a:extLst>
              <a:ext uri="{FF2B5EF4-FFF2-40B4-BE49-F238E27FC236}">
                <a16:creationId xmlns:a16="http://schemas.microsoft.com/office/drawing/2014/main" id="{5EA59D63-957D-DD08-4041-7DC000DBCD81}"/>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graphicFrame>
        <p:nvGraphicFramePr>
          <p:cNvPr id="2" name="Table 1">
            <a:extLst>
              <a:ext uri="{FF2B5EF4-FFF2-40B4-BE49-F238E27FC236}">
                <a16:creationId xmlns:a16="http://schemas.microsoft.com/office/drawing/2014/main" id="{8FC8E228-4359-DBBD-B38F-8256CA7D54CE}"/>
              </a:ext>
            </a:extLst>
          </p:cNvPr>
          <p:cNvGraphicFramePr>
            <a:graphicFrameLocks noGrp="1"/>
          </p:cNvGraphicFramePr>
          <p:nvPr>
            <p:extLst>
              <p:ext uri="{D42A27DB-BD31-4B8C-83A1-F6EECF244321}">
                <p14:modId xmlns:p14="http://schemas.microsoft.com/office/powerpoint/2010/main" val="3651952334"/>
              </p:ext>
            </p:extLst>
          </p:nvPr>
        </p:nvGraphicFramePr>
        <p:xfrm>
          <a:off x="24269" y="1146142"/>
          <a:ext cx="9095462" cy="5334000"/>
        </p:xfrm>
        <a:graphic>
          <a:graphicData uri="http://schemas.openxmlformats.org/drawingml/2006/table">
            <a:tbl>
              <a:tblPr firstRow="1" bandRow="1">
                <a:tableStyleId>{5940675A-B579-460E-94D1-54222C63F5DA}</a:tableStyleId>
              </a:tblPr>
              <a:tblGrid>
                <a:gridCol w="1665962">
                  <a:extLst>
                    <a:ext uri="{9D8B030D-6E8A-4147-A177-3AD203B41FA5}">
                      <a16:colId xmlns:a16="http://schemas.microsoft.com/office/drawing/2014/main" val="1309649497"/>
                    </a:ext>
                  </a:extLst>
                </a:gridCol>
                <a:gridCol w="5486400">
                  <a:extLst>
                    <a:ext uri="{9D8B030D-6E8A-4147-A177-3AD203B41FA5}">
                      <a16:colId xmlns:a16="http://schemas.microsoft.com/office/drawing/2014/main" val="1450001129"/>
                    </a:ext>
                  </a:extLst>
                </a:gridCol>
                <a:gridCol w="1943100">
                  <a:extLst>
                    <a:ext uri="{9D8B030D-6E8A-4147-A177-3AD203B41FA5}">
                      <a16:colId xmlns:a16="http://schemas.microsoft.com/office/drawing/2014/main" val="2468677233"/>
                    </a:ext>
                  </a:extLst>
                </a:gridCol>
              </a:tblGrid>
              <a:tr h="294217">
                <a:tc>
                  <a:txBody>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Stream</a:t>
                      </a:r>
                    </a:p>
                  </a:txBody>
                  <a:tcPr/>
                </a:tc>
                <a:tc>
                  <a:txBody>
                    <a:bodyPr/>
                    <a:lstStyle/>
                    <a:p>
                      <a:pPr algn="ctr">
                        <a:lnSpc>
                          <a:spcPct val="100000"/>
                        </a:lnSpc>
                      </a:pPr>
                      <a:r>
                        <a:rPr lang="en-US" sz="1400" b="1" dirty="0">
                          <a:latin typeface="Calibri" panose="020F0502020204030204" pitchFamily="34" charset="0"/>
                          <a:ea typeface="Calibri" panose="020F0502020204030204" pitchFamily="34" charset="0"/>
                          <a:cs typeface="Calibri" panose="020F0502020204030204" pitchFamily="34" charset="0"/>
                        </a:rPr>
                        <a:t>Key highlights of the stream</a:t>
                      </a:r>
                    </a:p>
                  </a:txBody>
                  <a:tcPr/>
                </a:tc>
                <a:tc>
                  <a:txBody>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Citations to key sources</a:t>
                      </a:r>
                    </a:p>
                  </a:txBody>
                  <a:tcPr/>
                </a:tc>
                <a:extLst>
                  <a:ext uri="{0D108BD9-81ED-4DB2-BD59-A6C34878D82A}">
                    <a16:rowId xmlns:a16="http://schemas.microsoft.com/office/drawing/2014/main" val="1662445660"/>
                  </a:ext>
                </a:extLst>
              </a:tr>
              <a:tr h="0">
                <a:tc>
                  <a: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Functional Capabilities of AI in Logistics</a:t>
                      </a:r>
                    </a:p>
                  </a:txBody>
                  <a:tcPr/>
                </a:tc>
                <a:tc>
                  <a:txBody>
                    <a:bodyPr/>
                    <a:lstStyle/>
                    <a:p>
                      <a:pPr marL="171450" indent="-171450" algn="just">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AI tools automate routing, tracking, and documentation. </a:t>
                      </a:r>
                    </a:p>
                    <a:p>
                      <a:pPr marL="171450" indent="-171450" algn="just">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Enhance logistics efficiency and reduce manual effort.</a:t>
                      </a:r>
                    </a:p>
                    <a:p>
                      <a:pPr marL="171450" indent="-171450" algn="just">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Supports ATD’s tool classification and performance matrix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alibri" panose="020F0502020204030204" pitchFamily="34" charset="0"/>
                          <a:ea typeface="Calibri" panose="020F0502020204030204" pitchFamily="34" charset="0"/>
                          <a:cs typeface="Calibri" panose="020F0502020204030204" pitchFamily="34" charset="0"/>
                        </a:rPr>
                        <a:t>Al-</a:t>
                      </a:r>
                      <a:r>
                        <a:rPr lang="fr-FR" sz="1200" dirty="0" err="1">
                          <a:latin typeface="Calibri" panose="020F0502020204030204" pitchFamily="34" charset="0"/>
                          <a:ea typeface="Calibri" panose="020F0502020204030204" pitchFamily="34" charset="0"/>
                          <a:cs typeface="Calibri" panose="020F0502020204030204" pitchFamily="34" charset="0"/>
                        </a:rPr>
                        <a:t>Obeidat</a:t>
                      </a:r>
                      <a:r>
                        <a:rPr lang="fr-FR" sz="1200" dirty="0">
                          <a:latin typeface="Calibri" panose="020F0502020204030204" pitchFamily="34" charset="0"/>
                          <a:ea typeface="Calibri" panose="020F0502020204030204" pitchFamily="34" charset="0"/>
                          <a:cs typeface="Calibri" panose="020F0502020204030204" pitchFamily="34" charset="0"/>
                        </a:rPr>
                        <a:t> et al. (2023)</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Calibri" panose="020F0502020204030204" pitchFamily="34" charset="0"/>
                          <a:ea typeface="Calibri" panose="020F0502020204030204" pitchFamily="34" charset="0"/>
                          <a:cs typeface="Calibri" panose="020F0502020204030204" pitchFamily="34" charset="0"/>
                        </a:rPr>
                        <a:t>Wang et al. (2022)</a:t>
                      </a:r>
                    </a:p>
                  </a:txBody>
                  <a:tcPr/>
                </a:tc>
                <a:extLst>
                  <a:ext uri="{0D108BD9-81ED-4DB2-BD59-A6C34878D82A}">
                    <a16:rowId xmlns:a16="http://schemas.microsoft.com/office/drawing/2014/main" val="3955924195"/>
                  </a:ext>
                </a:extLst>
              </a:tr>
              <a:tr h="389467">
                <a:tc>
                  <a: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Fit-for-Purpose Design for Canada–Africa Trade</a:t>
                      </a:r>
                    </a:p>
                  </a:txBody>
                  <a:tcPr/>
                </a:tc>
                <a:tc>
                  <a:txBody>
                    <a:bodyPr/>
                    <a:lstStyle/>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Tools must operate in low-infrastructure African settings.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Design must consider connectivity and hardware limitations.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Informs ATD’s scoping review of regional implementation.</a:t>
                      </a:r>
                    </a:p>
                  </a:txBody>
                  <a:tcPr/>
                </a:tc>
                <a:tc>
                  <a:txBody>
                    <a:bodyPr/>
                    <a:lstStyle/>
                    <a:p>
                      <a:r>
                        <a:rPr lang="en-CA" sz="1200" dirty="0">
                          <a:latin typeface="Calibri" panose="020F0502020204030204" pitchFamily="34" charset="0"/>
                          <a:ea typeface="Calibri" panose="020F0502020204030204" pitchFamily="34" charset="0"/>
                          <a:cs typeface="Calibri" panose="020F0502020204030204" pitchFamily="34" charset="0"/>
                        </a:rPr>
                        <a:t>Kobo360 (2023)</a:t>
                      </a:r>
                    </a:p>
                    <a:p>
                      <a:r>
                        <a:rPr lang="en-CA" sz="1200" dirty="0">
                          <a:latin typeface="Calibri" panose="020F0502020204030204" pitchFamily="34" charset="0"/>
                          <a:ea typeface="Calibri" panose="020F0502020204030204" pitchFamily="34" charset="0"/>
                          <a:cs typeface="Calibri" panose="020F0502020204030204" pitchFamily="34" charset="0"/>
                        </a:rPr>
                        <a:t>UNECA (2023) </a:t>
                      </a:r>
                    </a:p>
                  </a:txBody>
                  <a:tcPr/>
                </a:tc>
                <a:extLst>
                  <a:ext uri="{0D108BD9-81ED-4DB2-BD59-A6C34878D82A}">
                    <a16:rowId xmlns:a16="http://schemas.microsoft.com/office/drawing/2014/main" val="47283809"/>
                  </a:ext>
                </a:extLst>
              </a:tr>
              <a:tr h="389467">
                <a:tc>
                  <a: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Usability &amp; Scalability for Small Teams</a:t>
                      </a:r>
                    </a:p>
                  </a:txBody>
                  <a:tcPr/>
                </a:tc>
                <a:tc>
                  <a:txBody>
                    <a:bodyPr/>
                    <a:lstStyle/>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SMEs need tools deployable by 1–5 users.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Ease of use reduces training burden for lean teams.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Feeds into usability scoring in ATD’s evaluation matrix.</a:t>
                      </a:r>
                    </a:p>
                  </a:txBody>
                  <a:tcPr/>
                </a:tc>
                <a:tc>
                  <a:txBody>
                    <a:bodyPr/>
                    <a:lstStyle/>
                    <a:p>
                      <a:r>
                        <a:rPr lang="da-DK" sz="1200" dirty="0">
                          <a:latin typeface="Calibri" panose="020F0502020204030204" pitchFamily="34" charset="0"/>
                          <a:ea typeface="Calibri" panose="020F0502020204030204" pitchFamily="34" charset="0"/>
                          <a:cs typeface="Calibri" panose="020F0502020204030204" pitchFamily="34" charset="0"/>
                        </a:rPr>
                        <a:t>Planet Crust (2024) Rahman &amp; Tetteh  (2024)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21816331"/>
                  </a:ext>
                </a:extLst>
              </a:tr>
              <a:tr h="389467">
                <a:tc>
                  <a:txBody>
                    <a:bodyPr/>
                    <a:lstStyle/>
                    <a:p>
                      <a:r>
                        <a:rPr lang="en-CA" sz="1200" b="1" dirty="0">
                          <a:latin typeface="Calibri" panose="020F0502020204030204" pitchFamily="34" charset="0"/>
                          <a:ea typeface="Calibri" panose="020F0502020204030204" pitchFamily="34" charset="0"/>
                          <a:cs typeface="Calibri" panose="020F0502020204030204" pitchFamily="34" charset="0"/>
                        </a:rPr>
                        <a:t>Cost-Benefit Transparency &amp; Financial Reporting</a:t>
                      </a:r>
                      <a:endParaRPr lang="en-US" sz="1200" b="1"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AI tools should show clear ROI and financial reporting features.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Cost transparency helps justify investments for SMEs.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Supports ATD’s tool evaluation on cost transparency.</a:t>
                      </a:r>
                    </a:p>
                  </a:txBody>
                  <a:tcPr/>
                </a:tc>
                <a:tc>
                  <a:txBody>
                    <a:bodyPr/>
                    <a:lstStyle/>
                    <a:p>
                      <a:r>
                        <a:rPr lang="it-IT" sz="1200" dirty="0">
                          <a:latin typeface="Calibri" panose="020F0502020204030204" pitchFamily="34" charset="0"/>
                          <a:ea typeface="Calibri" panose="020F0502020204030204" pitchFamily="34" charset="0"/>
                          <a:cs typeface="Calibri" panose="020F0502020204030204" pitchFamily="34" charset="0"/>
                        </a:rPr>
                        <a:t>Jetvision AI (2024)</a:t>
                      </a:r>
                    </a:p>
                    <a:p>
                      <a:r>
                        <a:rPr lang="it-IT" sz="1200" dirty="0">
                          <a:latin typeface="Calibri" panose="020F0502020204030204" pitchFamily="34" charset="0"/>
                          <a:ea typeface="Calibri" panose="020F0502020204030204" pitchFamily="34" charset="0"/>
                          <a:cs typeface="Calibri" panose="020F0502020204030204" pitchFamily="34" charset="0"/>
                        </a:rPr>
                        <a:t>Petrudi et al. (2022)</a:t>
                      </a:r>
                    </a:p>
                  </a:txBody>
                  <a:tcPr/>
                </a:tc>
                <a:extLst>
                  <a:ext uri="{0D108BD9-81ED-4DB2-BD59-A6C34878D82A}">
                    <a16:rowId xmlns:a16="http://schemas.microsoft.com/office/drawing/2014/main" val="3417702389"/>
                  </a:ext>
                </a:extLst>
              </a:tr>
              <a:tr h="389467">
                <a:tc>
                  <a: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Customs, Compliance, and Paperwork Automation</a:t>
                      </a:r>
                    </a:p>
                  </a:txBody>
                  <a:tcPr/>
                </a:tc>
                <a:tc>
                  <a:txBody>
                    <a:bodyPr/>
                    <a:lstStyle/>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Automation reduces customs paperwork and delays.</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Improves regulatory compliance and border efficiency.</a:t>
                      </a:r>
                    </a:p>
                    <a:p>
                      <a:pPr marL="171450" indent="-171450" algn="l">
                        <a:lnSpc>
                          <a:spcPct val="100000"/>
                        </a:lnSpc>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Helps ATD streamline cross-border trade operations.</a:t>
                      </a:r>
                    </a:p>
                    <a:p>
                      <a:pPr marL="0" indent="0" algn="l">
                        <a:lnSpc>
                          <a:spcPct val="100000"/>
                        </a:lnSpc>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200" dirty="0">
                          <a:latin typeface="Calibri" panose="020F0502020204030204" pitchFamily="34" charset="0"/>
                          <a:ea typeface="Calibri" panose="020F0502020204030204" pitchFamily="34" charset="0"/>
                          <a:cs typeface="Calibri" panose="020F0502020204030204" pitchFamily="34" charset="0"/>
                        </a:rPr>
                        <a:t>CB Insights (2024) UNECA (2023)</a:t>
                      </a:r>
                    </a:p>
                  </a:txBody>
                  <a:tcPr/>
                </a:tc>
                <a:extLst>
                  <a:ext uri="{0D108BD9-81ED-4DB2-BD59-A6C34878D82A}">
                    <a16:rowId xmlns:a16="http://schemas.microsoft.com/office/drawing/2014/main" val="2496940648"/>
                  </a:ext>
                </a:extLst>
              </a:tr>
              <a:tr h="389467">
                <a:tc>
                  <a:txBody>
                    <a:bodyPr/>
                    <a:lstStyle/>
                    <a:p>
                      <a:r>
                        <a:rPr lang="en-CA" sz="1200" b="1" dirty="0">
                          <a:latin typeface="Calibri" panose="020F0502020204030204" pitchFamily="34" charset="0"/>
                          <a:ea typeface="Calibri" panose="020F0502020204030204" pitchFamily="34" charset="0"/>
                          <a:cs typeface="Calibri" panose="020F0502020204030204" pitchFamily="34" charset="0"/>
                        </a:rPr>
                        <a:t>AI-First Implementation Roadmap for Trade Facilitation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 Positions AI tools as operational agents, not add-ons.</a:t>
                      </a:r>
                    </a:p>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 Uses phased approach: tool selection → piloting → SOP integration.</a:t>
                      </a:r>
                    </a:p>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Supports ATD’s transition to AI-driven operations using lean workflows.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latin typeface="Calibri" panose="020F0502020204030204" pitchFamily="34" charset="0"/>
                          <a:ea typeface="Calibri" panose="020F0502020204030204" pitchFamily="34" charset="0"/>
                          <a:cs typeface="Calibri" panose="020F0502020204030204" pitchFamily="34" charset="0"/>
                        </a:rPr>
                        <a:t>Furrier (2024)</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latin typeface="Calibri" panose="020F0502020204030204" pitchFamily="34" charset="0"/>
                          <a:ea typeface="Calibri" panose="020F0502020204030204" pitchFamily="34" charset="0"/>
                          <a:cs typeface="Calibri" panose="020F0502020204030204" pitchFamily="34" charset="0"/>
                        </a:rPr>
                        <a:t>Mollick (2025)</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latin typeface="Calibri" panose="020F0502020204030204" pitchFamily="34" charset="0"/>
                          <a:ea typeface="Calibri" panose="020F0502020204030204" pitchFamily="34" charset="0"/>
                          <a:cs typeface="Calibri" panose="020F0502020204030204" pitchFamily="34" charset="0"/>
                        </a:rPr>
                        <a:t>TIM-TiE (2025)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5017641"/>
                  </a:ext>
                </a:extLst>
              </a:tr>
              <a:tr h="389467">
                <a:tc>
                  <a:txBody>
                    <a:bodyPr/>
                    <a:lstStyle/>
                    <a:p>
                      <a:r>
                        <a:rPr lang="en-CA" sz="1200" b="1" dirty="0">
                          <a:latin typeface="Calibri" panose="020F0502020204030204" pitchFamily="34" charset="0"/>
                          <a:ea typeface="Calibri" panose="020F0502020204030204" pitchFamily="34" charset="0"/>
                          <a:cs typeface="Calibri" panose="020F0502020204030204" pitchFamily="34" charset="0"/>
                        </a:rPr>
                        <a:t>PRISMA-</a:t>
                      </a:r>
                      <a:r>
                        <a:rPr lang="en-CA" sz="1200" b="1" dirty="0" err="1">
                          <a:latin typeface="Calibri" panose="020F0502020204030204" pitchFamily="34" charset="0"/>
                          <a:ea typeface="Calibri" panose="020F0502020204030204" pitchFamily="34" charset="0"/>
                          <a:cs typeface="Calibri" panose="020F0502020204030204" pitchFamily="34" charset="0"/>
                        </a:rPr>
                        <a:t>ScR</a:t>
                      </a:r>
                      <a:r>
                        <a:rPr lang="en-CA" sz="1200" b="1" dirty="0">
                          <a:latin typeface="Calibri" panose="020F0502020204030204" pitchFamily="34" charset="0"/>
                          <a:ea typeface="Calibri" panose="020F0502020204030204" pitchFamily="34" charset="0"/>
                          <a:cs typeface="Calibri" panose="020F0502020204030204" pitchFamily="34" charset="0"/>
                        </a:rPr>
                        <a:t> Scoping Review of AI Logistics Tools</a:t>
                      </a:r>
                      <a:endParaRPr lang="en-US" sz="1200" b="1"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Used PRISMA-</a:t>
                      </a:r>
                      <a:r>
                        <a:rPr lang="en-CA" sz="1200" dirty="0" err="1">
                          <a:latin typeface="Calibri" panose="020F0502020204030204" pitchFamily="34" charset="0"/>
                          <a:ea typeface="Calibri" panose="020F0502020204030204" pitchFamily="34" charset="0"/>
                          <a:cs typeface="Calibri" panose="020F0502020204030204" pitchFamily="34" charset="0"/>
                        </a:rPr>
                        <a:t>ScR</a:t>
                      </a:r>
                      <a:r>
                        <a:rPr lang="en-CA" sz="1200" dirty="0">
                          <a:latin typeface="Calibri" panose="020F0502020204030204" pitchFamily="34" charset="0"/>
                          <a:ea typeface="Calibri" panose="020F0502020204030204" pitchFamily="34" charset="0"/>
                          <a:cs typeface="Calibri" panose="020F0502020204030204" pitchFamily="34" charset="0"/>
                        </a:rPr>
                        <a:t> and PCC framework to review academic and grey literature on AI tools.</a:t>
                      </a:r>
                    </a:p>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Identified 65 tools relevant to small trade facilitators in Canada–Africa trade.</a:t>
                      </a:r>
                    </a:p>
                    <a:p>
                      <a:pPr marL="171450" indent="-171450" algn="l">
                        <a:lnSpc>
                          <a:spcPct val="100000"/>
                        </a:lnSpc>
                        <a:buFont typeface="Arial" panose="020B0604020202020204" pitchFamily="34" charset="0"/>
                        <a:buChar char="•"/>
                      </a:pPr>
                      <a:r>
                        <a:rPr lang="en-CA" sz="1200" dirty="0">
                          <a:latin typeface="Calibri" panose="020F0502020204030204" pitchFamily="34" charset="0"/>
                          <a:ea typeface="Calibri" panose="020F0502020204030204" pitchFamily="34" charset="0"/>
                          <a:cs typeface="Calibri" panose="020F0502020204030204" pitchFamily="34" charset="0"/>
                        </a:rPr>
                        <a:t>Informed Deliverables 2–4 by mapping tool features, functions, and regional fit.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err="1">
                          <a:latin typeface="Calibri" panose="020F0502020204030204" pitchFamily="34" charset="0"/>
                          <a:ea typeface="Calibri" panose="020F0502020204030204" pitchFamily="34" charset="0"/>
                          <a:cs typeface="Calibri" panose="020F0502020204030204" pitchFamily="34" charset="0"/>
                        </a:rPr>
                        <a:t>Briter</a:t>
                      </a:r>
                      <a:r>
                        <a:rPr lang="en-CA" sz="1200" dirty="0">
                          <a:latin typeface="Calibri" panose="020F0502020204030204" pitchFamily="34" charset="0"/>
                          <a:ea typeface="Calibri" panose="020F0502020204030204" pitchFamily="34" charset="0"/>
                          <a:cs typeface="Calibri" panose="020F0502020204030204" pitchFamily="34" charset="0"/>
                        </a:rPr>
                        <a:t> Bridges (2022)</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Calibri" panose="020F0502020204030204" pitchFamily="34" charset="0"/>
                          <a:ea typeface="Calibri" panose="020F0502020204030204" pitchFamily="34" charset="0"/>
                          <a:cs typeface="Calibri" panose="020F0502020204030204" pitchFamily="34" charset="0"/>
                        </a:rPr>
                        <a:t>Tricco</a:t>
                      </a:r>
                      <a:r>
                        <a:rPr lang="en-US" sz="1200" dirty="0">
                          <a:latin typeface="Calibri" panose="020F0502020204030204" pitchFamily="34" charset="0"/>
                          <a:ea typeface="Calibri" panose="020F0502020204030204" pitchFamily="34" charset="0"/>
                          <a:cs typeface="Calibri" panose="020F0502020204030204" pitchFamily="34" charset="0"/>
                        </a:rPr>
                        <a:t> et al. (2018)</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World Bank (2023)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45255145"/>
                  </a:ext>
                </a:extLst>
              </a:tr>
            </a:tbl>
          </a:graphicData>
        </a:graphic>
      </p:graphicFrame>
      <p:sp>
        <p:nvSpPr>
          <p:cNvPr id="9" name="Text Box 3">
            <a:extLst>
              <a:ext uri="{FF2B5EF4-FFF2-40B4-BE49-F238E27FC236}">
                <a16:creationId xmlns:a16="http://schemas.microsoft.com/office/drawing/2014/main" id="{F230C27E-C343-418F-AC41-3196B3BB30BD}"/>
              </a:ext>
            </a:extLst>
          </p:cNvPr>
          <p:cNvSpPr txBox="1">
            <a:spLocks noChangeArrowheads="1"/>
          </p:cNvSpPr>
          <p:nvPr/>
        </p:nvSpPr>
        <p:spPr bwMode="auto">
          <a:xfrm>
            <a:off x="3352800" y="6419589"/>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a:r>
              <a:rPr lang="en-US" sz="1000" dirty="0"/>
              <a:t>July 29th, 2025</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7818CD0-D6DE-9323-1BB3-7A4A5E7155BF}"/>
              </a:ext>
            </a:extLst>
          </p:cNvPr>
          <p:cNvSpPr txBox="1"/>
          <p:nvPr/>
        </p:nvSpPr>
        <p:spPr>
          <a:xfrm>
            <a:off x="304800" y="358341"/>
            <a:ext cx="5791200" cy="584775"/>
          </a:xfrm>
          <a:prstGeom prst="rect">
            <a:avLst/>
          </a:prstGeom>
          <a:noFill/>
        </p:spPr>
        <p:txBody>
          <a:bodyPr wrap="square">
            <a:spAutoFit/>
          </a:bodyPr>
          <a:lstStyle/>
          <a:p>
            <a:pPr eaLnBrk="1" hangingPunct="1">
              <a:buClrTx/>
              <a:buFontTx/>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Research Method </a:t>
            </a:r>
          </a:p>
        </p:txBody>
      </p:sp>
      <p:sp>
        <p:nvSpPr>
          <p:cNvPr id="3" name="Text Box 3">
            <a:extLst>
              <a:ext uri="{FF2B5EF4-FFF2-40B4-BE49-F238E27FC236}">
                <a16:creationId xmlns:a16="http://schemas.microsoft.com/office/drawing/2014/main" id="{537FE4A3-AAF6-9AC2-772F-1994AE6C379C}"/>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7" name="Text Box 3">
            <a:extLst>
              <a:ext uri="{FF2B5EF4-FFF2-40B4-BE49-F238E27FC236}">
                <a16:creationId xmlns:a16="http://schemas.microsoft.com/office/drawing/2014/main" id="{BF0256B6-78AF-DA58-B516-41FC179425E4}"/>
              </a:ext>
            </a:extLst>
          </p:cNvPr>
          <p:cNvSpPr txBox="1">
            <a:spLocks noChangeArrowheads="1"/>
          </p:cNvSpPr>
          <p:nvPr/>
        </p:nvSpPr>
        <p:spPr bwMode="auto">
          <a:xfrm>
            <a:off x="60960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Slide 6</a:t>
            </a:r>
            <a:endParaRPr lang="en-CA" altLang="en-US" sz="1000" b="1" i="1" dirty="0">
              <a:latin typeface="Arial" panose="020B0604020202020204" pitchFamily="34" charset="0"/>
              <a:cs typeface="Arial Unicode MS" pitchFamily="32" charset="0"/>
            </a:endParaRPr>
          </a:p>
        </p:txBody>
      </p:sp>
      <p:sp>
        <p:nvSpPr>
          <p:cNvPr id="8" name="TextBox 7">
            <a:extLst>
              <a:ext uri="{FF2B5EF4-FFF2-40B4-BE49-F238E27FC236}">
                <a16:creationId xmlns:a16="http://schemas.microsoft.com/office/drawing/2014/main" id="{BBA8DB63-D0F7-4D41-9EFD-D399E19BC62E}"/>
              </a:ext>
            </a:extLst>
          </p:cNvPr>
          <p:cNvSpPr txBox="1"/>
          <p:nvPr/>
        </p:nvSpPr>
        <p:spPr>
          <a:xfrm>
            <a:off x="307942" y="1230195"/>
            <a:ext cx="8915400" cy="523220"/>
          </a:xfrm>
          <a:prstGeom prst="rect">
            <a:avLst/>
          </a:prstGeom>
          <a:noFill/>
        </p:spPr>
        <p:txBody>
          <a:bodyPr wrap="square">
            <a:spAutoFit/>
          </a:bodyPr>
          <a:lstStyle/>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Combines a scoping literature review and multi-criteria decision analysis (MCDA) to identify, classify, and evaluate AI logistics tools for Canada–Africa trade</a:t>
            </a:r>
            <a:endParaRPr lang="en-US" sz="13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 Box 3">
            <a:extLst>
              <a:ext uri="{FF2B5EF4-FFF2-40B4-BE49-F238E27FC236}">
                <a16:creationId xmlns:a16="http://schemas.microsoft.com/office/drawing/2014/main" id="{4A1D35A0-E8DB-4FA4-90C3-E8CA1A688A8A}"/>
              </a:ext>
            </a:extLst>
          </p:cNvPr>
          <p:cNvSpPr txBox="1">
            <a:spLocks noChangeArrowheads="1"/>
          </p:cNvSpPr>
          <p:nvPr/>
        </p:nvSpPr>
        <p:spPr bwMode="auto">
          <a:xfrm>
            <a:off x="3352800" y="6419589"/>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graphicFrame>
        <p:nvGraphicFramePr>
          <p:cNvPr id="4" name="Table 3">
            <a:extLst>
              <a:ext uri="{FF2B5EF4-FFF2-40B4-BE49-F238E27FC236}">
                <a16:creationId xmlns:a16="http://schemas.microsoft.com/office/drawing/2014/main" id="{53B6118E-1D1A-C24F-D634-7CE0781EB312}"/>
              </a:ext>
            </a:extLst>
          </p:cNvPr>
          <p:cNvGraphicFramePr>
            <a:graphicFrameLocks noGrp="1"/>
          </p:cNvGraphicFramePr>
          <p:nvPr>
            <p:extLst>
              <p:ext uri="{D42A27DB-BD31-4B8C-83A1-F6EECF244321}">
                <p14:modId xmlns:p14="http://schemas.microsoft.com/office/powerpoint/2010/main" val="3556212361"/>
              </p:ext>
            </p:extLst>
          </p:nvPr>
        </p:nvGraphicFramePr>
        <p:xfrm>
          <a:off x="152400" y="1753415"/>
          <a:ext cx="8839199" cy="4613294"/>
        </p:xfrm>
        <a:graphic>
          <a:graphicData uri="http://schemas.openxmlformats.org/drawingml/2006/table">
            <a:tbl>
              <a:tblPr firstRow="1" bandRow="1"/>
              <a:tblGrid>
                <a:gridCol w="530880">
                  <a:extLst>
                    <a:ext uri="{9D8B030D-6E8A-4147-A177-3AD203B41FA5}">
                      <a16:colId xmlns:a16="http://schemas.microsoft.com/office/drawing/2014/main" val="1105924891"/>
                    </a:ext>
                  </a:extLst>
                </a:gridCol>
                <a:gridCol w="5260209">
                  <a:extLst>
                    <a:ext uri="{9D8B030D-6E8A-4147-A177-3AD203B41FA5}">
                      <a16:colId xmlns:a16="http://schemas.microsoft.com/office/drawing/2014/main" val="2882442086"/>
                    </a:ext>
                  </a:extLst>
                </a:gridCol>
                <a:gridCol w="3048110">
                  <a:extLst>
                    <a:ext uri="{9D8B030D-6E8A-4147-A177-3AD203B41FA5}">
                      <a16:colId xmlns:a16="http://schemas.microsoft.com/office/drawing/2014/main" val="906450432"/>
                    </a:ext>
                  </a:extLst>
                </a:gridCol>
              </a:tblGrid>
              <a:tr h="243371">
                <a:tc>
                  <a:txBody>
                    <a:bodyPr/>
                    <a:lstStyle/>
                    <a:p>
                      <a:pPr>
                        <a:lnSpc>
                          <a:spcPct val="115000"/>
                        </a:lnSpc>
                        <a:spcAft>
                          <a:spcPts val="800"/>
                        </a:spcAft>
                        <a:buNone/>
                      </a:pPr>
                      <a:r>
                        <a:rPr lang="en-US" sz="1400" kern="100">
                          <a:effectLst/>
                          <a:latin typeface="Calibri" panose="020F0502020204030204" pitchFamily="34" charset="0"/>
                          <a:ea typeface="Aptos" panose="020B0004020202020204" pitchFamily="34" charset="0"/>
                          <a:cs typeface="Times New Roman" panose="02020603050405020304" pitchFamily="18" charset="0"/>
                        </a:rPr>
                        <a:t>Step</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400" kern="100">
                          <a:effectLst/>
                          <a:latin typeface="Calibri" panose="020F0502020204030204" pitchFamily="34" charset="0"/>
                          <a:ea typeface="Aptos" panose="020B0004020202020204" pitchFamily="34" charset="0"/>
                          <a:cs typeface="Times New Roman" panose="02020603050405020304" pitchFamily="18" charset="0"/>
                        </a:rPr>
                        <a:t>Activity</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400" kern="100">
                          <a:effectLst/>
                          <a:latin typeface="Calibri" panose="020F0502020204030204" pitchFamily="34" charset="0"/>
                          <a:ea typeface="Aptos" panose="020B0004020202020204" pitchFamily="34" charset="0"/>
                          <a:cs typeface="Times New Roman" panose="02020603050405020304" pitchFamily="18" charset="0"/>
                        </a:rPr>
                        <a:t>Outcome</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0316336"/>
                  </a:ext>
                </a:extLst>
              </a:tr>
              <a:tr h="611193">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1</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a:effectLst/>
                          <a:latin typeface="Calibri" panose="020F0502020204030204" pitchFamily="34" charset="0"/>
                          <a:ea typeface="Aptos" panose="020B0004020202020204" pitchFamily="34" charset="0"/>
                          <a:cs typeface="Times New Roman" panose="02020603050405020304" pitchFamily="18" charset="0"/>
                        </a:rPr>
                        <a:t>Collaborate with the client to define the review question using the PCC framework and set inclusion criteria (e.g., date range, markets, language, source types)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a:effectLst/>
                          <a:latin typeface="Calibri" panose="020F0502020204030204" pitchFamily="34" charset="0"/>
                          <a:ea typeface="Aptos" panose="020B0004020202020204" pitchFamily="34" charset="0"/>
                          <a:cs typeface="Times New Roman" panose="02020603050405020304" pitchFamily="18" charset="0"/>
                        </a:rPr>
                        <a:t>Scoping parameters and a PRISMA-ScR–compliant review protoco</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2864789"/>
                  </a:ext>
                </a:extLst>
              </a:tr>
              <a:tr h="406993">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2</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Search across academic databases, industry reports, and grey literature to identify relevant AI logistics tools.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400" kern="100">
                          <a:effectLst/>
                          <a:latin typeface="Calibri" panose="020F0502020204030204" pitchFamily="34" charset="0"/>
                          <a:ea typeface="Aptos" panose="020B0004020202020204" pitchFamily="34" charset="0"/>
                          <a:cs typeface="Times New Roman" panose="02020603050405020304" pitchFamily="18" charset="0"/>
                        </a:rPr>
                        <a:t>Literature tracker, screening log, and final list of included sources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1899749"/>
                  </a:ext>
                </a:extLst>
              </a:tr>
              <a:tr h="805502">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3</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Extract and organize data on tool functionalities, AI features, supported regions, integration options, and logistics use cases. Categorize tools by function and relevance to Canada–Africa trade</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a:effectLst/>
                          <a:latin typeface="Calibri" panose="020F0502020204030204" pitchFamily="34" charset="0"/>
                          <a:ea typeface="Aptos" panose="020B0004020202020204" pitchFamily="34" charset="0"/>
                          <a:cs typeface="Times New Roman" panose="02020603050405020304" pitchFamily="18" charset="0"/>
                        </a:rPr>
                        <a:t>Classification system and searchable tool inventory aligned with ATD’s operational needs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7276868"/>
                  </a:ext>
                </a:extLst>
              </a:tr>
              <a:tr h="805502">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4</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Define evaluation criteria (e.g., integration effort, team size suitability, cost, reporting capabilities, paperwork automation). Score tools using MCDA and visualize results with Python-based tools.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a:effectLst/>
                          <a:latin typeface="Calibri" panose="020F0502020204030204" pitchFamily="34" charset="0"/>
                          <a:ea typeface="Aptos" panose="020B0004020202020204" pitchFamily="34" charset="0"/>
                          <a:cs typeface="Times New Roman" panose="02020603050405020304" pitchFamily="18" charset="0"/>
                        </a:rPr>
                        <a:t>Evaluation matrix with tool scores, rankings, and visual summaries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771670"/>
                  </a:ext>
                </a:extLst>
              </a:tr>
              <a:tr h="611193">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5</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Identify and analyze real-world cases of AI logistics tool adoption by Canadian wholesalers in African markets. Use findings to validate and refine classification and evaluation frameworks.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a:effectLst/>
                          <a:latin typeface="Calibri" panose="020F0502020204030204" pitchFamily="34" charset="0"/>
                          <a:ea typeface="Aptos" panose="020B0004020202020204" pitchFamily="34" charset="0"/>
                          <a:cs typeface="Times New Roman" panose="02020603050405020304" pitchFamily="18" charset="0"/>
                        </a:rPr>
                        <a:t>Case study briefs and updated evaluation/classification logic based on practical insights</a:t>
                      </a:r>
                      <a:endParaRPr lang="en-CA" sz="1400" kern="10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890594"/>
                  </a:ext>
                </a:extLst>
              </a:tr>
              <a:tr h="805502">
                <a:tc>
                  <a:txBody>
                    <a:bodyPr/>
                    <a:lstStyle/>
                    <a:p>
                      <a:pPr algn="ctr">
                        <a:lnSpc>
                          <a:spcPct val="115000"/>
                        </a:lnSpc>
                        <a:spcAft>
                          <a:spcPts val="800"/>
                        </a:spcAft>
                        <a:buNone/>
                      </a:pPr>
                      <a:r>
                        <a:rPr lang="en-US" sz="1400" kern="100" dirty="0">
                          <a:effectLst/>
                          <a:latin typeface="Calibri" panose="020F0502020204030204" pitchFamily="34" charset="0"/>
                          <a:ea typeface="Aptos" panose="020B0004020202020204" pitchFamily="34" charset="0"/>
                          <a:cs typeface="Times New Roman" panose="02020603050405020304" pitchFamily="18" charset="0"/>
                        </a:rPr>
                        <a:t>6</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Create an AI-first implementation roadmap tailored to ATD, including step-by-step adoption guidance, IT support needs, ATD’s facilitation role, vendor engagement tips, and quick-start templates.</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CA" sz="1400" kern="100" dirty="0">
                          <a:effectLst/>
                          <a:latin typeface="Calibri" panose="020F0502020204030204" pitchFamily="34" charset="0"/>
                          <a:ea typeface="Aptos" panose="020B0004020202020204" pitchFamily="34" charset="0"/>
                          <a:cs typeface="Times New Roman" panose="02020603050405020304" pitchFamily="18" charset="0"/>
                        </a:rPr>
                        <a:t>Customized implementation roadmap and strategic resource kit</a:t>
                      </a:r>
                      <a:endParaRPr lang="en-CA"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739" marR="67739" marT="940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6783057"/>
                  </a:ext>
                </a:extLst>
              </a:tr>
            </a:tbl>
          </a:graphicData>
        </a:graphic>
      </p:graphicFrame>
    </p:spTree>
    <p:extLst>
      <p:ext uri="{BB962C8B-B14F-4D97-AF65-F5344CB8AC3E}">
        <p14:creationId xmlns:p14="http://schemas.microsoft.com/office/powerpoint/2010/main" val="2970484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a:extLst>
              <a:ext uri="{FF2B5EF4-FFF2-40B4-BE49-F238E27FC236}">
                <a16:creationId xmlns:a16="http://schemas.microsoft.com/office/drawing/2014/main" id="{A2E30E34-F0CA-8A11-BA33-AC5691BC660F}"/>
              </a:ext>
            </a:extLst>
          </p:cNvPr>
          <p:cNvSpPr txBox="1">
            <a:spLocks noChangeArrowheads="1"/>
          </p:cNvSpPr>
          <p:nvPr/>
        </p:nvSpPr>
        <p:spPr bwMode="auto">
          <a:xfrm>
            <a:off x="265990" y="1148802"/>
            <a:ext cx="8534401" cy="4989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Tx/>
              <a:buNone/>
            </a:pPr>
            <a:r>
              <a:rPr lang="en-US" altLang="en-US" sz="1400" b="1" dirty="0">
                <a:solidFill>
                  <a:srgbClr val="000000"/>
                </a:solidFill>
                <a:latin typeface="Calibri" panose="020F0502020204030204" pitchFamily="34" charset="0"/>
                <a:ea typeface="Calibri" panose="020F0502020204030204" pitchFamily="34" charset="0"/>
                <a:cs typeface="Calibri" panose="020F0502020204030204" pitchFamily="34" charset="0"/>
              </a:rPr>
              <a:t>Type of Data</a:t>
            </a:r>
          </a:p>
          <a:p>
            <a:pPr eaLnBrk="1" hangingPunct="1">
              <a:spcBef>
                <a:spcPts val="600"/>
              </a:spcBef>
              <a:buClrTx/>
              <a:buFont typeface="Arial" panose="020B0604020202020204" pitchFamily="34" charset="0"/>
              <a:buChar char="•"/>
            </a:pPr>
            <a:r>
              <a:rPr lang="en-US"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65 AI logistics tools extracted from 27 secondary sources (2023–2025)</a:t>
            </a:r>
          </a:p>
          <a:p>
            <a:pPr marL="7937" indent="0" eaLnBrk="1" hangingPunct="1">
              <a:spcBef>
                <a:spcPts val="600"/>
              </a:spcBef>
              <a:buClrTx/>
            </a:pPr>
            <a:endParaRPr lang="en-US"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buFontTx/>
              <a:buNone/>
            </a:pPr>
            <a:r>
              <a:rPr lang="en-CA" altLang="en-US" sz="1400" b="1" dirty="0">
                <a:solidFill>
                  <a:srgbClr val="000000"/>
                </a:solidFill>
                <a:latin typeface="Calibri" panose="020F0502020204030204" pitchFamily="34" charset="0"/>
                <a:ea typeface="Calibri" panose="020F0502020204030204" pitchFamily="34" charset="0"/>
                <a:cs typeface="Calibri" panose="020F0502020204030204" pitchFamily="34" charset="0"/>
              </a:rPr>
              <a:t>Variables Collected</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Tool name and developer</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AI features e.g., Machine Learning (ML), Natural Language Processing (NLP), Robotic Process Automation (RPA)</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Logistics function (e.g., routing, customs automation)</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Usability for SMEs (e.g., no-code, mobile-first and AI first )</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Cost and integration readiness</a:t>
            </a:r>
          </a:p>
          <a:p>
            <a:pPr eaLnBrk="1" hangingPunct="1">
              <a:spcBef>
                <a:spcPts val="600"/>
              </a:spcBef>
              <a:buClrTx/>
              <a:buFont typeface="Arial" panose="020B0604020202020204" pitchFamily="34" charset="0"/>
              <a:buChar char="•"/>
            </a:pPr>
            <a:r>
              <a:rPr lang="en-CA"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Fit for Canada–Africa trade</a:t>
            </a:r>
          </a:p>
          <a:p>
            <a:pPr eaLnBrk="1" hangingPunct="1">
              <a:spcBef>
                <a:spcPts val="600"/>
              </a:spcBef>
              <a:buClrTx/>
              <a:buFont typeface="Arial" panose="020B0604020202020204" pitchFamily="34" charset="0"/>
              <a:buChar char="•"/>
            </a:pP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Data Sources &amp; Retrieval</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Academic databases: Scopus, Web of Science, IEEE Xplore, ABI/INFORM</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Grey literature: Google Advanced Search, CB Insights, </a:t>
            </a:r>
            <a:r>
              <a:rPr lang="en-CA"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Tracxn</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Capterra</a:t>
            </a:r>
          </a:p>
          <a:p>
            <a:pPr marL="285750" indent="-285750"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Vendor websites: For emerging tools not in scholarly databases</a:t>
            </a:r>
          </a:p>
        </p:txBody>
      </p:sp>
      <p:sp>
        <p:nvSpPr>
          <p:cNvPr id="4" name="TextBox 3">
            <a:extLst>
              <a:ext uri="{FF2B5EF4-FFF2-40B4-BE49-F238E27FC236}">
                <a16:creationId xmlns:a16="http://schemas.microsoft.com/office/drawing/2014/main" id="{FFA1B527-6CFB-FE23-2DC5-398BCBB1C476}"/>
              </a:ext>
            </a:extLst>
          </p:cNvPr>
          <p:cNvSpPr txBox="1"/>
          <p:nvPr/>
        </p:nvSpPr>
        <p:spPr>
          <a:xfrm>
            <a:off x="220951" y="222744"/>
            <a:ext cx="4588328" cy="584775"/>
          </a:xfrm>
          <a:prstGeom prst="rect">
            <a:avLst/>
          </a:prstGeom>
          <a:noFill/>
        </p:spPr>
        <p:txBody>
          <a:bodyPr wrap="square">
            <a:spAutoFit/>
          </a:bodyPr>
          <a:lstStyle/>
          <a:p>
            <a:pPr eaLnBrk="1" hangingPunct="1">
              <a:buClrTx/>
              <a:buFontTx/>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Data Acquisition </a:t>
            </a:r>
          </a:p>
        </p:txBody>
      </p:sp>
      <p:sp>
        <p:nvSpPr>
          <p:cNvPr id="6" name="TextBox 5">
            <a:extLst>
              <a:ext uri="{FF2B5EF4-FFF2-40B4-BE49-F238E27FC236}">
                <a16:creationId xmlns:a16="http://schemas.microsoft.com/office/drawing/2014/main" id="{CA2A159A-61FA-25C9-82EB-6BD982D03133}"/>
              </a:ext>
            </a:extLst>
          </p:cNvPr>
          <p:cNvSpPr txBox="1"/>
          <p:nvPr/>
        </p:nvSpPr>
        <p:spPr>
          <a:xfrm>
            <a:off x="2533242" y="6577489"/>
            <a:ext cx="4589144" cy="246221"/>
          </a:xfrm>
          <a:prstGeom prst="rect">
            <a:avLst/>
          </a:prstGeom>
          <a:noFill/>
        </p:spPr>
        <p:txBody>
          <a:bodyPr wrap="square">
            <a:spAutoFit/>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47C40AE5-461F-302A-F7FD-F6FCE201EB0E}"/>
              </a:ext>
            </a:extLst>
          </p:cNvPr>
          <p:cNvSpPr>
            <a:spLocks noGrp="1"/>
          </p:cNvSpPr>
          <p:nvPr>
            <p:ph type="ftr" idx="10"/>
          </p:nvPr>
        </p:nvSpPr>
        <p:spPr>
          <a:xfrm>
            <a:off x="0" y="6396335"/>
            <a:ext cx="2286000" cy="461665"/>
          </a:xfrm>
        </p:spPr>
        <p:txBody>
          <a:bodyPr vert="horz" wrap="square" lIns="90000" tIns="182880" rIns="90000" bIns="46800" numCol="1" anchor="t" anchorCtr="0" compatLnSpc="1">
            <a:prstTxWarp prst="textNoShape">
              <a:avLst/>
            </a:prstTxWarp>
            <a:normAutofit fontScale="92500"/>
          </a:bodyPr>
          <a:lstStyle/>
          <a:p>
            <a:pPr>
              <a:spcAft>
                <a:spcPts val="600"/>
              </a:spcAft>
            </a:pPr>
            <a:r>
              <a:rPr lang="en-CA" altLang="en-US" dirty="0"/>
              <a:t>onwonaagyekum@cmail.Carleton.ca</a:t>
            </a:r>
          </a:p>
        </p:txBody>
      </p:sp>
      <p:sp>
        <p:nvSpPr>
          <p:cNvPr id="8" name="Footer Placeholder 1">
            <a:extLst>
              <a:ext uri="{FF2B5EF4-FFF2-40B4-BE49-F238E27FC236}">
                <a16:creationId xmlns:a16="http://schemas.microsoft.com/office/drawing/2014/main" id="{33925481-2CB2-726A-DE0B-F2DE0F0F10BF}"/>
              </a:ext>
            </a:extLst>
          </p:cNvPr>
          <p:cNvSpPr txBox="1">
            <a:spLocks/>
          </p:cNvSpPr>
          <p:nvPr/>
        </p:nvSpPr>
        <p:spPr bwMode="auto">
          <a:xfrm>
            <a:off x="6074228" y="6415166"/>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7</a:t>
            </a:r>
          </a:p>
        </p:txBody>
      </p:sp>
    </p:spTree>
    <p:extLst>
      <p:ext uri="{BB962C8B-B14F-4D97-AF65-F5344CB8AC3E}">
        <p14:creationId xmlns:p14="http://schemas.microsoft.com/office/powerpoint/2010/main" val="3177170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F50E23-8120-2641-3EA6-7A34836FFBCB}"/>
              </a:ext>
            </a:extLst>
          </p:cNvPr>
          <p:cNvSpPr txBox="1"/>
          <p:nvPr/>
        </p:nvSpPr>
        <p:spPr>
          <a:xfrm>
            <a:off x="257992" y="262249"/>
            <a:ext cx="5457008" cy="584775"/>
          </a:xfrm>
          <a:prstGeom prst="rect">
            <a:avLst/>
          </a:prstGeom>
          <a:noFill/>
        </p:spPr>
        <p:txBody>
          <a:bodyPr wrap="square">
            <a:spAutoFit/>
          </a:bodyPr>
          <a:lstStyle/>
          <a:p>
            <a:pPr eaLnBrk="1" hangingPunct="1">
              <a:buClrTx/>
              <a:buFontTx/>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Data Acquisition Process </a:t>
            </a:r>
          </a:p>
        </p:txBody>
      </p:sp>
      <p:sp>
        <p:nvSpPr>
          <p:cNvPr id="3" name="Text Box 3">
            <a:extLst>
              <a:ext uri="{FF2B5EF4-FFF2-40B4-BE49-F238E27FC236}">
                <a16:creationId xmlns:a16="http://schemas.microsoft.com/office/drawing/2014/main" id="{88299479-994A-896E-124E-12E7183F1232}"/>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7" name="Text Box 3">
            <a:extLst>
              <a:ext uri="{FF2B5EF4-FFF2-40B4-BE49-F238E27FC236}">
                <a16:creationId xmlns:a16="http://schemas.microsoft.com/office/drawing/2014/main" id="{72ABDFCE-26C6-C94F-92EB-8E3449A29633}"/>
              </a:ext>
            </a:extLst>
          </p:cNvPr>
          <p:cNvSpPr txBox="1">
            <a:spLocks noChangeArrowheads="1"/>
          </p:cNvSpPr>
          <p:nvPr/>
        </p:nvSpPr>
        <p:spPr bwMode="auto">
          <a:xfrm>
            <a:off x="60960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Slide 8</a:t>
            </a:r>
            <a:endParaRPr lang="en-CA" altLang="en-US" sz="1000" b="1" i="1" dirty="0">
              <a:latin typeface="Arial" panose="020B0604020202020204" pitchFamily="34" charset="0"/>
              <a:cs typeface="Arial Unicode MS" pitchFamily="32" charset="0"/>
            </a:endParaRPr>
          </a:p>
        </p:txBody>
      </p:sp>
      <p:sp>
        <p:nvSpPr>
          <p:cNvPr id="8" name="Text Box 3">
            <a:extLst>
              <a:ext uri="{FF2B5EF4-FFF2-40B4-BE49-F238E27FC236}">
                <a16:creationId xmlns:a16="http://schemas.microsoft.com/office/drawing/2014/main" id="{9A5D2407-FBD7-483F-B3E7-65C11ED8620C}"/>
              </a:ext>
            </a:extLst>
          </p:cNvPr>
          <p:cNvSpPr txBox="1">
            <a:spLocks noChangeArrowheads="1"/>
          </p:cNvSpPr>
          <p:nvPr/>
        </p:nvSpPr>
        <p:spPr bwMode="auto">
          <a:xfrm>
            <a:off x="33528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a:r>
              <a:rPr lang="en-US" sz="1000" dirty="0"/>
              <a:t>July 29th, 2025</a:t>
            </a:r>
          </a:p>
        </p:txBody>
      </p:sp>
      <p:sp>
        <p:nvSpPr>
          <p:cNvPr id="11" name="Text Box 5">
            <a:extLst>
              <a:ext uri="{FF2B5EF4-FFF2-40B4-BE49-F238E27FC236}">
                <a16:creationId xmlns:a16="http://schemas.microsoft.com/office/drawing/2014/main" id="{E4D50B9F-12A2-EA49-D948-762A0FEF3567}"/>
              </a:ext>
            </a:extLst>
          </p:cNvPr>
          <p:cNvSpPr txBox="1">
            <a:spLocks noChangeArrowheads="1"/>
          </p:cNvSpPr>
          <p:nvPr/>
        </p:nvSpPr>
        <p:spPr bwMode="auto">
          <a:xfrm>
            <a:off x="114300" y="1200834"/>
            <a:ext cx="8915400" cy="4989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 typeface="Arial" panose="020B0604020202020204" pitchFamily="34" charset="0"/>
              <a:buChar char="•"/>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Literature Search: </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Used Boolean operators across academic and grey databases, guided by the PCC framework</a:t>
            </a: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eaLnBrk="1" hangingPunct="1">
              <a:spcBef>
                <a:spcPts val="600"/>
              </a:spcBef>
              <a:buClrTx/>
              <a:buFont typeface="Arial" panose="020B0604020202020204" pitchFamily="34" charset="0"/>
              <a:buChar char="•"/>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AI-Assisted Screening: </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Used Perplexity and ChatGPT 4.o to filter documents by topic relevance.</a:t>
            </a:r>
          </a:p>
          <a:p>
            <a:pPr eaLnBrk="1" hangingPunct="1">
              <a:spcBef>
                <a:spcPts val="600"/>
              </a:spcBef>
              <a:buClrTx/>
              <a:buFont typeface="Arial" panose="020B0604020202020204" pitchFamily="34" charset="0"/>
              <a:buChar char="•"/>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Example Prompts used:</a:t>
            </a:r>
          </a:p>
          <a:p>
            <a:pPr marL="7937" indent="0" eaLnBrk="1" hangingPunct="1">
              <a:spcBef>
                <a:spcPts val="600"/>
              </a:spcBef>
              <a:buClrTx/>
            </a:pPr>
            <a:endPar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eaLnBrk="1" hangingPunct="1">
              <a:spcBef>
                <a:spcPts val="600"/>
              </a:spcBef>
              <a:buClrTx/>
              <a:buFont typeface="Courier New" panose="02070309020205020404" pitchFamily="49" charset="0"/>
              <a:buChar char="o"/>
            </a:pP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Does this article discuss AI-driven logistics tools suitable for Canada–Africa trade?</a:t>
            </a:r>
          </a:p>
          <a:p>
            <a:pPr lvl="1" eaLnBrk="1" hangingPunct="1">
              <a:spcBef>
                <a:spcPts val="600"/>
              </a:spcBef>
              <a:buClrTx/>
              <a:buFont typeface="Courier New" panose="02070309020205020404" pitchFamily="49" charset="0"/>
              <a:buChar char="o"/>
            </a:pP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What logistics functions does this AI tool support (e.g., customs, routing, tracking)?</a:t>
            </a:r>
          </a:p>
          <a:p>
            <a:pPr marL="457200" lvl="1" indent="0" eaLnBrk="1" hangingPunct="1">
              <a:spcBef>
                <a:spcPts val="600"/>
              </a:spcBef>
              <a:buClrTx/>
            </a:pPr>
            <a:endPar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buFont typeface="Arial" panose="020B0604020202020204" pitchFamily="34" charset="0"/>
              <a:buChar char="•"/>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Manual Validation: </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Reviewed each document against inclusion and exclusion criteria to confirm fit with ATD’s operational context.</a:t>
            </a:r>
          </a:p>
          <a:p>
            <a:pPr eaLnBrk="1" hangingPunct="1">
              <a:spcBef>
                <a:spcPts val="600"/>
              </a:spcBef>
              <a:buClrTx/>
              <a:buFont typeface="Arial" panose="020B0604020202020204" pitchFamily="34" charset="0"/>
              <a:buChar char="•"/>
            </a:pPr>
            <a:endPar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Bias Check</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All AI-assisted outputs were manually reviewed to minimize screening bias and ensure relevance.</a:t>
            </a:r>
          </a:p>
          <a:p>
            <a:pPr marL="7937" indent="0"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endPar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buFont typeface="Arial" panose="020B0604020202020204" pitchFamily="34" charset="0"/>
              <a:buChar char="•"/>
            </a:pP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Data Extraction: </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Used a structured template</a:t>
            </a:r>
            <a:r>
              <a:rPr lang="en-US" alt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 to collect t</a:t>
            </a:r>
            <a:r>
              <a:rPr lang="en-US" alt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ool name, AI capabilities, logistics function, SME usability, cost indicators, and regional relevance.</a:t>
            </a:r>
            <a:endParaRPr lang="en-CA"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6981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3C19745-3EAF-74EC-1115-E17F0B3F4762}"/>
              </a:ext>
            </a:extLst>
          </p:cNvPr>
          <p:cNvSpPr txBox="1"/>
          <p:nvPr/>
        </p:nvSpPr>
        <p:spPr>
          <a:xfrm>
            <a:off x="304800" y="343878"/>
            <a:ext cx="4588328" cy="584775"/>
          </a:xfrm>
          <a:prstGeom prst="rect">
            <a:avLst/>
          </a:prstGeom>
          <a:noFill/>
        </p:spPr>
        <p:txBody>
          <a:bodyPr wrap="square">
            <a:spAutoFit/>
          </a:bodyPr>
          <a:lstStyle/>
          <a:p>
            <a:pPr eaLnBrk="1" hangingPunct="1">
              <a:buClrTx/>
              <a:buFontTx/>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Data Analysis</a:t>
            </a:r>
          </a:p>
        </p:txBody>
      </p:sp>
      <p:sp>
        <p:nvSpPr>
          <p:cNvPr id="5" name="Text Box 3">
            <a:extLst>
              <a:ext uri="{FF2B5EF4-FFF2-40B4-BE49-F238E27FC236}">
                <a16:creationId xmlns:a16="http://schemas.microsoft.com/office/drawing/2014/main" id="{CBEF6D33-14F0-2C5E-20FE-B70CE3E975C1}"/>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8" name="Text Box 3">
            <a:extLst>
              <a:ext uri="{FF2B5EF4-FFF2-40B4-BE49-F238E27FC236}">
                <a16:creationId xmlns:a16="http://schemas.microsoft.com/office/drawing/2014/main" id="{88C259B5-531E-3D88-E8FE-7662612FBBB7}"/>
              </a:ext>
            </a:extLst>
          </p:cNvPr>
          <p:cNvSpPr txBox="1">
            <a:spLocks noChangeArrowheads="1"/>
          </p:cNvSpPr>
          <p:nvPr/>
        </p:nvSpPr>
        <p:spPr bwMode="auto">
          <a:xfrm>
            <a:off x="6096000" y="642241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Slide 9</a:t>
            </a:r>
            <a:endParaRPr lang="en-CA" altLang="en-US" sz="1000" b="1" i="1" dirty="0">
              <a:latin typeface="Arial" panose="020B0604020202020204" pitchFamily="34" charset="0"/>
              <a:cs typeface="Arial Unicode MS" pitchFamily="32" charset="0"/>
            </a:endParaRPr>
          </a:p>
        </p:txBody>
      </p:sp>
      <p:sp>
        <p:nvSpPr>
          <p:cNvPr id="2" name="TextBox 1">
            <a:extLst>
              <a:ext uri="{FF2B5EF4-FFF2-40B4-BE49-F238E27FC236}">
                <a16:creationId xmlns:a16="http://schemas.microsoft.com/office/drawing/2014/main" id="{55F2210C-EE7A-72BD-CE20-49D7808E0FE8}"/>
              </a:ext>
            </a:extLst>
          </p:cNvPr>
          <p:cNvSpPr txBox="1"/>
          <p:nvPr/>
        </p:nvSpPr>
        <p:spPr>
          <a:xfrm>
            <a:off x="304800" y="1295400"/>
            <a:ext cx="8381910" cy="276999"/>
          </a:xfrm>
          <a:prstGeom prst="rect">
            <a:avLst/>
          </a:prstGeom>
          <a:noFill/>
        </p:spPr>
        <p:txBody>
          <a:bodyPr wrap="square">
            <a:spAutoFit/>
          </a:bodyPr>
          <a:lstStyle/>
          <a:p>
            <a:endParaRPr lang="en-US" sz="1200" dirty="0">
              <a:solidFill>
                <a:schemeClr val="tx1"/>
              </a:solidFill>
            </a:endParaRPr>
          </a:p>
        </p:txBody>
      </p:sp>
      <p:sp>
        <p:nvSpPr>
          <p:cNvPr id="9" name="Text Box 3">
            <a:extLst>
              <a:ext uri="{FF2B5EF4-FFF2-40B4-BE49-F238E27FC236}">
                <a16:creationId xmlns:a16="http://schemas.microsoft.com/office/drawing/2014/main" id="{41F091AB-101B-46AE-BCE2-F536A8695472}"/>
              </a:ext>
            </a:extLst>
          </p:cNvPr>
          <p:cNvSpPr txBox="1">
            <a:spLocks noChangeArrowheads="1"/>
          </p:cNvSpPr>
          <p:nvPr/>
        </p:nvSpPr>
        <p:spPr bwMode="auto">
          <a:xfrm>
            <a:off x="3352800" y="6419589"/>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a:r>
              <a:rPr lang="en-US" sz="1000" dirty="0"/>
              <a:t>July 15th, 2025</a:t>
            </a:r>
          </a:p>
        </p:txBody>
      </p:sp>
      <p:sp>
        <p:nvSpPr>
          <p:cNvPr id="4" name="Text Box 5">
            <a:extLst>
              <a:ext uri="{FF2B5EF4-FFF2-40B4-BE49-F238E27FC236}">
                <a16:creationId xmlns:a16="http://schemas.microsoft.com/office/drawing/2014/main" id="{B126593C-1557-945A-D82C-E2EFA95744FF}"/>
              </a:ext>
            </a:extLst>
          </p:cNvPr>
          <p:cNvSpPr txBox="1">
            <a:spLocks noChangeArrowheads="1"/>
          </p:cNvSpPr>
          <p:nvPr/>
        </p:nvSpPr>
        <p:spPr bwMode="auto">
          <a:xfrm>
            <a:off x="-3132" y="1039865"/>
            <a:ext cx="9223332" cy="5350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marL="358775" eaLnBrk="1" hangingPunct="1">
              <a:spcBef>
                <a:spcPts val="600"/>
              </a:spcBef>
              <a:buClrTx/>
              <a:buFontTx/>
              <a:buNone/>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rgbClr val="000000"/>
                </a:solidFill>
                <a:cs typeface="Times New Roman" panose="02020603050405020304" pitchFamily="18" charset="0"/>
              </a:rPr>
              <a:t>    </a:t>
            </a:r>
          </a:p>
          <a:p>
            <a:pPr marL="358775" eaLnBrk="1" hangingPunct="1">
              <a:spcBef>
                <a:spcPts val="600"/>
              </a:spcBef>
              <a:buClrTx/>
              <a:buFontTx/>
              <a:buNone/>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        Used a Python-powered, 8-step analysis to transform data on 65 logistics tools extracted from 27 validated sources into actionable insights. The process combined thematic tagging, tool classification, MCDA scoring, and real-world validation this  produced a tool evaluation matrix and strategic roadmap tailored to ATD’s needs.</a:t>
            </a:r>
          </a:p>
        </p:txBody>
      </p:sp>
      <p:pic>
        <p:nvPicPr>
          <p:cNvPr id="16" name="Picture 15" descr="A screenshot of a graph&#10;&#10;AI-generated content may be incorrect.">
            <a:extLst>
              <a:ext uri="{FF2B5EF4-FFF2-40B4-BE49-F238E27FC236}">
                <a16:creationId xmlns:a16="http://schemas.microsoft.com/office/drawing/2014/main" id="{A89FBE77-DEC9-FE50-66D7-986D3751D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679" y="2162382"/>
            <a:ext cx="8687844" cy="4315386"/>
          </a:xfrm>
          <a:prstGeom prst="rect">
            <a:avLst/>
          </a:prstGeom>
        </p:spPr>
      </p:pic>
    </p:spTree>
    <p:extLst>
      <p:ext uri="{BB962C8B-B14F-4D97-AF65-F5344CB8AC3E}">
        <p14:creationId xmlns:p14="http://schemas.microsoft.com/office/powerpoint/2010/main" val="16627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F939C-AF6D-656F-0FE2-47E6038E75C9}"/>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35337C00-9FD0-EF01-3539-FA627C9E9F05}"/>
              </a:ext>
            </a:extLst>
          </p:cNvPr>
          <p:cNvSpPr txBox="1">
            <a:spLocks noChangeArrowheads="1"/>
          </p:cNvSpPr>
          <p:nvPr/>
        </p:nvSpPr>
        <p:spPr bwMode="auto">
          <a:xfrm>
            <a:off x="76200" y="11112"/>
            <a:ext cx="6781800"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1. PRISMA-</a:t>
            </a:r>
            <a:r>
              <a:rPr lang="en-US" altLang="en-US" sz="3200" b="1" dirty="0" err="1">
                <a:solidFill>
                  <a:srgbClr val="000000"/>
                </a:solidFill>
                <a:latin typeface="Calibri" panose="020F0502020204030204" pitchFamily="34" charset="0"/>
                <a:ea typeface="Calibri" panose="020F0502020204030204" pitchFamily="34" charset="0"/>
                <a:cs typeface="Calibri" panose="020F0502020204030204" pitchFamily="34" charset="0"/>
              </a:rPr>
              <a:t>ScR</a:t>
            </a: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 Compliant Scoping Review of AI Logistics Tools</a:t>
            </a:r>
          </a:p>
        </p:txBody>
      </p:sp>
      <p:sp>
        <p:nvSpPr>
          <p:cNvPr id="2" name="Footer Placeholder 1">
            <a:extLst>
              <a:ext uri="{FF2B5EF4-FFF2-40B4-BE49-F238E27FC236}">
                <a16:creationId xmlns:a16="http://schemas.microsoft.com/office/drawing/2014/main" id="{2736B900-9648-CF19-5E40-540141C750B4}"/>
              </a:ext>
            </a:extLst>
          </p:cNvPr>
          <p:cNvSpPr>
            <a:spLocks noGrp="1"/>
          </p:cNvSpPr>
          <p:nvPr>
            <p:ph type="ftr" idx="10"/>
          </p:nvPr>
        </p:nvSpPr>
        <p:spPr>
          <a:xfrm>
            <a:off x="3810000" y="6400800"/>
            <a:ext cx="1741488" cy="446088"/>
          </a:xfrm>
        </p:spPr>
        <p:txBody>
          <a:bodyPr vert="horz" wrap="square" lIns="90000" tIns="182880" rIns="90000" bIns="46800" numCol="1" anchor="t" anchorCtr="0" compatLnSpc="1">
            <a:prstTxWarp prst="textNoShape">
              <a:avLst/>
            </a:prstTxWarp>
            <a:normAutofit lnSpcReduction="10000"/>
          </a:bodyPr>
          <a:lstStyle/>
          <a:p>
            <a:pPr>
              <a:spcAft>
                <a:spcPts val="600"/>
              </a:spcAft>
            </a:pPr>
            <a:r>
              <a:rPr lang="en-US" b="0" dirty="0">
                <a:latin typeface="Calibri" panose="020F0502020204030204" pitchFamily="34" charset="0"/>
                <a:ea typeface="Calibri" panose="020F0502020204030204" pitchFamily="34" charset="0"/>
                <a:cs typeface="Calibri" panose="020F0502020204030204" pitchFamily="34" charset="0"/>
              </a:rPr>
              <a:t>July 29th, 2025</a:t>
            </a:r>
          </a:p>
          <a:p>
            <a:pPr>
              <a:spcAft>
                <a:spcPts val="600"/>
              </a:spcAft>
            </a:pPr>
            <a:endParaRPr lang="en-CA" altLang="en-US" dirty="0"/>
          </a:p>
        </p:txBody>
      </p:sp>
      <p:sp>
        <p:nvSpPr>
          <p:cNvPr id="5" name="Text Box 5">
            <a:extLst>
              <a:ext uri="{FF2B5EF4-FFF2-40B4-BE49-F238E27FC236}">
                <a16:creationId xmlns:a16="http://schemas.microsoft.com/office/drawing/2014/main" id="{8E658A28-F04E-4CD6-27A6-6F732CA5030E}"/>
              </a:ext>
            </a:extLst>
          </p:cNvPr>
          <p:cNvSpPr txBox="1">
            <a:spLocks noChangeArrowheads="1"/>
          </p:cNvSpPr>
          <p:nvPr/>
        </p:nvSpPr>
        <p:spPr bwMode="auto">
          <a:xfrm>
            <a:off x="145809" y="1193034"/>
            <a:ext cx="8534401" cy="516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marL="112713" indent="0" eaLnBrk="1" hangingPunct="1">
              <a:spcBef>
                <a:spcPts val="600"/>
              </a:spcBef>
              <a:buClrTx/>
              <a:buFontTx/>
              <a:buNone/>
              <a:tabLst>
                <a:tab pos="0" algn="l"/>
                <a:tab pos="60325" algn="l"/>
                <a:tab pos="1027113"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66 articles were identified; after removing 6 duplicates and screening titles and abstracts, 27 full-text articles met the inclusion criteria and were included in the final scoping review. 		</a:t>
            </a:r>
            <a:r>
              <a:rPr lang="en-US" altLang="en-US" sz="1400" dirty="0">
                <a:solidFill>
                  <a:schemeClr val="tx1"/>
                </a:solidFill>
                <a:cs typeface="Times New Roman" panose="02020603050405020304" pitchFamily="18" charset="0"/>
              </a:rPr>
              <a:t>																																																				</a:t>
            </a:r>
          </a:p>
          <a:p>
            <a:pPr algn="ctr" eaLnBrk="1" hangingPunct="1">
              <a:spcBef>
                <a:spcPts val="600"/>
              </a:spcBef>
              <a:buClrTx/>
              <a:buFontTx/>
              <a:buNone/>
            </a:pPr>
            <a:r>
              <a:rPr lang="en-CA" altLang="en-US" sz="1400" dirty="0">
                <a:solidFill>
                  <a:schemeClr val="tx1"/>
                </a:solidFill>
                <a:cs typeface="Times New Roman" panose="02020603050405020304" pitchFamily="18" charset="0"/>
              </a:rPr>
              <a:t>																																																																																																																																																																																																																			</a:t>
            </a:r>
            <a:endParaRPr lang="en-CA" altLang="en-US" sz="1400" b="1" dirty="0">
              <a:solidFill>
                <a:schemeClr val="tx1"/>
              </a:solidFill>
              <a:cs typeface="Times New Roman" panose="02020603050405020304" pitchFamily="18" charset="0"/>
            </a:endParaRPr>
          </a:p>
        </p:txBody>
      </p:sp>
      <p:graphicFrame>
        <p:nvGraphicFramePr>
          <p:cNvPr id="7" name="Table 6">
            <a:extLst>
              <a:ext uri="{FF2B5EF4-FFF2-40B4-BE49-F238E27FC236}">
                <a16:creationId xmlns:a16="http://schemas.microsoft.com/office/drawing/2014/main" id="{76450D48-857D-6274-7C2A-1A540970B763}"/>
              </a:ext>
            </a:extLst>
          </p:cNvPr>
          <p:cNvGraphicFramePr>
            <a:graphicFrameLocks noGrp="1"/>
          </p:cNvGraphicFramePr>
          <p:nvPr>
            <p:extLst>
              <p:ext uri="{D42A27DB-BD31-4B8C-83A1-F6EECF244321}">
                <p14:modId xmlns:p14="http://schemas.microsoft.com/office/powerpoint/2010/main" val="3171407889"/>
              </p:ext>
            </p:extLst>
          </p:nvPr>
        </p:nvGraphicFramePr>
        <p:xfrm>
          <a:off x="304803" y="1931486"/>
          <a:ext cx="8686797" cy="4432149"/>
        </p:xfrm>
        <a:graphic>
          <a:graphicData uri="http://schemas.openxmlformats.org/drawingml/2006/table">
            <a:tbl>
              <a:tblPr firstRow="1" firstCol="1" bandRow="1"/>
              <a:tblGrid>
                <a:gridCol w="2895599">
                  <a:extLst>
                    <a:ext uri="{9D8B030D-6E8A-4147-A177-3AD203B41FA5}">
                      <a16:colId xmlns:a16="http://schemas.microsoft.com/office/drawing/2014/main" val="766202036"/>
                    </a:ext>
                  </a:extLst>
                </a:gridCol>
                <a:gridCol w="2895599">
                  <a:extLst>
                    <a:ext uri="{9D8B030D-6E8A-4147-A177-3AD203B41FA5}">
                      <a16:colId xmlns:a16="http://schemas.microsoft.com/office/drawing/2014/main" val="1616873394"/>
                    </a:ext>
                  </a:extLst>
                </a:gridCol>
                <a:gridCol w="2895599">
                  <a:extLst>
                    <a:ext uri="{9D8B030D-6E8A-4147-A177-3AD203B41FA5}">
                      <a16:colId xmlns:a16="http://schemas.microsoft.com/office/drawing/2014/main" val="3020040831"/>
                    </a:ext>
                  </a:extLst>
                </a:gridCol>
              </a:tblGrid>
              <a:tr h="197223">
                <a:tc>
                  <a:txBody>
                    <a:bodyPr/>
                    <a:lstStyle/>
                    <a:p>
                      <a:pPr>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Stage</a:t>
                      </a:r>
                      <a:endParaRPr lang="en-CA"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noFill/>
                  </a:tcPr>
                </a:tc>
                <a:tc>
                  <a:txBody>
                    <a:bodyPr/>
                    <a:lstStyle/>
                    <a:p>
                      <a:pPr algn="ctr">
                        <a:buNone/>
                      </a:pPr>
                      <a:r>
                        <a:rPr lang="en-US" sz="1800" b="1" dirty="0">
                          <a:effectLst/>
                          <a:latin typeface="Calibri" panose="020F0502020204030204" pitchFamily="34" charset="0"/>
                          <a:ea typeface="Calibri" panose="020F0502020204030204" pitchFamily="34" charset="0"/>
                          <a:cs typeface="Calibri" panose="020F0502020204030204" pitchFamily="34" charset="0"/>
                        </a:rPr>
                        <a:t>Count</a:t>
                      </a:r>
                      <a:endParaRPr lang="en-CA"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noFill/>
                  </a:tcPr>
                </a:tc>
                <a:tc>
                  <a:txBody>
                    <a:bodyPr/>
                    <a:lstStyle/>
                    <a:p>
                      <a:pPr>
                        <a:buNone/>
                      </a:pPr>
                      <a:r>
                        <a:rPr lang="en-US" sz="1800" b="1" dirty="0">
                          <a:effectLst/>
                          <a:latin typeface="Calibri" panose="020F0502020204030204" pitchFamily="34" charset="0"/>
                          <a:ea typeface="Calibri" panose="020F0502020204030204" pitchFamily="34" charset="0"/>
                          <a:cs typeface="Calibri" panose="020F0502020204030204" pitchFamily="34" charset="0"/>
                        </a:rPr>
                        <a:t>Description</a:t>
                      </a:r>
                      <a:endParaRPr lang="en-CA" sz="18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noFill/>
                  </a:tcPr>
                </a:tc>
                <a:extLst>
                  <a:ext uri="{0D108BD9-81ED-4DB2-BD59-A6C34878D82A}">
                    <a16:rowId xmlns:a16="http://schemas.microsoft.com/office/drawing/2014/main" val="455320513"/>
                  </a:ext>
                </a:extLst>
              </a:tr>
              <a:tr h="394447">
                <a:tc>
                  <a:txBody>
                    <a:bodyPr/>
                    <a:lstStyle/>
                    <a:p>
                      <a:pP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Records identified from academic databases</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gn="ct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45</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Scopus, Web of Science, IEEE Xplore, ABI/INFORM</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extLst>
                  <a:ext uri="{0D108BD9-81ED-4DB2-BD59-A6C34878D82A}">
                    <a16:rowId xmlns:a16="http://schemas.microsoft.com/office/drawing/2014/main" val="2604452970"/>
                  </a:ext>
                </a:extLst>
              </a:tr>
              <a:tr h="394447">
                <a:tc>
                  <a:txBody>
                    <a:bodyPr/>
                    <a:lstStyle/>
                    <a:p>
                      <a:pPr>
                        <a:buNone/>
                      </a:pPr>
                      <a:r>
                        <a:rPr lang="en-US" sz="1800" dirty="0">
                          <a:effectLst/>
                          <a:latin typeface="Calibri" panose="020F0502020204030204" pitchFamily="34" charset="0"/>
                          <a:ea typeface="Calibri" panose="020F0502020204030204" pitchFamily="34" charset="0"/>
                          <a:cs typeface="Calibri" panose="020F0502020204030204" pitchFamily="34" charset="0"/>
                        </a:rPr>
                        <a:t>Records identified from grey literature sources</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lgn="ctr">
                        <a:buNone/>
                      </a:pPr>
                      <a:r>
                        <a:rPr lang="en-US" sz="1800" dirty="0">
                          <a:effectLst/>
                          <a:latin typeface="Calibri" panose="020F0502020204030204" pitchFamily="34" charset="0"/>
                          <a:ea typeface="Calibri" panose="020F0502020204030204" pitchFamily="34" charset="0"/>
                          <a:cs typeface="Calibri" panose="020F0502020204030204" pitchFamily="34" charset="0"/>
                        </a:rPr>
                        <a:t>21</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buNone/>
                      </a:pPr>
                      <a:r>
                        <a:rPr lang="en-US" sz="1800">
                          <a:effectLst/>
                          <a:latin typeface="Calibri" panose="020F0502020204030204" pitchFamily="34" charset="0"/>
                          <a:ea typeface="Calibri" panose="020F0502020204030204" pitchFamily="34" charset="0"/>
                          <a:cs typeface="Calibri" panose="020F0502020204030204" pitchFamily="34" charset="0"/>
                        </a:rPr>
                        <a:t>McKinsey, World Bank, DHL, vendor pages, etc.</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extLst>
                  <a:ext uri="{0D108BD9-81ED-4DB2-BD59-A6C34878D82A}">
                    <a16:rowId xmlns:a16="http://schemas.microsoft.com/office/drawing/2014/main" val="30503294"/>
                  </a:ext>
                </a:extLst>
              </a:tr>
              <a:tr h="394447">
                <a:tc>
                  <a:txBody>
                    <a:bodyPr/>
                    <a:lstStyle/>
                    <a:p>
                      <a:pPr>
                        <a:buNone/>
                      </a:pPr>
                      <a:r>
                        <a:rPr lang="en-US"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Duplicates removed before screening</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gn="ct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6</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buNone/>
                      </a:pPr>
                      <a:r>
                        <a:rPr lang="en-US"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Identified using AI script</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extLst>
                  <a:ext uri="{0D108BD9-81ED-4DB2-BD59-A6C34878D82A}">
                    <a16:rowId xmlns:a16="http://schemas.microsoft.com/office/drawing/2014/main" val="3162635601"/>
                  </a:ext>
                </a:extLst>
              </a:tr>
              <a:tr h="591669">
                <a:tc>
                  <a:txBody>
                    <a:bodyPr/>
                    <a:lstStyle/>
                    <a:p>
                      <a:pPr>
                        <a:buNone/>
                      </a:pPr>
                      <a:r>
                        <a:rPr lang="en-US" sz="1800">
                          <a:effectLst/>
                          <a:latin typeface="Calibri" panose="020F0502020204030204" pitchFamily="34" charset="0"/>
                          <a:ea typeface="Calibri" panose="020F0502020204030204" pitchFamily="34" charset="0"/>
                          <a:cs typeface="Calibri" panose="020F0502020204030204" pitchFamily="34" charset="0"/>
                        </a:rPr>
                        <a:t>Records screened (title/abstract)</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lgn="ctr">
                        <a:buNone/>
                      </a:pPr>
                      <a:r>
                        <a:rPr lang="en-US" sz="1800" dirty="0">
                          <a:effectLst/>
                          <a:latin typeface="Calibri" panose="020F0502020204030204" pitchFamily="34" charset="0"/>
                          <a:ea typeface="Calibri" panose="020F0502020204030204" pitchFamily="34" charset="0"/>
                          <a:cs typeface="Calibri" panose="020F0502020204030204" pitchFamily="34" charset="0"/>
                        </a:rPr>
                        <a:t>60</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buNone/>
                      </a:pPr>
                      <a:r>
                        <a:rPr lang="en-US" sz="1800">
                          <a:effectLst/>
                          <a:latin typeface="Calibri" panose="020F0502020204030204" pitchFamily="34" charset="0"/>
                          <a:ea typeface="Calibri" panose="020F0502020204030204" pitchFamily="34" charset="0"/>
                          <a:cs typeface="Calibri" panose="020F0502020204030204" pitchFamily="34" charset="0"/>
                        </a:rPr>
                        <a:t>Screened using inclusion/exclusion criteria</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extLst>
                  <a:ext uri="{0D108BD9-81ED-4DB2-BD59-A6C34878D82A}">
                    <a16:rowId xmlns:a16="http://schemas.microsoft.com/office/drawing/2014/main" val="2220342160"/>
                  </a:ext>
                </a:extLst>
              </a:tr>
              <a:tr h="394447">
                <a:tc>
                  <a:txBody>
                    <a:bodyPr/>
                    <a:lstStyle/>
                    <a:p>
                      <a:pPr>
                        <a:buNone/>
                      </a:pPr>
                      <a:r>
                        <a:rPr lang="en-US"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Records excluded at screening</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gn="ct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33</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buNone/>
                      </a:pPr>
                      <a:r>
                        <a:rPr lang="en-US"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Lacked AI/logistics/Cross-border trade alignment</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extLst>
                  <a:ext uri="{0D108BD9-81ED-4DB2-BD59-A6C34878D82A}">
                    <a16:rowId xmlns:a16="http://schemas.microsoft.com/office/drawing/2014/main" val="3309410636"/>
                  </a:ext>
                </a:extLst>
              </a:tr>
              <a:tr h="394447">
                <a:tc>
                  <a:txBody>
                    <a:bodyPr/>
                    <a:lstStyle/>
                    <a:p>
                      <a:pPr>
                        <a:buNone/>
                      </a:pPr>
                      <a:r>
                        <a:rPr lang="en-US" sz="1800">
                          <a:effectLst/>
                          <a:latin typeface="Calibri" panose="020F0502020204030204" pitchFamily="34" charset="0"/>
                          <a:ea typeface="Calibri" panose="020F0502020204030204" pitchFamily="34" charset="0"/>
                          <a:cs typeface="Calibri" panose="020F0502020204030204" pitchFamily="34" charset="0"/>
                        </a:rPr>
                        <a:t>Full-text articles assessed</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lgn="ctr">
                        <a:buNone/>
                      </a:pPr>
                      <a:r>
                        <a:rPr lang="en-US" sz="1800" dirty="0">
                          <a:effectLst/>
                          <a:latin typeface="Calibri" panose="020F0502020204030204" pitchFamily="34" charset="0"/>
                          <a:ea typeface="Calibri" panose="020F0502020204030204" pitchFamily="34" charset="0"/>
                          <a:cs typeface="Calibri" panose="020F0502020204030204" pitchFamily="34" charset="0"/>
                        </a:rPr>
                        <a:t>27</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buNone/>
                      </a:pPr>
                      <a:r>
                        <a:rPr lang="en-US" sz="1800">
                          <a:effectLst/>
                          <a:latin typeface="Calibri" panose="020F0502020204030204" pitchFamily="34" charset="0"/>
                          <a:ea typeface="Calibri" panose="020F0502020204030204" pitchFamily="34" charset="0"/>
                          <a:cs typeface="Calibri" panose="020F0502020204030204" pitchFamily="34" charset="0"/>
                        </a:rPr>
                        <a:t>All passed availability and relevance checks</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extLst>
                  <a:ext uri="{0D108BD9-81ED-4DB2-BD59-A6C34878D82A}">
                    <a16:rowId xmlns:a16="http://schemas.microsoft.com/office/drawing/2014/main" val="2295889805"/>
                  </a:ext>
                </a:extLst>
              </a:tr>
              <a:tr h="197223">
                <a:tc>
                  <a:txBody>
                    <a:bodyPr/>
                    <a:lstStyle/>
                    <a:p>
                      <a:pPr>
                        <a:buNone/>
                      </a:pPr>
                      <a:r>
                        <a:rPr lang="en-US"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Full-text articles excluded</a:t>
                      </a:r>
                      <a:endParaRPr lang="en-CA"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gn="ct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extLst>
                  <a:ext uri="{0D108BD9-81ED-4DB2-BD59-A6C34878D82A}">
                    <a16:rowId xmlns:a16="http://schemas.microsoft.com/office/drawing/2014/main" val="2833606682"/>
                  </a:ext>
                </a:extLst>
              </a:tr>
              <a:tr h="394447">
                <a:tc>
                  <a:txBody>
                    <a:bodyPr/>
                    <a:lstStyle/>
                    <a:p>
                      <a:pPr>
                        <a:buNone/>
                      </a:pPr>
                      <a:r>
                        <a:rPr lang="en-US" sz="1800" dirty="0">
                          <a:effectLst/>
                          <a:latin typeface="Calibri" panose="020F0502020204030204" pitchFamily="34" charset="0"/>
                          <a:ea typeface="Calibri" panose="020F0502020204030204" pitchFamily="34" charset="0"/>
                          <a:cs typeface="Calibri" panose="020F0502020204030204" pitchFamily="34" charset="0"/>
                        </a:rPr>
                        <a:t>Studies included in review</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lgn="ctr">
                        <a:buNone/>
                      </a:pPr>
                      <a:r>
                        <a:rPr lang="en-US" sz="1800" dirty="0">
                          <a:effectLst/>
                          <a:latin typeface="Calibri" panose="020F0502020204030204" pitchFamily="34" charset="0"/>
                          <a:ea typeface="Calibri" panose="020F0502020204030204" pitchFamily="34" charset="0"/>
                          <a:cs typeface="Calibri" panose="020F0502020204030204" pitchFamily="34" charset="0"/>
                        </a:rPr>
                        <a:t>27</a:t>
                      </a:r>
                    </a:p>
                    <a:p>
                      <a:pPr algn="ctr">
                        <a:buNone/>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tc>
                  <a:txBody>
                    <a:bodyPr/>
                    <a:lstStyle/>
                    <a:p>
                      <a:pPr>
                        <a:buNone/>
                      </a:pPr>
                      <a:r>
                        <a:rPr lang="en-US" sz="1800" dirty="0">
                          <a:effectLst/>
                          <a:latin typeface="Calibri" panose="020F0502020204030204" pitchFamily="34" charset="0"/>
                          <a:ea typeface="Calibri" panose="020F0502020204030204" pitchFamily="34" charset="0"/>
                          <a:cs typeface="Calibri" panose="020F0502020204030204" pitchFamily="34" charset="0"/>
                        </a:rPr>
                        <a:t>Final articles used for data extraction</a:t>
                      </a:r>
                      <a:endParaRPr lang="en-CA"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noFill/>
                  </a:tcPr>
                </a:tc>
                <a:extLst>
                  <a:ext uri="{0D108BD9-81ED-4DB2-BD59-A6C34878D82A}">
                    <a16:rowId xmlns:a16="http://schemas.microsoft.com/office/drawing/2014/main" val="4196197046"/>
                  </a:ext>
                </a:extLst>
              </a:tr>
            </a:tbl>
          </a:graphicData>
        </a:graphic>
      </p:graphicFrame>
      <p:sp>
        <p:nvSpPr>
          <p:cNvPr id="6" name="TextBox 5">
            <a:extLst>
              <a:ext uri="{FF2B5EF4-FFF2-40B4-BE49-F238E27FC236}">
                <a16:creationId xmlns:a16="http://schemas.microsoft.com/office/drawing/2014/main" id="{7E5FB3E1-2B4C-9F66-8393-F9116DC3495D}"/>
              </a:ext>
            </a:extLst>
          </p:cNvPr>
          <p:cNvSpPr txBox="1"/>
          <p:nvPr/>
        </p:nvSpPr>
        <p:spPr>
          <a:xfrm>
            <a:off x="6934200" y="6585427"/>
            <a:ext cx="4589144" cy="246221"/>
          </a:xfrm>
          <a:prstGeom prst="rect">
            <a:avLst/>
          </a:prstGeom>
          <a:noFill/>
        </p:spPr>
        <p:txBody>
          <a:bodyPr wrap="square">
            <a:spAutoFit/>
          </a:bodyPr>
          <a:lstStyle/>
          <a:p>
            <a:r>
              <a:rPr lang="en-US" sz="1000" b="1" i="1" dirty="0"/>
              <a:t>Slide 10</a:t>
            </a:r>
          </a:p>
        </p:txBody>
      </p:sp>
      <p:sp>
        <p:nvSpPr>
          <p:cNvPr id="8" name="Footer Placeholder 1">
            <a:extLst>
              <a:ext uri="{FF2B5EF4-FFF2-40B4-BE49-F238E27FC236}">
                <a16:creationId xmlns:a16="http://schemas.microsoft.com/office/drawing/2014/main" id="{1A535A17-4E1C-FCE1-9468-A1833DAF6B45}"/>
              </a:ext>
            </a:extLst>
          </p:cNvPr>
          <p:cNvSpPr txBox="1">
            <a:spLocks/>
          </p:cNvSpPr>
          <p:nvPr/>
        </p:nvSpPr>
        <p:spPr bwMode="auto">
          <a:xfrm>
            <a:off x="411478" y="6411912"/>
            <a:ext cx="2636521" cy="4349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US" dirty="0"/>
              <a:t>onwonaagyekum@cmail.Carleton.ca</a:t>
            </a:r>
          </a:p>
          <a:p>
            <a:pPr>
              <a:spcAft>
                <a:spcPts val="600"/>
              </a:spcAft>
            </a:pPr>
            <a:endParaRPr lang="en-CA" altLang="en-US" dirty="0"/>
          </a:p>
        </p:txBody>
      </p:sp>
    </p:spTree>
    <p:extLst>
      <p:ext uri="{BB962C8B-B14F-4D97-AF65-F5344CB8AC3E}">
        <p14:creationId xmlns:p14="http://schemas.microsoft.com/office/powerpoint/2010/main" val="3476757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Text Box 1">
            <a:extLst>
              <a:ext uri="{FF2B5EF4-FFF2-40B4-BE49-F238E27FC236}">
                <a16:creationId xmlns:a16="http://schemas.microsoft.com/office/drawing/2014/main" id="{75764867-DB5B-17C9-760F-991A478BEEF0}"/>
              </a:ext>
            </a:extLst>
          </p:cNvPr>
          <p:cNvSpPr txBox="1">
            <a:spLocks noChangeArrowheads="1"/>
          </p:cNvSpPr>
          <p:nvPr/>
        </p:nvSpPr>
        <p:spPr bwMode="auto">
          <a:xfrm>
            <a:off x="3695701" y="6340151"/>
            <a:ext cx="1749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endParaRPr lang="en-CA" altLang="en-US" sz="1000" b="1" i="1" dirty="0">
              <a:latin typeface="Arial" panose="020B0604020202020204" pitchFamily="34" charset="0"/>
              <a:cs typeface="Arial Unicode MS" pitchFamily="32" charset="0"/>
            </a:endParaRPr>
          </a:p>
        </p:txBody>
      </p:sp>
      <p:sp>
        <p:nvSpPr>
          <p:cNvPr id="11266" name="Text Box 2">
            <a:extLst>
              <a:ext uri="{FF2B5EF4-FFF2-40B4-BE49-F238E27FC236}">
                <a16:creationId xmlns:a16="http://schemas.microsoft.com/office/drawing/2014/main" id="{5C7C463D-9E95-4DD4-C68E-3B13D642A214}"/>
              </a:ext>
            </a:extLst>
          </p:cNvPr>
          <p:cNvSpPr txBox="1">
            <a:spLocks noChangeArrowheads="1"/>
          </p:cNvSpPr>
          <p:nvPr/>
        </p:nvSpPr>
        <p:spPr bwMode="auto">
          <a:xfrm>
            <a:off x="177281" y="6340151"/>
            <a:ext cx="218174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endParaRPr lang="en-CA" altLang="en-US" sz="1000" b="1" i="1" dirty="0">
              <a:latin typeface="Arial" panose="020B0604020202020204" pitchFamily="34" charset="0"/>
              <a:cs typeface="Arial Unicode MS" pitchFamily="32" charset="0"/>
            </a:endParaRPr>
          </a:p>
        </p:txBody>
      </p:sp>
      <p:sp>
        <p:nvSpPr>
          <p:cNvPr id="11267" name="Text Box 3">
            <a:extLst>
              <a:ext uri="{FF2B5EF4-FFF2-40B4-BE49-F238E27FC236}">
                <a16:creationId xmlns:a16="http://schemas.microsoft.com/office/drawing/2014/main" id="{74C4C8BA-551F-DCF1-22AD-7A435E16EB9D}"/>
              </a:ext>
            </a:extLst>
          </p:cNvPr>
          <p:cNvSpPr txBox="1">
            <a:spLocks noChangeArrowheads="1"/>
          </p:cNvSpPr>
          <p:nvPr/>
        </p:nvSpPr>
        <p:spPr bwMode="auto">
          <a:xfrm>
            <a:off x="7543801" y="6340151"/>
            <a:ext cx="8350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CA" altLang="en-US" sz="1000" b="1" i="1" dirty="0">
                <a:latin typeface="Arial" panose="020B0604020202020204" pitchFamily="34" charset="0"/>
                <a:cs typeface="Arial Unicode MS" pitchFamily="32" charset="0"/>
              </a:rPr>
              <a:t>Slide 11</a:t>
            </a:r>
          </a:p>
        </p:txBody>
      </p:sp>
      <p:sp>
        <p:nvSpPr>
          <p:cNvPr id="11268" name="Text Box 4">
            <a:extLst>
              <a:ext uri="{FF2B5EF4-FFF2-40B4-BE49-F238E27FC236}">
                <a16:creationId xmlns:a16="http://schemas.microsoft.com/office/drawing/2014/main" id="{711A6DFD-E3ED-9CB8-C62E-DFB18676C98B}"/>
              </a:ext>
            </a:extLst>
          </p:cNvPr>
          <p:cNvSpPr txBox="1">
            <a:spLocks noChangeArrowheads="1"/>
          </p:cNvSpPr>
          <p:nvPr/>
        </p:nvSpPr>
        <p:spPr bwMode="auto">
          <a:xfrm>
            <a:off x="132629" y="63824"/>
            <a:ext cx="6967330" cy="1040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buClrTx/>
              <a:buFontTx/>
              <a:buNone/>
            </a:pPr>
            <a:r>
              <a:rPr lang="en-US" altLang="en-US" sz="3200" b="1" dirty="0">
                <a:solidFill>
                  <a:srgbClr val="000000"/>
                </a:solidFill>
                <a:latin typeface="+mj-lt"/>
                <a:cs typeface="Times New Roman" panose="02020603050405020304" pitchFamily="18" charset="0"/>
              </a:rPr>
              <a:t>Deliverable 1. </a:t>
            </a:r>
            <a:r>
              <a:rPr lang="en-US" altLang="en-US" sz="3200" b="1" dirty="0">
                <a:solidFill>
                  <a:srgbClr val="000000"/>
                </a:solidFill>
                <a:latin typeface="+mj-lt"/>
              </a:rPr>
              <a:t>Process Used</a:t>
            </a:r>
            <a:endParaRPr lang="en-CA" altLang="en-US" sz="3200" b="1" dirty="0">
              <a:solidFill>
                <a:srgbClr val="000000"/>
              </a:solidFill>
              <a:latin typeface="+mj-lt"/>
              <a:cs typeface="Times New Roman" panose="02020603050405020304" pitchFamily="18" charset="0"/>
            </a:endParaRPr>
          </a:p>
        </p:txBody>
      </p:sp>
      <p:sp>
        <p:nvSpPr>
          <p:cNvPr id="2" name="Text Box 3">
            <a:extLst>
              <a:ext uri="{FF2B5EF4-FFF2-40B4-BE49-F238E27FC236}">
                <a16:creationId xmlns:a16="http://schemas.microsoft.com/office/drawing/2014/main" id="{BCE01499-2463-1C25-3E65-F3215AA67EDA}"/>
              </a:ext>
            </a:extLst>
          </p:cNvPr>
          <p:cNvSpPr txBox="1">
            <a:spLocks noChangeArrowheads="1"/>
          </p:cNvSpPr>
          <p:nvPr/>
        </p:nvSpPr>
        <p:spPr bwMode="auto">
          <a:xfrm>
            <a:off x="10438" y="6394450"/>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eaLnBrk="1" hangingPunct="1">
              <a:buClrTx/>
              <a:buFontTx/>
              <a:buNone/>
            </a:pPr>
            <a:r>
              <a:rPr lang="en-US" altLang="en-US" sz="1000" b="1" i="1" dirty="0">
                <a:latin typeface="Arial" panose="020B0604020202020204" pitchFamily="34" charset="0"/>
                <a:cs typeface="Arial Unicode MS" pitchFamily="32" charset="0"/>
              </a:rPr>
              <a:t>o</a:t>
            </a:r>
            <a:r>
              <a:rPr lang="en-CA" altLang="en-US" sz="1000" b="1" i="1" dirty="0">
                <a:latin typeface="Arial" panose="020B0604020202020204" pitchFamily="34" charset="0"/>
                <a:cs typeface="Arial Unicode MS" pitchFamily="32" charset="0"/>
              </a:rPr>
              <a:t>nwonaagyekum@cmail.carleton.ca</a:t>
            </a:r>
          </a:p>
        </p:txBody>
      </p:sp>
      <p:sp>
        <p:nvSpPr>
          <p:cNvPr id="10" name="Text Box 3">
            <a:extLst>
              <a:ext uri="{FF2B5EF4-FFF2-40B4-BE49-F238E27FC236}">
                <a16:creationId xmlns:a16="http://schemas.microsoft.com/office/drawing/2014/main" id="{DA3CB079-6D39-4928-8CB5-0F6A23678100}"/>
              </a:ext>
            </a:extLst>
          </p:cNvPr>
          <p:cNvSpPr txBox="1">
            <a:spLocks noChangeArrowheads="1"/>
          </p:cNvSpPr>
          <p:nvPr/>
        </p:nvSpPr>
        <p:spPr bwMode="auto">
          <a:xfrm>
            <a:off x="3352800" y="6419589"/>
            <a:ext cx="3048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18288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pic>
        <p:nvPicPr>
          <p:cNvPr id="7" name="Picture 6" descr="A diagram of a company">
            <a:extLst>
              <a:ext uri="{FF2B5EF4-FFF2-40B4-BE49-F238E27FC236}">
                <a16:creationId xmlns:a16="http://schemas.microsoft.com/office/drawing/2014/main" id="{8912D3C3-82B0-9861-61DA-81B14519E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7282"/>
            <a:ext cx="8585719" cy="4714056"/>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B047-D5E3-3E2B-9F09-45CA08A84A95}"/>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66B92B83-C19F-0501-5F81-B2AAF48F05F3}"/>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PRISMA-</a:t>
            </a:r>
            <a:r>
              <a:rPr lang="en-US" altLang="en-US" sz="3200" b="1" dirty="0" err="1">
                <a:solidFill>
                  <a:srgbClr val="000000"/>
                </a:solidFill>
                <a:latin typeface="Calibri" panose="020F0502020204030204" pitchFamily="34" charset="0"/>
                <a:ea typeface="Calibri" panose="020F0502020204030204" pitchFamily="34" charset="0"/>
                <a:cs typeface="Calibri" panose="020F0502020204030204" pitchFamily="34" charset="0"/>
              </a:rPr>
              <a:t>ScR</a:t>
            </a: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 Compliant Scoping Review of AI Logistics Tools</a:t>
            </a:r>
            <a:endParaRPr lang="en-US" altLang="en-US" sz="3200" b="1" dirty="0">
              <a:solidFill>
                <a:srgbClr val="000000"/>
              </a:solidFill>
              <a:latin typeface="+mj-lt"/>
              <a:ea typeface="+mj-ea"/>
              <a:cs typeface="+mj-cs"/>
            </a:endParaRPr>
          </a:p>
        </p:txBody>
      </p:sp>
      <p:sp>
        <p:nvSpPr>
          <p:cNvPr id="2" name="Footer Placeholder 1">
            <a:extLst>
              <a:ext uri="{FF2B5EF4-FFF2-40B4-BE49-F238E27FC236}">
                <a16:creationId xmlns:a16="http://schemas.microsoft.com/office/drawing/2014/main" id="{29F4DF8D-6146-A5C5-7F98-6BCEDC2CEE04}"/>
              </a:ext>
            </a:extLst>
          </p:cNvPr>
          <p:cNvSpPr>
            <a:spLocks noGrp="1"/>
          </p:cNvSpPr>
          <p:nvPr>
            <p:ph type="ftr" idx="10"/>
          </p:nvPr>
        </p:nvSpPr>
        <p:spPr>
          <a:xfrm>
            <a:off x="609600" y="6400800"/>
            <a:ext cx="2286000" cy="457200"/>
          </a:xfrm>
        </p:spPr>
        <p:txBody>
          <a:bodyPr vert="horz" wrap="square" lIns="90000" tIns="182880" rIns="90000" bIns="46800" numCol="1" anchor="t" anchorCtr="0" compatLnSpc="1">
            <a:prstTxWarp prst="textNoShape">
              <a:avLst/>
            </a:prstTxWarp>
            <a:normAutofit fontScale="92500"/>
          </a:bodyPr>
          <a:lstStyle/>
          <a:p>
            <a:pPr>
              <a:spcAft>
                <a:spcPts val="600"/>
              </a:spcAft>
            </a:pPr>
            <a:r>
              <a:rPr lang="en-CA" altLang="en-US" dirty="0"/>
              <a:t>onwonaagyekum@cmail.Carleton.ca</a:t>
            </a:r>
          </a:p>
        </p:txBody>
      </p:sp>
      <p:sp>
        <p:nvSpPr>
          <p:cNvPr id="5" name="Text Box 5">
            <a:extLst>
              <a:ext uri="{FF2B5EF4-FFF2-40B4-BE49-F238E27FC236}">
                <a16:creationId xmlns:a16="http://schemas.microsoft.com/office/drawing/2014/main" id="{9E57388B-C2A3-1CA1-D5D0-B1C66384E193}"/>
              </a:ext>
            </a:extLst>
          </p:cNvPr>
          <p:cNvSpPr txBox="1">
            <a:spLocks noChangeArrowheads="1"/>
          </p:cNvSpPr>
          <p:nvPr/>
        </p:nvSpPr>
        <p:spPr bwMode="auto">
          <a:xfrm>
            <a:off x="76200" y="1267949"/>
            <a:ext cx="8763000" cy="5132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Tx/>
              <a:buNone/>
            </a:pPr>
            <a:r>
              <a:rPr lang="en-US" altLang="en-US" sz="1400" dirty="0">
                <a:solidFill>
                  <a:schemeClr val="tx1"/>
                </a:solidFill>
                <a:cs typeface="Times New Roman" panose="02020603050405020304" pitchFamily="18" charset="0"/>
              </a:rPr>
              <a:t>																															</a:t>
            </a:r>
          </a:p>
          <a:p>
            <a:pPr algn="ctr" eaLnBrk="1" hangingPunct="1">
              <a:spcBef>
                <a:spcPts val="600"/>
              </a:spcBef>
              <a:buClrTx/>
              <a:buFontTx/>
              <a:buNone/>
            </a:pPr>
            <a:r>
              <a:rPr lang="en-CA" altLang="en-US" sz="1400" dirty="0">
                <a:solidFill>
                  <a:schemeClr val="tx1"/>
                </a:solidFill>
                <a:cs typeface="Times New Roman" panose="02020603050405020304" pitchFamily="18" charset="0"/>
              </a:rPr>
              <a:t>																																																																																																																																																																																																																																</a:t>
            </a:r>
            <a:endParaRPr lang="en-CA" altLang="en-US" sz="1400" b="1" dirty="0">
              <a:solidFill>
                <a:schemeClr val="tx1"/>
              </a:solidFill>
              <a:cs typeface="Times New Roman" panose="02020603050405020304" pitchFamily="18" charset="0"/>
            </a:endParaRPr>
          </a:p>
        </p:txBody>
      </p:sp>
      <p:sp>
        <p:nvSpPr>
          <p:cNvPr id="7" name="TextBox 6">
            <a:extLst>
              <a:ext uri="{FF2B5EF4-FFF2-40B4-BE49-F238E27FC236}">
                <a16:creationId xmlns:a16="http://schemas.microsoft.com/office/drawing/2014/main" id="{B00E9AB0-E0C6-C42A-541B-7A12D58AAD00}"/>
              </a:ext>
            </a:extLst>
          </p:cNvPr>
          <p:cNvSpPr txBox="1"/>
          <p:nvPr/>
        </p:nvSpPr>
        <p:spPr>
          <a:xfrm>
            <a:off x="3124200" y="6477591"/>
            <a:ext cx="4589144" cy="246221"/>
          </a:xfrm>
          <a:prstGeom prst="rect">
            <a:avLst/>
          </a:prstGeom>
          <a:noFill/>
        </p:spPr>
        <p:txBody>
          <a:bodyPr wrap="square">
            <a:spAutoFit/>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9" name="TextBox 8">
            <a:extLst>
              <a:ext uri="{FF2B5EF4-FFF2-40B4-BE49-F238E27FC236}">
                <a16:creationId xmlns:a16="http://schemas.microsoft.com/office/drawing/2014/main" id="{88D0B3D3-C062-7E3E-B3EA-D7797E252839}"/>
              </a:ext>
            </a:extLst>
          </p:cNvPr>
          <p:cNvSpPr txBox="1"/>
          <p:nvPr/>
        </p:nvSpPr>
        <p:spPr>
          <a:xfrm>
            <a:off x="7315200" y="6521064"/>
            <a:ext cx="4411027" cy="246221"/>
          </a:xfrm>
          <a:prstGeom prst="rect">
            <a:avLst/>
          </a:prstGeom>
          <a:noFill/>
        </p:spPr>
        <p:txBody>
          <a:bodyPr wrap="square">
            <a:spAutoFit/>
          </a:bodyPr>
          <a:lstStyle/>
          <a:p>
            <a:r>
              <a:rPr lang="en-US" sz="1000" b="1" i="1" dirty="0"/>
              <a:t>Slide 12</a:t>
            </a:r>
          </a:p>
        </p:txBody>
      </p:sp>
      <p:pic>
        <p:nvPicPr>
          <p:cNvPr id="6" name="Picture 5">
            <a:extLst>
              <a:ext uri="{FF2B5EF4-FFF2-40B4-BE49-F238E27FC236}">
                <a16:creationId xmlns:a16="http://schemas.microsoft.com/office/drawing/2014/main" id="{47C41523-1917-B17F-AD82-85BC1894FED3}"/>
              </a:ext>
            </a:extLst>
          </p:cNvPr>
          <p:cNvPicPr>
            <a:picLocks noChangeAspect="1"/>
          </p:cNvPicPr>
          <p:nvPr/>
        </p:nvPicPr>
        <p:blipFill>
          <a:blip r:embed="rId2"/>
          <a:stretch>
            <a:fillRect/>
          </a:stretch>
        </p:blipFill>
        <p:spPr>
          <a:xfrm>
            <a:off x="1264633" y="1186401"/>
            <a:ext cx="6279167" cy="5133292"/>
          </a:xfrm>
          <a:prstGeom prst="rect">
            <a:avLst/>
          </a:prstGeom>
        </p:spPr>
      </p:pic>
    </p:spTree>
    <p:extLst>
      <p:ext uri="{BB962C8B-B14F-4D97-AF65-F5344CB8AC3E}">
        <p14:creationId xmlns:p14="http://schemas.microsoft.com/office/powerpoint/2010/main" val="4177276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60490-E6BD-909C-60FC-FA859682518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DF3B177B-7D14-BBC4-38BC-CC65E62FE5DE}"/>
              </a:ext>
            </a:extLst>
          </p:cNvPr>
          <p:cNvSpPr txBox="1">
            <a:spLocks noChangeArrowheads="1"/>
          </p:cNvSpPr>
          <p:nvPr/>
        </p:nvSpPr>
        <p:spPr bwMode="auto">
          <a:xfrm>
            <a:off x="457199" y="33130"/>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2. Classification System</a:t>
            </a:r>
          </a:p>
        </p:txBody>
      </p:sp>
      <p:sp>
        <p:nvSpPr>
          <p:cNvPr id="2" name="Footer Placeholder 1">
            <a:extLst>
              <a:ext uri="{FF2B5EF4-FFF2-40B4-BE49-F238E27FC236}">
                <a16:creationId xmlns:a16="http://schemas.microsoft.com/office/drawing/2014/main" id="{D354221C-7A68-58FC-D278-707C2AE99C3A}"/>
              </a:ext>
            </a:extLst>
          </p:cNvPr>
          <p:cNvSpPr>
            <a:spLocks noGrp="1"/>
          </p:cNvSpPr>
          <p:nvPr>
            <p:ph type="ftr" idx="10"/>
          </p:nvPr>
        </p:nvSpPr>
        <p:spPr>
          <a:xfrm>
            <a:off x="685800" y="6422818"/>
            <a:ext cx="2590800" cy="685800"/>
          </a:xfrm>
        </p:spPr>
        <p:txBody>
          <a:bodyPr vert="horz" wrap="square" lIns="90000" tIns="182880" rIns="90000" bIns="46800" numCol="1" anchor="t" anchorCtr="0" compatLnSpc="1">
            <a:prstTxWarp prst="textNoShape">
              <a:avLst/>
            </a:prstTxWarp>
            <a:normAutofit/>
          </a:bodyPr>
          <a:lstStyle/>
          <a:p>
            <a:pPr>
              <a:spcAft>
                <a:spcPts val="600"/>
              </a:spcAft>
            </a:pPr>
            <a:r>
              <a:rPr lang="en-CA" altLang="en-US" dirty="0"/>
              <a:t>onwonaagyekum@cmail.Carleton.ca</a:t>
            </a:r>
          </a:p>
        </p:txBody>
      </p:sp>
      <p:sp>
        <p:nvSpPr>
          <p:cNvPr id="5" name="Text Box 5">
            <a:extLst>
              <a:ext uri="{FF2B5EF4-FFF2-40B4-BE49-F238E27FC236}">
                <a16:creationId xmlns:a16="http://schemas.microsoft.com/office/drawing/2014/main" id="{5A99C841-8206-72F3-8498-8F13237C0254}"/>
              </a:ext>
            </a:extLst>
          </p:cNvPr>
          <p:cNvSpPr txBox="1">
            <a:spLocks noChangeArrowheads="1"/>
          </p:cNvSpPr>
          <p:nvPr/>
        </p:nvSpPr>
        <p:spPr bwMode="auto">
          <a:xfrm>
            <a:off x="76200" y="1221994"/>
            <a:ext cx="8763000" cy="5132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Tx/>
              <a:buNone/>
            </a:pPr>
            <a:r>
              <a:rPr lang="en-CA"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Classification Method – From Tool Features to Business Functions</a:t>
            </a:r>
          </a:p>
          <a:p>
            <a:pPr eaLnBrk="1" hangingPunct="1">
              <a:spcBef>
                <a:spcPts val="600"/>
              </a:spcBef>
              <a:buClrTx/>
              <a:buFontTx/>
              <a:buNone/>
            </a:pPr>
            <a:endParaRPr lang="en-CA"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buFont typeface="Arial" panose="020B0604020202020204" pitchFamily="34" charset="0"/>
              <a:buChar char="•"/>
            </a:pPr>
            <a:r>
              <a:rPr lang="en-CA"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65 AI logistics tools were analyzed from Deliverable 1.Each tool was tagged based on its core business function.</a:t>
            </a:r>
          </a:p>
          <a:p>
            <a:pPr eaLnBrk="1" hangingPunct="1">
              <a:spcBef>
                <a:spcPts val="600"/>
              </a:spcBef>
              <a:buClrTx/>
              <a:buFont typeface="Arial" panose="020B0604020202020204" pitchFamily="34" charset="0"/>
              <a:buChar char="•"/>
            </a:pPr>
            <a:r>
              <a:rPr lang="en-CA"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Tags were grouped thematically into 5 categories that reflect common logistics pain points.</a:t>
            </a:r>
          </a:p>
          <a:p>
            <a:pPr eaLnBrk="1" hangingPunct="1">
              <a:spcBef>
                <a:spcPts val="600"/>
              </a:spcBef>
              <a:buClrTx/>
              <a:buFont typeface="Arial" panose="020B0604020202020204" pitchFamily="34" charset="0"/>
              <a:buChar char="•"/>
            </a:pPr>
            <a:r>
              <a:rPr lang="en-CA"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Categories align with client needs expressed during consultation (e.g., automation, lean staffing, real-time visibility).</a:t>
            </a:r>
          </a:p>
          <a:p>
            <a:pPr marL="7937" indent="0" eaLnBrk="1" hangingPunct="1">
              <a:spcBef>
                <a:spcPts val="600"/>
              </a:spcBef>
              <a:buClrTx/>
            </a:pPr>
            <a:endParaRPr lang="en-CA"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16B4627-5940-7644-6E4A-D5A3479E077B}"/>
              </a:ext>
            </a:extLst>
          </p:cNvPr>
          <p:cNvSpPr txBox="1"/>
          <p:nvPr/>
        </p:nvSpPr>
        <p:spPr>
          <a:xfrm>
            <a:off x="3276600" y="6547767"/>
            <a:ext cx="4589144" cy="246221"/>
          </a:xfrm>
          <a:prstGeom prst="rect">
            <a:avLst/>
          </a:prstGeom>
          <a:noFill/>
        </p:spPr>
        <p:txBody>
          <a:bodyPr wrap="square">
            <a:spAutoFit/>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9" name="TextBox 8">
            <a:extLst>
              <a:ext uri="{FF2B5EF4-FFF2-40B4-BE49-F238E27FC236}">
                <a16:creationId xmlns:a16="http://schemas.microsoft.com/office/drawing/2014/main" id="{DB0A4BA7-7E07-2840-C9A3-BE5E9F984D36}"/>
              </a:ext>
            </a:extLst>
          </p:cNvPr>
          <p:cNvSpPr txBox="1"/>
          <p:nvPr/>
        </p:nvSpPr>
        <p:spPr>
          <a:xfrm>
            <a:off x="7162800" y="6547767"/>
            <a:ext cx="4589144" cy="246221"/>
          </a:xfrm>
          <a:prstGeom prst="rect">
            <a:avLst/>
          </a:prstGeom>
          <a:noFill/>
        </p:spPr>
        <p:txBody>
          <a:bodyPr wrap="square">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Slide</a:t>
            </a:r>
            <a:r>
              <a:rPr lang="en-US" sz="1000" b="1" i="1" dirty="0"/>
              <a:t> </a:t>
            </a:r>
            <a:r>
              <a:rPr lang="en-US" sz="1000" b="1" dirty="0">
                <a:latin typeface="Calibri" panose="020F0502020204030204" pitchFamily="34" charset="0"/>
                <a:ea typeface="Calibri" panose="020F0502020204030204" pitchFamily="34" charset="0"/>
                <a:cs typeface="Calibri" panose="020F0502020204030204" pitchFamily="34" charset="0"/>
              </a:rPr>
              <a:t>15 </a:t>
            </a:r>
          </a:p>
        </p:txBody>
      </p:sp>
    </p:spTree>
    <p:extLst>
      <p:ext uri="{BB962C8B-B14F-4D97-AF65-F5344CB8AC3E}">
        <p14:creationId xmlns:p14="http://schemas.microsoft.com/office/powerpoint/2010/main" val="1423590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73FF7-C682-850A-7DB2-0E800E6BDC3B}"/>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3BC790EA-5A0C-3D66-606F-02F9E19F60E3}"/>
              </a:ext>
            </a:extLst>
          </p:cNvPr>
          <p:cNvSpPr txBox="1">
            <a:spLocks noChangeArrowheads="1"/>
          </p:cNvSpPr>
          <p:nvPr/>
        </p:nvSpPr>
        <p:spPr bwMode="auto">
          <a:xfrm>
            <a:off x="457199" y="33130"/>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2. Classification System</a:t>
            </a:r>
          </a:p>
        </p:txBody>
      </p:sp>
      <p:sp>
        <p:nvSpPr>
          <p:cNvPr id="2" name="Footer Placeholder 1">
            <a:extLst>
              <a:ext uri="{FF2B5EF4-FFF2-40B4-BE49-F238E27FC236}">
                <a16:creationId xmlns:a16="http://schemas.microsoft.com/office/drawing/2014/main" id="{CFD54C5F-CDFA-B8E0-2EAC-9948A38F7881}"/>
              </a:ext>
            </a:extLst>
          </p:cNvPr>
          <p:cNvSpPr>
            <a:spLocks noGrp="1"/>
          </p:cNvSpPr>
          <p:nvPr>
            <p:ph type="ftr" idx="10"/>
          </p:nvPr>
        </p:nvSpPr>
        <p:spPr>
          <a:xfrm>
            <a:off x="685800" y="6422818"/>
            <a:ext cx="2590800" cy="685800"/>
          </a:xfrm>
        </p:spPr>
        <p:txBody>
          <a:bodyPr vert="horz" wrap="square" lIns="90000" tIns="182880" rIns="90000" bIns="46800" numCol="1" anchor="t" anchorCtr="0" compatLnSpc="1">
            <a:prstTxWarp prst="textNoShape">
              <a:avLst/>
            </a:prstTxWarp>
            <a:normAutofit/>
          </a:bodyPr>
          <a:lstStyle/>
          <a:p>
            <a:pPr>
              <a:spcAft>
                <a:spcPts val="600"/>
              </a:spcAft>
            </a:pPr>
            <a:r>
              <a:rPr lang="en-CA" altLang="en-US" dirty="0"/>
              <a:t>onwonaagyekum@cmail.Carleton.ca</a:t>
            </a:r>
          </a:p>
        </p:txBody>
      </p:sp>
      <p:sp>
        <p:nvSpPr>
          <p:cNvPr id="5" name="Text Box 5">
            <a:extLst>
              <a:ext uri="{FF2B5EF4-FFF2-40B4-BE49-F238E27FC236}">
                <a16:creationId xmlns:a16="http://schemas.microsoft.com/office/drawing/2014/main" id="{726698E3-D8E3-E79B-F530-DB0520B92C0F}"/>
              </a:ext>
            </a:extLst>
          </p:cNvPr>
          <p:cNvSpPr txBox="1">
            <a:spLocks noChangeArrowheads="1"/>
          </p:cNvSpPr>
          <p:nvPr/>
        </p:nvSpPr>
        <p:spPr bwMode="auto">
          <a:xfrm>
            <a:off x="76200" y="1289968"/>
            <a:ext cx="8763000" cy="5132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buFontTx/>
              <a:buNone/>
            </a:pPr>
            <a:endParaRPr lang="en-CA" altLang="en-US" sz="1400" b="1" dirty="0">
              <a:solidFill>
                <a:schemeClr val="tx1"/>
              </a:solidFill>
              <a:cs typeface="Times New Roman" panose="02020603050405020304" pitchFamily="18" charset="0"/>
            </a:endParaRPr>
          </a:p>
        </p:txBody>
      </p:sp>
      <p:sp>
        <p:nvSpPr>
          <p:cNvPr id="6" name="TextBox 5">
            <a:extLst>
              <a:ext uri="{FF2B5EF4-FFF2-40B4-BE49-F238E27FC236}">
                <a16:creationId xmlns:a16="http://schemas.microsoft.com/office/drawing/2014/main" id="{1A4F1D71-2913-6A41-A7C8-77805E180A82}"/>
              </a:ext>
            </a:extLst>
          </p:cNvPr>
          <p:cNvSpPr txBox="1"/>
          <p:nvPr/>
        </p:nvSpPr>
        <p:spPr>
          <a:xfrm>
            <a:off x="3276600" y="6547767"/>
            <a:ext cx="4589144" cy="246221"/>
          </a:xfrm>
          <a:prstGeom prst="rect">
            <a:avLst/>
          </a:prstGeom>
          <a:noFill/>
        </p:spPr>
        <p:txBody>
          <a:bodyPr wrap="square">
            <a:spAutoFit/>
          </a:bodyPr>
          <a:lstStyle/>
          <a:p>
            <a:pPr algn="ctr"/>
            <a:r>
              <a:rPr lang="en-US" sz="100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9" name="TextBox 8">
            <a:extLst>
              <a:ext uri="{FF2B5EF4-FFF2-40B4-BE49-F238E27FC236}">
                <a16:creationId xmlns:a16="http://schemas.microsoft.com/office/drawing/2014/main" id="{55A1DEF4-0D49-A3BC-5769-A76AB7B2F16D}"/>
              </a:ext>
            </a:extLst>
          </p:cNvPr>
          <p:cNvSpPr txBox="1"/>
          <p:nvPr/>
        </p:nvSpPr>
        <p:spPr>
          <a:xfrm>
            <a:off x="7162800" y="6547767"/>
            <a:ext cx="4589144" cy="246221"/>
          </a:xfrm>
          <a:prstGeom prst="rect">
            <a:avLst/>
          </a:prstGeom>
          <a:noFill/>
        </p:spPr>
        <p:txBody>
          <a:bodyPr wrap="square">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Slide</a:t>
            </a:r>
            <a:r>
              <a:rPr lang="en-US" sz="1000" b="1" i="1" dirty="0"/>
              <a:t> </a:t>
            </a:r>
            <a:r>
              <a:rPr lang="en-US" sz="1000" b="1" dirty="0">
                <a:latin typeface="Calibri" panose="020F0502020204030204" pitchFamily="34" charset="0"/>
                <a:ea typeface="Calibri" panose="020F0502020204030204" pitchFamily="34" charset="0"/>
                <a:cs typeface="Calibri" panose="020F0502020204030204" pitchFamily="34" charset="0"/>
              </a:rPr>
              <a:t>15 </a:t>
            </a:r>
          </a:p>
        </p:txBody>
      </p:sp>
      <p:pic>
        <p:nvPicPr>
          <p:cNvPr id="7" name="Picture 6">
            <a:extLst>
              <a:ext uri="{FF2B5EF4-FFF2-40B4-BE49-F238E27FC236}">
                <a16:creationId xmlns:a16="http://schemas.microsoft.com/office/drawing/2014/main" id="{C92004F4-96C8-BF5F-327B-204F28A1D8FB}"/>
              </a:ext>
            </a:extLst>
          </p:cNvPr>
          <p:cNvPicPr>
            <a:picLocks noChangeAspect="1"/>
          </p:cNvPicPr>
          <p:nvPr/>
        </p:nvPicPr>
        <p:blipFill>
          <a:blip r:embed="rId2"/>
          <a:stretch>
            <a:fillRect/>
          </a:stretch>
        </p:blipFill>
        <p:spPr>
          <a:xfrm>
            <a:off x="0" y="1252261"/>
            <a:ext cx="9144000" cy="5132849"/>
          </a:xfrm>
          <a:prstGeom prst="rect">
            <a:avLst/>
          </a:prstGeom>
        </p:spPr>
      </p:pic>
    </p:spTree>
    <p:extLst>
      <p:ext uri="{BB962C8B-B14F-4D97-AF65-F5344CB8AC3E}">
        <p14:creationId xmlns:p14="http://schemas.microsoft.com/office/powerpoint/2010/main" val="2526221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8A70-DA8E-811B-C769-74440C617DA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C29437B7-029C-CD8D-AA76-7A0AC8B4897E}"/>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fontScale="85000" lnSpcReduction="10000"/>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sz="3200" b="1" dirty="0">
                <a:solidFill>
                  <a:srgbClr val="000000"/>
                </a:solidFill>
                <a:latin typeface="+mj-lt"/>
                <a:ea typeface="+mj-ea"/>
                <a:cs typeface="+mj-cs"/>
              </a:rPr>
              <a:t>Deliverable 2. Classification Based on - Customs &amp; Border Automation</a:t>
            </a:r>
          </a:p>
        </p:txBody>
      </p:sp>
      <p:sp>
        <p:nvSpPr>
          <p:cNvPr id="2" name="Footer Placeholder 1">
            <a:extLst>
              <a:ext uri="{FF2B5EF4-FFF2-40B4-BE49-F238E27FC236}">
                <a16:creationId xmlns:a16="http://schemas.microsoft.com/office/drawing/2014/main" id="{126B4951-792B-84CA-6376-493B3ADC7DA2}"/>
              </a:ext>
            </a:extLst>
          </p:cNvPr>
          <p:cNvSpPr>
            <a:spLocks noGrp="1"/>
          </p:cNvSpPr>
          <p:nvPr>
            <p:ph type="ftr" idx="10"/>
          </p:nvPr>
        </p:nvSpPr>
        <p:spPr>
          <a:xfrm>
            <a:off x="228600" y="6435644"/>
            <a:ext cx="2362200" cy="446089"/>
          </a:xfrm>
        </p:spPr>
        <p:txBody>
          <a:bodyPr vert="horz" wrap="square" lIns="90000" tIns="182880" rIns="90000" bIns="46800" numCol="1" anchor="t" anchorCtr="0" compatLnSpc="1">
            <a:prstTxWarp prst="textNoShape">
              <a:avLst/>
            </a:prstTxWarp>
            <a:normAutofit fontScale="92500"/>
          </a:bodyPr>
          <a:lstStyle/>
          <a:p>
            <a:pPr>
              <a:spcAft>
                <a:spcPts val="600"/>
              </a:spcAft>
            </a:pPr>
            <a:r>
              <a:rPr lang="en-CA" altLang="en-US" dirty="0"/>
              <a:t>onwonaagyekum@cmail.Carleton.ca</a:t>
            </a:r>
          </a:p>
        </p:txBody>
      </p:sp>
      <p:sp>
        <p:nvSpPr>
          <p:cNvPr id="7" name="TextBox 6">
            <a:extLst>
              <a:ext uri="{FF2B5EF4-FFF2-40B4-BE49-F238E27FC236}">
                <a16:creationId xmlns:a16="http://schemas.microsoft.com/office/drawing/2014/main" id="{560FF9A8-9EA4-F5C5-7CB4-B7CFD1EE08E1}"/>
              </a:ext>
            </a:extLst>
          </p:cNvPr>
          <p:cNvSpPr txBox="1"/>
          <p:nvPr/>
        </p:nvSpPr>
        <p:spPr>
          <a:xfrm>
            <a:off x="3276600" y="6535579"/>
            <a:ext cx="4589144" cy="246221"/>
          </a:xfrm>
          <a:prstGeom prst="rect">
            <a:avLst/>
          </a:prstGeom>
          <a:noFill/>
        </p:spPr>
        <p:txBody>
          <a:bodyPr wrap="square">
            <a:spAutoFit/>
          </a:bodyPr>
          <a:lstStyle/>
          <a:p>
            <a:r>
              <a:rPr lang="en-US" sz="1000" i="1"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9" name="TextBox 8">
            <a:extLst>
              <a:ext uri="{FF2B5EF4-FFF2-40B4-BE49-F238E27FC236}">
                <a16:creationId xmlns:a16="http://schemas.microsoft.com/office/drawing/2014/main" id="{CD51D6BE-97FA-8822-8BAB-2232C4477CFC}"/>
              </a:ext>
            </a:extLst>
          </p:cNvPr>
          <p:cNvSpPr txBox="1"/>
          <p:nvPr/>
        </p:nvSpPr>
        <p:spPr>
          <a:xfrm>
            <a:off x="6792914" y="6560038"/>
            <a:ext cx="4589144" cy="246221"/>
          </a:xfrm>
          <a:prstGeom prst="rect">
            <a:avLst/>
          </a:prstGeom>
          <a:noFill/>
        </p:spPr>
        <p:txBody>
          <a:bodyPr wrap="square">
            <a:spAutoFit/>
          </a:bodyPr>
          <a:lstStyle/>
          <a:p>
            <a:r>
              <a:rPr lang="en-US" sz="1000" b="1" i="1" dirty="0"/>
              <a:t>Slide 16</a:t>
            </a:r>
          </a:p>
        </p:txBody>
      </p:sp>
      <p:graphicFrame>
        <p:nvGraphicFramePr>
          <p:cNvPr id="8" name="Table 7">
            <a:extLst>
              <a:ext uri="{FF2B5EF4-FFF2-40B4-BE49-F238E27FC236}">
                <a16:creationId xmlns:a16="http://schemas.microsoft.com/office/drawing/2014/main" id="{434F8850-62CA-F1F5-124E-71E9859D70B4}"/>
              </a:ext>
            </a:extLst>
          </p:cNvPr>
          <p:cNvGraphicFramePr>
            <a:graphicFrameLocks noGrp="1"/>
          </p:cNvGraphicFramePr>
          <p:nvPr>
            <p:extLst>
              <p:ext uri="{D42A27DB-BD31-4B8C-83A1-F6EECF244321}">
                <p14:modId xmlns:p14="http://schemas.microsoft.com/office/powerpoint/2010/main" val="3974502765"/>
              </p:ext>
            </p:extLst>
          </p:nvPr>
        </p:nvGraphicFramePr>
        <p:xfrm>
          <a:off x="152400" y="1752600"/>
          <a:ext cx="8686800" cy="4716041"/>
        </p:xfrm>
        <a:graphic>
          <a:graphicData uri="http://schemas.openxmlformats.org/drawingml/2006/table">
            <a:tbl>
              <a:tblPr firstRow="1" bandRow="1"/>
              <a:tblGrid>
                <a:gridCol w="4343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42873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l">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l">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extLst>
                  <a:ext uri="{0D108BD9-81ED-4DB2-BD59-A6C34878D82A}">
                    <a16:rowId xmlns:a16="http://schemas.microsoft.com/office/drawing/2014/main" val="10000"/>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KlearNow.AI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Web Scraping Tool (NCTC Bot)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Altana Atlas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Risk Management Dashboards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err="1"/>
                        <a:t>TradeSun</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HS Code Anomaly Detector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Supplier Codification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Geospatial Data Intelligence System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Network Analytics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BERT-Based Misclassification Detector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Entity Profiling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WCO Data Analysis Dashboard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Mirror Analysis System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AI-Based OCR (Customs)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Import Valuation Anomaly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NCTC Web Scraper Bot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Multidimensional Hopping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t>AI-based X-ray Image Analytics (YOLOv7)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9"/>
                  </a:ext>
                </a:extLst>
              </a:tr>
              <a:tr h="4287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dirty="0"/>
                        <a:t>AI-based OCR Module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10"/>
                  </a:ext>
                </a:extLst>
              </a:tr>
            </a:tbl>
          </a:graphicData>
        </a:graphic>
      </p:graphicFrame>
      <p:sp>
        <p:nvSpPr>
          <p:cNvPr id="11" name="TextBox 10">
            <a:extLst>
              <a:ext uri="{FF2B5EF4-FFF2-40B4-BE49-F238E27FC236}">
                <a16:creationId xmlns:a16="http://schemas.microsoft.com/office/drawing/2014/main" id="{6B413940-67DD-B9A6-4B13-CFF27A7C61A4}"/>
              </a:ext>
            </a:extLst>
          </p:cNvPr>
          <p:cNvSpPr txBox="1"/>
          <p:nvPr/>
        </p:nvSpPr>
        <p:spPr>
          <a:xfrm>
            <a:off x="0" y="1143000"/>
            <a:ext cx="8991600" cy="523220"/>
          </a:xfrm>
          <a:prstGeom prst="rect">
            <a:avLst/>
          </a:prstGeom>
          <a:noFill/>
        </p:spPr>
        <p:txBody>
          <a:bodyPr wrap="square">
            <a:spAutoFit/>
          </a:bodyPr>
          <a:lstStyle/>
          <a:p>
            <a:r>
              <a:rPr lang="en-CA" sz="1400" dirty="0">
                <a:solidFill>
                  <a:schemeClr val="tx1"/>
                </a:solidFill>
              </a:rPr>
              <a:t>These tools address delays, errors, and inefficiencies in customs clearance, compliance, </a:t>
            </a:r>
          </a:p>
          <a:p>
            <a:r>
              <a:rPr lang="en-CA" sz="1400" dirty="0">
                <a:solidFill>
                  <a:schemeClr val="tx1"/>
                </a:solidFill>
              </a:rPr>
              <a:t>and cross-border document processing.</a:t>
            </a:r>
          </a:p>
        </p:txBody>
      </p:sp>
    </p:spTree>
    <p:extLst>
      <p:ext uri="{BB962C8B-B14F-4D97-AF65-F5344CB8AC3E}">
        <p14:creationId xmlns:p14="http://schemas.microsoft.com/office/powerpoint/2010/main" val="145889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79C8-286D-CC88-13AD-9EC580514CF5}"/>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5F0D6EE7-99D3-2FD6-4F0D-26C3A92C6786}"/>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fontScale="92500"/>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2. Classification Based on - </a:t>
            </a:r>
            <a:r>
              <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Routing &amp; Freight Optimization </a:t>
            </a:r>
            <a:endPar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1">
            <a:extLst>
              <a:ext uri="{FF2B5EF4-FFF2-40B4-BE49-F238E27FC236}">
                <a16:creationId xmlns:a16="http://schemas.microsoft.com/office/drawing/2014/main" id="{4ED56026-01C4-3A7B-28A1-A4D633B4267A}"/>
              </a:ext>
            </a:extLst>
          </p:cNvPr>
          <p:cNvSpPr>
            <a:spLocks noGrp="1"/>
          </p:cNvSpPr>
          <p:nvPr>
            <p:ph type="ftr" idx="10"/>
          </p:nvPr>
        </p:nvSpPr>
        <p:spPr>
          <a:xfrm>
            <a:off x="609600" y="6400799"/>
            <a:ext cx="2667000" cy="446089"/>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F3CDF365-FFBB-AE78-BAD7-5FAE74074503}"/>
              </a:ext>
            </a:extLst>
          </p:cNvPr>
          <p:cNvSpPr txBox="1">
            <a:spLocks/>
          </p:cNvSpPr>
          <p:nvPr/>
        </p:nvSpPr>
        <p:spPr bwMode="auto">
          <a:xfrm>
            <a:off x="3733800" y="640079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17FA79EC-D36A-5D2B-5182-1AAF8F502372}"/>
              </a:ext>
            </a:extLst>
          </p:cNvPr>
          <p:cNvSpPr txBox="1">
            <a:spLocks/>
          </p:cNvSpPr>
          <p:nvPr/>
        </p:nvSpPr>
        <p:spPr bwMode="auto">
          <a:xfrm>
            <a:off x="6172200" y="639014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17</a:t>
            </a:r>
          </a:p>
        </p:txBody>
      </p:sp>
      <p:graphicFrame>
        <p:nvGraphicFramePr>
          <p:cNvPr id="8" name="Table 7">
            <a:extLst>
              <a:ext uri="{FF2B5EF4-FFF2-40B4-BE49-F238E27FC236}">
                <a16:creationId xmlns:a16="http://schemas.microsoft.com/office/drawing/2014/main" id="{9BEA9CC1-35FB-67AB-9AAC-6289D222FEE2}"/>
              </a:ext>
            </a:extLst>
          </p:cNvPr>
          <p:cNvGraphicFramePr>
            <a:graphicFrameLocks noGrp="1"/>
          </p:cNvGraphicFramePr>
          <p:nvPr>
            <p:extLst>
              <p:ext uri="{D42A27DB-BD31-4B8C-83A1-F6EECF244321}">
                <p14:modId xmlns:p14="http://schemas.microsoft.com/office/powerpoint/2010/main" val="998070029"/>
              </p:ext>
            </p:extLst>
          </p:nvPr>
        </p:nvGraphicFramePr>
        <p:xfrm>
          <a:off x="457200" y="1981200"/>
          <a:ext cx="8229600" cy="2971800"/>
        </p:xfrm>
        <a:graphic>
          <a:graphicData uri="http://schemas.openxmlformats.org/drawingml/2006/table">
            <a:tbl>
              <a:tblPr firstRow="1" bandRow="1"/>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9530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b="1" dirty="0">
                          <a:solidFill>
                            <a:schemeClr val="tx1"/>
                          </a:solidFill>
                        </a:rPr>
                        <a:t>Tool</a:t>
                      </a:r>
                      <a:r>
                        <a:rPr dirty="0"/>
                        <a:t>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lang="en-CA" dirty="0">
                          <a:solidFill>
                            <a:schemeClr val="tx1"/>
                          </a:solidFill>
                        </a:rPr>
                        <a:t>Tool </a:t>
                      </a:r>
                      <a:endParaRPr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extLst>
                  <a:ext uri="{0D108BD9-81ED-4DB2-BD59-A6C34878D82A}">
                    <a16:rowId xmlns:a16="http://schemas.microsoft.com/office/drawing/2014/main" val="10000"/>
                  </a:ext>
                </a:extLst>
              </a:tr>
              <a:tr h="4953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err="1"/>
                        <a:t>Flexport</a:t>
                      </a:r>
                      <a:endParaRPr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Multi-Modal Transport Optimizer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4953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Kobo360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Cargo Routing Optimizer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4953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Freightos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Quantum AI for Routing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4953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Transportation Routing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Autonomous Vehicles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4953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Route Optimization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AI Route Optimization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11301C08-CEDE-7D6B-3B48-1BB8A6B087F9}"/>
              </a:ext>
            </a:extLst>
          </p:cNvPr>
          <p:cNvSpPr txBox="1"/>
          <p:nvPr/>
        </p:nvSpPr>
        <p:spPr>
          <a:xfrm>
            <a:off x="380999" y="1353168"/>
            <a:ext cx="8686801" cy="523220"/>
          </a:xfrm>
          <a:prstGeom prst="rect">
            <a:avLst/>
          </a:prstGeom>
          <a:noFill/>
        </p:spPr>
        <p:txBody>
          <a:bodyPr wrap="square">
            <a:spAutoFit/>
          </a:bodyPr>
          <a:lstStyle/>
          <a:p>
            <a:r>
              <a:rPr lang="en-CA" sz="1400" dirty="0">
                <a:solidFill>
                  <a:schemeClr val="tx1"/>
                </a:solidFill>
              </a:rPr>
              <a:t>These tools solve routing inefficiencies by optimizing freight movement, reducing transport costs, and improving delivery reliability.</a:t>
            </a:r>
          </a:p>
        </p:txBody>
      </p:sp>
    </p:spTree>
    <p:extLst>
      <p:ext uri="{BB962C8B-B14F-4D97-AF65-F5344CB8AC3E}">
        <p14:creationId xmlns:p14="http://schemas.microsoft.com/office/powerpoint/2010/main" val="7690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30FB-0388-5983-4F4F-D882D1B645D0}"/>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D009E947-4E98-2711-0ADD-7BB4CE1BBCB0}"/>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fontScale="62500" lnSpcReduction="20000"/>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pPr>
            <a:r>
              <a:rPr lang="en-US" altLang="en-US" sz="41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2. Classification Based on - Real-Time Tracking &amp; Visibility </a:t>
            </a:r>
          </a:p>
          <a:p>
            <a:pPr>
              <a:spcAft>
                <a:spcPts val="600"/>
              </a:spcAft>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p:sp>
        <p:nvSpPr>
          <p:cNvPr id="4" name="Footer Placeholder 1">
            <a:extLst>
              <a:ext uri="{FF2B5EF4-FFF2-40B4-BE49-F238E27FC236}">
                <a16:creationId xmlns:a16="http://schemas.microsoft.com/office/drawing/2014/main" id="{21D1A080-56CF-7B71-6618-A28AC2A43D3F}"/>
              </a:ext>
            </a:extLst>
          </p:cNvPr>
          <p:cNvSpPr>
            <a:spLocks noGrp="1"/>
          </p:cNvSpPr>
          <p:nvPr>
            <p:ph type="ftr" idx="10"/>
          </p:nvPr>
        </p:nvSpPr>
        <p:spPr>
          <a:xfrm>
            <a:off x="609600" y="6400799"/>
            <a:ext cx="2667000" cy="446089"/>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4EF261BB-5836-3415-7042-962CF899826F}"/>
              </a:ext>
            </a:extLst>
          </p:cNvPr>
          <p:cNvSpPr txBox="1">
            <a:spLocks/>
          </p:cNvSpPr>
          <p:nvPr/>
        </p:nvSpPr>
        <p:spPr bwMode="auto">
          <a:xfrm>
            <a:off x="3733800" y="640079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449A8A35-740F-0A69-E259-BA3359A48D09}"/>
              </a:ext>
            </a:extLst>
          </p:cNvPr>
          <p:cNvSpPr txBox="1">
            <a:spLocks/>
          </p:cNvSpPr>
          <p:nvPr/>
        </p:nvSpPr>
        <p:spPr bwMode="auto">
          <a:xfrm>
            <a:off x="6172200" y="639014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17</a:t>
            </a:r>
          </a:p>
        </p:txBody>
      </p:sp>
      <p:graphicFrame>
        <p:nvGraphicFramePr>
          <p:cNvPr id="2" name="Table 1">
            <a:extLst>
              <a:ext uri="{FF2B5EF4-FFF2-40B4-BE49-F238E27FC236}">
                <a16:creationId xmlns:a16="http://schemas.microsoft.com/office/drawing/2014/main" id="{0AE815D2-3B6F-478B-440D-87D3BFB5966E}"/>
              </a:ext>
            </a:extLst>
          </p:cNvPr>
          <p:cNvGraphicFramePr>
            <a:graphicFrameLocks noGrp="1"/>
          </p:cNvGraphicFramePr>
          <p:nvPr>
            <p:extLst>
              <p:ext uri="{D42A27DB-BD31-4B8C-83A1-F6EECF244321}">
                <p14:modId xmlns:p14="http://schemas.microsoft.com/office/powerpoint/2010/main" val="3571355084"/>
              </p:ext>
            </p:extLst>
          </p:nvPr>
        </p:nvGraphicFramePr>
        <p:xfrm>
          <a:off x="380999" y="2058326"/>
          <a:ext cx="8305802" cy="2870192"/>
        </p:xfrm>
        <a:graphic>
          <a:graphicData uri="http://schemas.openxmlformats.org/drawingml/2006/table">
            <a:tbl>
              <a:tblPr firstRow="1" bandRow="1"/>
              <a:tblGrid>
                <a:gridCol w="4152901">
                  <a:extLst>
                    <a:ext uri="{9D8B030D-6E8A-4147-A177-3AD203B41FA5}">
                      <a16:colId xmlns:a16="http://schemas.microsoft.com/office/drawing/2014/main" val="20000"/>
                    </a:ext>
                  </a:extLst>
                </a:gridCol>
                <a:gridCol w="4152901">
                  <a:extLst>
                    <a:ext uri="{9D8B030D-6E8A-4147-A177-3AD203B41FA5}">
                      <a16:colId xmlns:a16="http://schemas.microsoft.com/office/drawing/2014/main" val="20001"/>
                    </a:ext>
                  </a:extLst>
                </a:gridCol>
              </a:tblGrid>
              <a:tr h="71754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lang="en-CA" dirty="0">
                          <a:solidFill>
                            <a:schemeClr val="tx1"/>
                          </a:solidFill>
                        </a:rPr>
                        <a:t>Tool </a:t>
                      </a:r>
                      <a:endParaRPr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extLst>
                  <a:ext uri="{0D108BD9-81ED-4DB2-BD59-A6C34878D82A}">
                    <a16:rowId xmlns:a16="http://schemas.microsoft.com/office/drawing/2014/main" val="10000"/>
                  </a:ext>
                </a:extLst>
              </a:tr>
              <a:tr h="71754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project44 Movement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Digital Twin Systems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71754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err="1"/>
                        <a:t>Portcast</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Digital Twin for Air Cargo</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71754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AI Real-Time Visibility Tools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Azure Synapse ML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bl>
          </a:graphicData>
        </a:graphic>
      </p:graphicFrame>
      <p:sp>
        <p:nvSpPr>
          <p:cNvPr id="10" name="TextBox 9">
            <a:extLst>
              <a:ext uri="{FF2B5EF4-FFF2-40B4-BE49-F238E27FC236}">
                <a16:creationId xmlns:a16="http://schemas.microsoft.com/office/drawing/2014/main" id="{8101856D-B217-8061-40B2-BE23B49EBA7B}"/>
              </a:ext>
            </a:extLst>
          </p:cNvPr>
          <p:cNvSpPr txBox="1"/>
          <p:nvPr/>
        </p:nvSpPr>
        <p:spPr>
          <a:xfrm>
            <a:off x="271413" y="1355550"/>
            <a:ext cx="8491587" cy="523220"/>
          </a:xfrm>
          <a:prstGeom prst="rect">
            <a:avLst/>
          </a:prstGeom>
          <a:noFill/>
        </p:spPr>
        <p:txBody>
          <a:bodyPr wrap="square">
            <a:spAutoFit/>
          </a:bodyPr>
          <a:lstStyle/>
          <a:p>
            <a:r>
              <a:rPr lang="en-CA" sz="1400" dirty="0">
                <a:solidFill>
                  <a:schemeClr val="tx1"/>
                </a:solidFill>
              </a:rPr>
              <a:t>These tools fill visibility gaps by providing real-time tracking, disruption alerts, and estimated time of arrival (ETA) predictions across the supply chain.</a:t>
            </a:r>
          </a:p>
        </p:txBody>
      </p:sp>
    </p:spTree>
    <p:extLst>
      <p:ext uri="{BB962C8B-B14F-4D97-AF65-F5344CB8AC3E}">
        <p14:creationId xmlns:p14="http://schemas.microsoft.com/office/powerpoint/2010/main" val="327120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762DF-CBC3-94E0-C9EF-AEAFEFE6528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E0CEE780-1E26-1555-0488-AF4F1B89DE09}"/>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b="1" dirty="0">
                <a:solidFill>
                  <a:srgbClr val="000000"/>
                </a:solidFill>
                <a:latin typeface="+mj-lt"/>
                <a:ea typeface="+mj-ea"/>
                <a:cs typeface="+mj-cs"/>
              </a:rPr>
              <a:t>Deliverable 2: Classification Based on- Financial Reporting &amp; Forecasting</a:t>
            </a:r>
          </a:p>
          <a:p>
            <a:pPr>
              <a:spcAft>
                <a:spcPts val="600"/>
              </a:spcAft>
              <a:buFont typeface="Times New Roman" panose="02020603050405020304" pitchFamily="18" charset="0"/>
              <a:buNone/>
            </a:pPr>
            <a:endParaRPr lang="en-US" altLang="en-US" b="1" dirty="0">
              <a:solidFill>
                <a:srgbClr val="000000"/>
              </a:solidFill>
              <a:latin typeface="+mj-lt"/>
              <a:ea typeface="+mj-ea"/>
              <a:cs typeface="+mj-cs"/>
            </a:endParaRPr>
          </a:p>
        </p:txBody>
      </p:sp>
      <p:sp>
        <p:nvSpPr>
          <p:cNvPr id="4" name="Footer Placeholder 1">
            <a:extLst>
              <a:ext uri="{FF2B5EF4-FFF2-40B4-BE49-F238E27FC236}">
                <a16:creationId xmlns:a16="http://schemas.microsoft.com/office/drawing/2014/main" id="{76D19438-9600-3C94-0DCF-7DDB92B17860}"/>
              </a:ext>
            </a:extLst>
          </p:cNvPr>
          <p:cNvSpPr>
            <a:spLocks noGrp="1"/>
          </p:cNvSpPr>
          <p:nvPr>
            <p:ph type="ftr" idx="10"/>
          </p:nvPr>
        </p:nvSpPr>
        <p:spPr>
          <a:xfrm>
            <a:off x="609600" y="6400799"/>
            <a:ext cx="2667000" cy="446089"/>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5857602B-4A3B-D3CB-1668-EC2CD481FC8A}"/>
              </a:ext>
            </a:extLst>
          </p:cNvPr>
          <p:cNvSpPr txBox="1">
            <a:spLocks/>
          </p:cNvSpPr>
          <p:nvPr/>
        </p:nvSpPr>
        <p:spPr bwMode="auto">
          <a:xfrm>
            <a:off x="3733800" y="640079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B6949906-9DB0-D10A-4BE0-4EA9DCB8BBA2}"/>
              </a:ext>
            </a:extLst>
          </p:cNvPr>
          <p:cNvSpPr txBox="1">
            <a:spLocks/>
          </p:cNvSpPr>
          <p:nvPr/>
        </p:nvSpPr>
        <p:spPr bwMode="auto">
          <a:xfrm>
            <a:off x="6172200" y="639014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17</a:t>
            </a:r>
          </a:p>
        </p:txBody>
      </p:sp>
      <p:graphicFrame>
        <p:nvGraphicFramePr>
          <p:cNvPr id="10" name="Table 9">
            <a:extLst>
              <a:ext uri="{FF2B5EF4-FFF2-40B4-BE49-F238E27FC236}">
                <a16:creationId xmlns:a16="http://schemas.microsoft.com/office/drawing/2014/main" id="{6B25709A-306B-AD13-7CAC-B783032798AE}"/>
              </a:ext>
            </a:extLst>
          </p:cNvPr>
          <p:cNvGraphicFramePr>
            <a:graphicFrameLocks noGrp="1"/>
          </p:cNvGraphicFramePr>
          <p:nvPr>
            <p:extLst>
              <p:ext uri="{D42A27DB-BD31-4B8C-83A1-F6EECF244321}">
                <p14:modId xmlns:p14="http://schemas.microsoft.com/office/powerpoint/2010/main" val="1250684382"/>
              </p:ext>
            </p:extLst>
          </p:nvPr>
        </p:nvGraphicFramePr>
        <p:xfrm>
          <a:off x="373143" y="1905000"/>
          <a:ext cx="8305802" cy="4190998"/>
        </p:xfrm>
        <a:graphic>
          <a:graphicData uri="http://schemas.openxmlformats.org/drawingml/2006/table">
            <a:tbl>
              <a:tblPr firstRow="1" bandRow="1"/>
              <a:tblGrid>
                <a:gridCol w="4152901">
                  <a:extLst>
                    <a:ext uri="{9D8B030D-6E8A-4147-A177-3AD203B41FA5}">
                      <a16:colId xmlns:a16="http://schemas.microsoft.com/office/drawing/2014/main" val="20000"/>
                    </a:ext>
                  </a:extLst>
                </a:gridCol>
                <a:gridCol w="4152901">
                  <a:extLst>
                    <a:ext uri="{9D8B030D-6E8A-4147-A177-3AD203B41FA5}">
                      <a16:colId xmlns:a16="http://schemas.microsoft.com/office/drawing/2014/main" val="20001"/>
                    </a:ext>
                  </a:extLst>
                </a:gridCol>
              </a:tblGrid>
              <a:tr h="59871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extLst>
                  <a:ext uri="{0D108BD9-81ED-4DB2-BD59-A6C34878D82A}">
                    <a16:rowId xmlns:a16="http://schemas.microsoft.com/office/drawing/2014/main" val="10000"/>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Time Series Surge Detection Tool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Facility Flow Forecaster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Demand Forecasting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Joint Replenishment Optimizer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AI for Inventory Optimization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Perishable Inventory AI Planner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AI Predictive Analytics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Omnichannel Fulfillment AI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Demand Forecasting Engine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Inventory Management System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5987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ML-Based Inventory Optimizer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bl>
          </a:graphicData>
        </a:graphic>
      </p:graphicFrame>
      <p:sp>
        <p:nvSpPr>
          <p:cNvPr id="12" name="TextBox 11">
            <a:extLst>
              <a:ext uri="{FF2B5EF4-FFF2-40B4-BE49-F238E27FC236}">
                <a16:creationId xmlns:a16="http://schemas.microsoft.com/office/drawing/2014/main" id="{BC4BB42C-16BC-E56D-E814-D2000F88954A}"/>
              </a:ext>
            </a:extLst>
          </p:cNvPr>
          <p:cNvSpPr txBox="1"/>
          <p:nvPr/>
        </p:nvSpPr>
        <p:spPr>
          <a:xfrm>
            <a:off x="347613" y="1229380"/>
            <a:ext cx="8567787" cy="523220"/>
          </a:xfrm>
          <a:prstGeom prst="rect">
            <a:avLst/>
          </a:prstGeom>
          <a:noFill/>
        </p:spPr>
        <p:txBody>
          <a:bodyPr wrap="square">
            <a:spAutoFit/>
          </a:bodyPr>
          <a:lstStyle/>
          <a:p>
            <a:r>
              <a:rPr lang="en-CA" sz="1400" dirty="0">
                <a:solidFill>
                  <a:schemeClr val="tx1"/>
                </a:solidFill>
              </a:rPr>
              <a:t>These tools tackle the challenge of poor forecasting by enabling accurate demand planning, inventory control, and financial prediction.</a:t>
            </a:r>
          </a:p>
        </p:txBody>
      </p:sp>
    </p:spTree>
    <p:extLst>
      <p:ext uri="{BB962C8B-B14F-4D97-AF65-F5344CB8AC3E}">
        <p14:creationId xmlns:p14="http://schemas.microsoft.com/office/powerpoint/2010/main" val="3610324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70BE-5048-5C65-9929-3AB43FD1BB6A}"/>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01F18862-29D7-691B-CD7E-FC64A2881B4D}"/>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b="1" dirty="0">
                <a:solidFill>
                  <a:srgbClr val="000000"/>
                </a:solidFill>
                <a:latin typeface="+mj-lt"/>
                <a:ea typeface="+mj-ea"/>
                <a:cs typeface="+mj-cs"/>
              </a:rPr>
              <a:t>Deliverable 2: Classification System -  Based on Small-Team Decision Support </a:t>
            </a:r>
          </a:p>
        </p:txBody>
      </p:sp>
      <p:sp>
        <p:nvSpPr>
          <p:cNvPr id="4" name="Footer Placeholder 1">
            <a:extLst>
              <a:ext uri="{FF2B5EF4-FFF2-40B4-BE49-F238E27FC236}">
                <a16:creationId xmlns:a16="http://schemas.microsoft.com/office/drawing/2014/main" id="{33E1A36B-3386-3F53-C383-B52745AE17F1}"/>
              </a:ext>
            </a:extLst>
          </p:cNvPr>
          <p:cNvSpPr>
            <a:spLocks noGrp="1"/>
          </p:cNvSpPr>
          <p:nvPr>
            <p:ph type="ftr" idx="10"/>
          </p:nvPr>
        </p:nvSpPr>
        <p:spPr>
          <a:xfrm>
            <a:off x="609600" y="6400799"/>
            <a:ext cx="2667000" cy="446089"/>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F57C0A19-1902-48B5-9719-3BF26769EDFB}"/>
              </a:ext>
            </a:extLst>
          </p:cNvPr>
          <p:cNvSpPr txBox="1">
            <a:spLocks/>
          </p:cNvSpPr>
          <p:nvPr/>
        </p:nvSpPr>
        <p:spPr bwMode="auto">
          <a:xfrm>
            <a:off x="3733800" y="640079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E5C04245-1849-E127-FD8F-C0B00080971D}"/>
              </a:ext>
            </a:extLst>
          </p:cNvPr>
          <p:cNvSpPr txBox="1">
            <a:spLocks/>
          </p:cNvSpPr>
          <p:nvPr/>
        </p:nvSpPr>
        <p:spPr bwMode="auto">
          <a:xfrm>
            <a:off x="6172200" y="6390149"/>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17</a:t>
            </a:r>
          </a:p>
        </p:txBody>
      </p:sp>
      <p:graphicFrame>
        <p:nvGraphicFramePr>
          <p:cNvPr id="2" name="Table 1">
            <a:extLst>
              <a:ext uri="{FF2B5EF4-FFF2-40B4-BE49-F238E27FC236}">
                <a16:creationId xmlns:a16="http://schemas.microsoft.com/office/drawing/2014/main" id="{175CF684-7BE0-76C2-7872-7BF87C4C2F03}"/>
              </a:ext>
            </a:extLst>
          </p:cNvPr>
          <p:cNvGraphicFramePr>
            <a:graphicFrameLocks noGrp="1"/>
          </p:cNvGraphicFramePr>
          <p:nvPr>
            <p:extLst>
              <p:ext uri="{D42A27DB-BD31-4B8C-83A1-F6EECF244321}">
                <p14:modId xmlns:p14="http://schemas.microsoft.com/office/powerpoint/2010/main" val="688190533"/>
              </p:ext>
            </p:extLst>
          </p:nvPr>
        </p:nvGraphicFramePr>
        <p:xfrm>
          <a:off x="381000" y="1905000"/>
          <a:ext cx="8382000" cy="4474503"/>
        </p:xfrm>
        <a:graphic>
          <a:graphicData uri="http://schemas.openxmlformats.org/drawingml/2006/table">
            <a:tbl>
              <a:tblPr firstRow="1" bandRow="1"/>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0677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solidFill>
                            <a:schemeClr val="tx1"/>
                          </a:solidFill>
                        </a:rPr>
                        <a:t>Tool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CE5FF"/>
                    </a:solidFill>
                  </a:tcPr>
                </a:tc>
                <a:extLst>
                  <a:ext uri="{0D108BD9-81ED-4DB2-BD59-A6C34878D82A}">
                    <a16:rowId xmlns:a16="http://schemas.microsoft.com/office/drawing/2014/main" val="10000"/>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Supply Chain Resilience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Cassava Crop Disease Detector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Operational Efficiency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Google Translate (African LLM Expansion)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Enhanced Decision-Making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MedLM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Generative AI (ChatGPT, LLMs)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CoDoC</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Explainable AI (XAI)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Gemma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No-Code AI Logistics Builder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AlphaFold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AI-Enhanced Workflow Engine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Fraud Detection Systems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Chatbots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Robotic Systems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Chatbot for Shipment Status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AI for Predictive Maintenance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9"/>
                  </a:ext>
                </a:extLst>
              </a:tr>
              <a:tr h="40677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Jacaranda AI Maternal Health Tool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10"/>
                  </a:ext>
                </a:extLst>
              </a:tr>
            </a:tbl>
          </a:graphicData>
        </a:graphic>
      </p:graphicFrame>
      <p:sp>
        <p:nvSpPr>
          <p:cNvPr id="10" name="TextBox 9">
            <a:extLst>
              <a:ext uri="{FF2B5EF4-FFF2-40B4-BE49-F238E27FC236}">
                <a16:creationId xmlns:a16="http://schemas.microsoft.com/office/drawing/2014/main" id="{4E3A2BE4-61BE-BE93-0A93-1A174BDBA28A}"/>
              </a:ext>
            </a:extLst>
          </p:cNvPr>
          <p:cNvSpPr txBox="1"/>
          <p:nvPr/>
        </p:nvSpPr>
        <p:spPr>
          <a:xfrm>
            <a:off x="309513" y="1281244"/>
            <a:ext cx="8682087" cy="523220"/>
          </a:xfrm>
          <a:prstGeom prst="rect">
            <a:avLst/>
          </a:prstGeom>
          <a:noFill/>
        </p:spPr>
        <p:txBody>
          <a:bodyPr wrap="square">
            <a:spAutoFit/>
          </a:bodyPr>
          <a:lstStyle/>
          <a:p>
            <a:r>
              <a:rPr lang="en-CA" sz="1400" dirty="0">
                <a:solidFill>
                  <a:schemeClr val="tx1"/>
                </a:solidFill>
              </a:rPr>
              <a:t>These tools support lean teams by automating tactical decisions, simplifying workflows, and reducing manual effort through AI.</a:t>
            </a:r>
          </a:p>
        </p:txBody>
      </p:sp>
    </p:spTree>
    <p:extLst>
      <p:ext uri="{BB962C8B-B14F-4D97-AF65-F5344CB8AC3E}">
        <p14:creationId xmlns:p14="http://schemas.microsoft.com/office/powerpoint/2010/main" val="1743772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60073-49B3-3631-8F11-E3A61FEB282E}"/>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3E0EC5ED-F2EB-306C-E8F6-4D1D5C6FE40C}"/>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b="1" dirty="0">
                <a:solidFill>
                  <a:srgbClr val="000000"/>
                </a:solidFill>
                <a:latin typeface="+mj-lt"/>
                <a:ea typeface="+mj-ea"/>
                <a:cs typeface="+mj-cs"/>
              </a:rPr>
              <a:t>Deliverable 3: Tool Evaluation Matrix </a:t>
            </a:r>
          </a:p>
        </p:txBody>
      </p:sp>
      <p:sp>
        <p:nvSpPr>
          <p:cNvPr id="5" name="Text Box 5">
            <a:extLst>
              <a:ext uri="{FF2B5EF4-FFF2-40B4-BE49-F238E27FC236}">
                <a16:creationId xmlns:a16="http://schemas.microsoft.com/office/drawing/2014/main" id="{A5B5934B-05D1-900E-3957-AC8B566161A0}"/>
              </a:ext>
            </a:extLst>
          </p:cNvPr>
          <p:cNvSpPr txBox="1">
            <a:spLocks noChangeArrowheads="1"/>
          </p:cNvSpPr>
          <p:nvPr/>
        </p:nvSpPr>
        <p:spPr bwMode="auto">
          <a:xfrm>
            <a:off x="76200" y="1066800"/>
            <a:ext cx="8763000" cy="541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lgn="just" eaLnBrk="1" hangingPunct="1">
              <a:spcBef>
                <a:spcPts val="600"/>
              </a:spcBef>
              <a:buClrTx/>
              <a:buFontTx/>
              <a:buNone/>
            </a:pPr>
            <a:r>
              <a:rPr lang="en-CA"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Approach: </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We used Multi-Criteria Decision Analysis (MCDA) to evaluate 65 AI logistics tools and rank their fit to ATD’s Canada Africa priorities.</a:t>
            </a: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31788" algn="just" eaLnBrk="1" hangingPunct="1">
              <a:spcBef>
                <a:spcPts val="600"/>
              </a:spcBef>
              <a:buClrTx/>
              <a:buFontTx/>
              <a:buNone/>
              <a:tabLst>
                <a:tab pos="0" algn="l"/>
                <a:tab pos="182563"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Evaluation dimensions (weighted 1–5)</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Integration Readiness — How quickly a 1–5-person team can connect (APIs/connectors, CSV/Excel, SSO) without engineers.</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Scalability — Ability to grow lanes/users/shipments without re-platforming; reliable performance and SME-friendly pricing.</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Real-Time Visibility — Live event updates, predictive ETAs, and exception alerts across carriers (not just periodic status pages).</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Ease of Use — Day-one usability for non-technical staff; no/low-code setup, clear UI, templates, mobile access.</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Cost Efficiency — Low total cost-to-serve (license + setup + usage) with measurable reduction in manual touches.</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Paperwork &amp; Reports Automation — Customs/compliance docs (HS codes, auto-forms, OCR/IDP) plus exportable ops/finance reports.</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marL="0" indent="0" algn="just"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Scoring outcome : </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Top performers consistently excelled in Scalability, Real-Time Visibility, and Paperwork &amp; Reports Automation—capabilities that drive efficient cross-border operations.</a:t>
            </a:r>
          </a:p>
          <a:p>
            <a:pPr marL="0" indent="0" algn="just" eaLnBrk="1" hangingPunct="1">
              <a:spcBef>
                <a:spcPts val="600"/>
              </a:spcBef>
              <a:buClrTx/>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Validation &amp; sensitivity checks :</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Sensitivity analysis: Tested alternate weight vectors (Cost↑, Integration↑, Visibility↑). Top-2 </a:t>
            </a:r>
            <a:r>
              <a:rPr lang="en-CA" sz="1400" dirty="0">
                <a:solidFill>
                  <a:schemeClr val="tx1"/>
                </a:solidFill>
              </a:rPr>
              <a:t>(</a:t>
            </a:r>
            <a:r>
              <a:rPr lang="en-CA" sz="1400" b="1" dirty="0" err="1">
                <a:solidFill>
                  <a:schemeClr val="tx1"/>
                </a:solidFill>
              </a:rPr>
              <a:t>Flexport</a:t>
            </a:r>
            <a:r>
              <a:rPr lang="en-CA" sz="1400" dirty="0">
                <a:solidFill>
                  <a:schemeClr val="tx1"/>
                </a:solidFill>
              </a:rPr>
              <a:t> &amp; KlearNow.AI) </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ranking stayed stable.</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Case-study validation: Shortlist cross-checked with real use cases (e.g., KlearNow.AI, </a:t>
            </a:r>
            <a:r>
              <a:rPr lang="en-US"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Flexport</a:t>
            </a: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Kobo360).</a:t>
            </a:r>
          </a:p>
          <a:p>
            <a:pPr marL="285750" indent="-285750" algn="just" eaLnBrk="1" hangingPunct="1">
              <a:spcBef>
                <a:spcPts val="600"/>
              </a:spcBef>
              <a:buClrTx/>
              <a:buFont typeface="Arial" panose="020B0604020202020204" pitchFamily="34" charset="0"/>
              <a:buChar char="•"/>
              <a:tabLst>
                <a:tab pos="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Transparency: </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Full criteria, weights, and calculations are documented in Report Ch. 3–4 &amp; Appendix C. (</a:t>
            </a:r>
            <a:r>
              <a:rPr lang="en-CA" altLang="en-US" sz="1200" i="1" dirty="0">
                <a:solidFill>
                  <a:schemeClr val="tx1"/>
                </a:solidFill>
                <a:latin typeface="Calibri" panose="020F0502020204030204" pitchFamily="34" charset="0"/>
                <a:ea typeface="Calibri" panose="020F0502020204030204" pitchFamily="34" charset="0"/>
                <a:cs typeface="Calibri" panose="020F0502020204030204" pitchFamily="34" charset="0"/>
              </a:rPr>
              <a:t>Note: Sensitivity checks, and case-study validation included. See Report Ch. 3–4 &amp; Appendix C.)</a:t>
            </a:r>
            <a:endParaRPr lang="en-US" altLang="en-US" sz="1200" i="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1">
            <a:extLst>
              <a:ext uri="{FF2B5EF4-FFF2-40B4-BE49-F238E27FC236}">
                <a16:creationId xmlns:a16="http://schemas.microsoft.com/office/drawing/2014/main" id="{9B8D3041-3EC6-EC87-3061-79A988B861BC}"/>
              </a:ext>
            </a:extLst>
          </p:cNvPr>
          <p:cNvSpPr>
            <a:spLocks noGrp="1"/>
          </p:cNvSpPr>
          <p:nvPr>
            <p:ph type="ftr" idx="10"/>
          </p:nvPr>
        </p:nvSpPr>
        <p:spPr>
          <a:xfrm>
            <a:off x="609600" y="6400800"/>
            <a:ext cx="2590800" cy="446088"/>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A25CFD3C-6F8B-0A13-8DFD-6985CB4B32D3}"/>
              </a:ext>
            </a:extLst>
          </p:cNvPr>
          <p:cNvSpPr txBox="1">
            <a:spLocks/>
          </p:cNvSpPr>
          <p:nvPr/>
        </p:nvSpPr>
        <p:spPr bwMode="auto">
          <a:xfrm>
            <a:off x="377571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7" name="Footer Placeholder 1">
            <a:extLst>
              <a:ext uri="{FF2B5EF4-FFF2-40B4-BE49-F238E27FC236}">
                <a16:creationId xmlns:a16="http://schemas.microsoft.com/office/drawing/2014/main" id="{F93432AF-FEDC-FAED-CCA0-1B876E735F85}"/>
              </a:ext>
            </a:extLst>
          </p:cNvPr>
          <p:cNvSpPr txBox="1">
            <a:spLocks/>
          </p:cNvSpPr>
          <p:nvPr/>
        </p:nvSpPr>
        <p:spPr bwMode="auto">
          <a:xfrm>
            <a:off x="629031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18 </a:t>
            </a:r>
          </a:p>
        </p:txBody>
      </p:sp>
    </p:spTree>
    <p:extLst>
      <p:ext uri="{BB962C8B-B14F-4D97-AF65-F5344CB8AC3E}">
        <p14:creationId xmlns:p14="http://schemas.microsoft.com/office/powerpoint/2010/main" val="285873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D7DD-5A22-2916-887C-9C4CC2F1CAF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E422E958-9390-5CD4-F5ED-5901C74FC053}"/>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pPr>
            <a:r>
              <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Deliverable 3. </a:t>
            </a:r>
            <a:r>
              <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Top-Ranked Tools Based on MCDA Scores	</a:t>
            </a:r>
            <a:endParaRPr lang="en-US" alt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 Box 5">
            <a:extLst>
              <a:ext uri="{FF2B5EF4-FFF2-40B4-BE49-F238E27FC236}">
                <a16:creationId xmlns:a16="http://schemas.microsoft.com/office/drawing/2014/main" id="{B128F174-77C3-8FFB-1062-6A9A0FFCB8C8}"/>
              </a:ext>
            </a:extLst>
          </p:cNvPr>
          <p:cNvSpPr txBox="1">
            <a:spLocks noChangeArrowheads="1"/>
          </p:cNvSpPr>
          <p:nvPr/>
        </p:nvSpPr>
        <p:spPr bwMode="auto">
          <a:xfrm>
            <a:off x="76200" y="1371600"/>
            <a:ext cx="8763000" cy="5132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pPr>
            <a:r>
              <a:rPr lang="en-US" altLang="en-US" sz="1400" b="1" dirty="0">
                <a:solidFill>
                  <a:schemeClr val="tx1"/>
                </a:solidFill>
                <a:cs typeface="Times New Roman" panose="02020603050405020304" pitchFamily="18" charset="0"/>
              </a:rPr>
              <a:t>										</a:t>
            </a: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r>
              <a:rPr lang="en-CA" altLang="en-US" sz="1400" dirty="0">
                <a:solidFill>
                  <a:schemeClr val="tx1"/>
                </a:solidFill>
                <a:cs typeface="Times New Roman" panose="02020603050405020304" pitchFamily="18" charset="0"/>
              </a:rPr>
              <a:t>This chart shows the top 10 tools based on their average evaluation scores.</a:t>
            </a:r>
          </a:p>
          <a:p>
            <a:pPr eaLnBrk="1" hangingPunct="1">
              <a:spcBef>
                <a:spcPts val="600"/>
              </a:spcBef>
              <a:buClrTx/>
            </a:pPr>
            <a:r>
              <a:rPr lang="en-CA" altLang="en-US" sz="1400" dirty="0">
                <a:solidFill>
                  <a:schemeClr val="tx1"/>
                </a:solidFill>
                <a:cs typeface="Times New Roman" panose="02020603050405020304" pitchFamily="18" charset="0"/>
              </a:rPr>
              <a:t>•	</a:t>
            </a:r>
            <a:r>
              <a:rPr lang="en-CA" altLang="en-US" sz="1400" dirty="0" err="1">
                <a:solidFill>
                  <a:schemeClr val="tx1"/>
                </a:solidFill>
                <a:cs typeface="Times New Roman" panose="02020603050405020304" pitchFamily="18" charset="0"/>
              </a:rPr>
              <a:t>Flexport</a:t>
            </a:r>
            <a:r>
              <a:rPr lang="en-CA" altLang="en-US" sz="1400" dirty="0">
                <a:solidFill>
                  <a:schemeClr val="tx1"/>
                </a:solidFill>
                <a:cs typeface="Times New Roman" panose="02020603050405020304" pitchFamily="18" charset="0"/>
              </a:rPr>
              <a:t> and KlearNow.AI clearly lead with a score of 4.7.</a:t>
            </a:r>
          </a:p>
          <a:p>
            <a:pPr eaLnBrk="1" hangingPunct="1">
              <a:spcBef>
                <a:spcPts val="600"/>
              </a:spcBef>
              <a:buClrTx/>
            </a:pPr>
            <a:r>
              <a:rPr lang="en-CA" altLang="en-US" sz="1400" dirty="0">
                <a:solidFill>
                  <a:schemeClr val="tx1"/>
                </a:solidFill>
                <a:cs typeface="Times New Roman" panose="02020603050405020304" pitchFamily="18" charset="0"/>
              </a:rPr>
              <a:t>•	</a:t>
            </a:r>
            <a:r>
              <a:rPr lang="en-CA" altLang="en-US" sz="1400" dirty="0" err="1">
                <a:solidFill>
                  <a:schemeClr val="tx1"/>
                </a:solidFill>
                <a:cs typeface="Times New Roman" panose="02020603050405020304" pitchFamily="18" charset="0"/>
              </a:rPr>
              <a:t>Freightos</a:t>
            </a:r>
            <a:r>
              <a:rPr lang="en-CA" altLang="en-US" sz="1400" dirty="0">
                <a:solidFill>
                  <a:schemeClr val="tx1"/>
                </a:solidFill>
                <a:cs typeface="Times New Roman" panose="02020603050405020304" pitchFamily="18" charset="0"/>
              </a:rPr>
              <a:t>, </a:t>
            </a:r>
            <a:r>
              <a:rPr lang="en-CA" altLang="en-US" sz="1400" dirty="0" err="1">
                <a:solidFill>
                  <a:schemeClr val="tx1"/>
                </a:solidFill>
                <a:cs typeface="Times New Roman" panose="02020603050405020304" pitchFamily="18" charset="0"/>
              </a:rPr>
              <a:t>TradeSun</a:t>
            </a:r>
            <a:r>
              <a:rPr lang="en-CA" altLang="en-US" sz="1400" dirty="0">
                <a:solidFill>
                  <a:schemeClr val="tx1"/>
                </a:solidFill>
                <a:cs typeface="Times New Roman" panose="02020603050405020304" pitchFamily="18" charset="0"/>
              </a:rPr>
              <a:t>, and project44 Movement also show strong balanced performance.</a:t>
            </a:r>
          </a:p>
          <a:p>
            <a:pPr eaLnBrk="1" hangingPunct="1">
              <a:spcBef>
                <a:spcPts val="600"/>
              </a:spcBef>
              <a:buClrTx/>
            </a:pPr>
            <a:r>
              <a:rPr lang="en-CA" altLang="en-US" sz="1400" dirty="0">
                <a:solidFill>
                  <a:schemeClr val="tx1"/>
                </a:solidFill>
                <a:cs typeface="Times New Roman" panose="02020603050405020304" pitchFamily="18" charset="0"/>
              </a:rPr>
              <a:t>•	The bar heights show how close or far apart tools are in total value, which supports prioritization.</a:t>
            </a:r>
          </a:p>
          <a:p>
            <a:pPr eaLnBrk="1" hangingPunct="1">
              <a:spcBef>
                <a:spcPts val="600"/>
              </a:spcBef>
              <a:buClrTx/>
              <a:buFontTx/>
              <a:buNone/>
            </a:pPr>
            <a:endParaRPr lang="en-US" altLang="en-US" sz="1400" dirty="0">
              <a:solidFill>
                <a:schemeClr val="tx1"/>
              </a:solidFill>
              <a:cs typeface="Times New Roman" panose="02020603050405020304" pitchFamily="18" charset="0"/>
            </a:endParaRPr>
          </a:p>
        </p:txBody>
      </p:sp>
      <p:sp>
        <p:nvSpPr>
          <p:cNvPr id="4" name="Footer Placeholder 1">
            <a:extLst>
              <a:ext uri="{FF2B5EF4-FFF2-40B4-BE49-F238E27FC236}">
                <a16:creationId xmlns:a16="http://schemas.microsoft.com/office/drawing/2014/main" id="{7C952CC9-B668-B1D6-CC44-4EC1C1D191B0}"/>
              </a:ext>
            </a:extLst>
          </p:cNvPr>
          <p:cNvSpPr>
            <a:spLocks noGrp="1"/>
          </p:cNvSpPr>
          <p:nvPr>
            <p:ph type="ftr" idx="10"/>
          </p:nvPr>
        </p:nvSpPr>
        <p:spPr>
          <a:xfrm>
            <a:off x="533400" y="6373812"/>
            <a:ext cx="2743200" cy="331788"/>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6" name="Footer Placeholder 1">
            <a:extLst>
              <a:ext uri="{FF2B5EF4-FFF2-40B4-BE49-F238E27FC236}">
                <a16:creationId xmlns:a16="http://schemas.microsoft.com/office/drawing/2014/main" id="{CF74F556-4089-E0E1-4347-0CB21EB10419}"/>
              </a:ext>
            </a:extLst>
          </p:cNvPr>
          <p:cNvSpPr txBox="1">
            <a:spLocks/>
          </p:cNvSpPr>
          <p:nvPr/>
        </p:nvSpPr>
        <p:spPr bwMode="auto">
          <a:xfrm>
            <a:off x="3810000" y="6389831"/>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8" name="Footer Placeholder 1">
            <a:extLst>
              <a:ext uri="{FF2B5EF4-FFF2-40B4-BE49-F238E27FC236}">
                <a16:creationId xmlns:a16="http://schemas.microsoft.com/office/drawing/2014/main" id="{87E24916-70A3-FD42-4022-9DBC2DC5F99B}"/>
              </a:ext>
            </a:extLst>
          </p:cNvPr>
          <p:cNvSpPr txBox="1">
            <a:spLocks/>
          </p:cNvSpPr>
          <p:nvPr/>
        </p:nvSpPr>
        <p:spPr bwMode="auto">
          <a:xfrm>
            <a:off x="5867400" y="6351731"/>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19</a:t>
            </a:r>
          </a:p>
        </p:txBody>
      </p:sp>
      <p:pic>
        <p:nvPicPr>
          <p:cNvPr id="2" name="Picture 1">
            <a:extLst>
              <a:ext uri="{FF2B5EF4-FFF2-40B4-BE49-F238E27FC236}">
                <a16:creationId xmlns:a16="http://schemas.microsoft.com/office/drawing/2014/main" id="{A2B43786-EE29-9778-9CE3-441E9E21D406}"/>
              </a:ext>
            </a:extLst>
          </p:cNvPr>
          <p:cNvPicPr>
            <a:picLocks noChangeAspect="1"/>
          </p:cNvPicPr>
          <p:nvPr/>
        </p:nvPicPr>
        <p:blipFill>
          <a:blip r:embed="rId2"/>
          <a:stretch>
            <a:fillRect/>
          </a:stretch>
        </p:blipFill>
        <p:spPr>
          <a:xfrm>
            <a:off x="304800" y="1143000"/>
            <a:ext cx="7696201" cy="3810000"/>
          </a:xfrm>
          <a:prstGeom prst="rect">
            <a:avLst/>
          </a:prstGeom>
        </p:spPr>
      </p:pic>
    </p:spTree>
    <p:extLst>
      <p:ext uri="{BB962C8B-B14F-4D97-AF65-F5344CB8AC3E}">
        <p14:creationId xmlns:p14="http://schemas.microsoft.com/office/powerpoint/2010/main" val="287423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CA09-4EE8-DF5E-40B5-0CFFA07240EA}"/>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CDC7653A-E4F8-77DC-11DF-2D3B5145DC6D}"/>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b="1" dirty="0">
                <a:solidFill>
                  <a:srgbClr val="000000"/>
                </a:solidFill>
                <a:latin typeface="+mj-lt"/>
                <a:ea typeface="+mj-ea"/>
                <a:cs typeface="+mj-cs"/>
              </a:rPr>
              <a:t>Deliverable 3: Performance Comparison  (Criteria-Based Performance)</a:t>
            </a:r>
          </a:p>
        </p:txBody>
      </p:sp>
      <p:sp>
        <p:nvSpPr>
          <p:cNvPr id="5" name="Text Box 5">
            <a:extLst>
              <a:ext uri="{FF2B5EF4-FFF2-40B4-BE49-F238E27FC236}">
                <a16:creationId xmlns:a16="http://schemas.microsoft.com/office/drawing/2014/main" id="{76D4EB92-39D3-B2B6-CE15-C3D224A519D4}"/>
              </a:ext>
            </a:extLst>
          </p:cNvPr>
          <p:cNvSpPr txBox="1">
            <a:spLocks noChangeArrowheads="1"/>
          </p:cNvSpPr>
          <p:nvPr/>
        </p:nvSpPr>
        <p:spPr bwMode="auto">
          <a:xfrm>
            <a:off x="73153" y="1261855"/>
            <a:ext cx="8763000" cy="5132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This heatmap shows how each of the top 10 tools performs across the six criteria:</a:t>
            </a:r>
          </a:p>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KlearNow.AI scores high in paperwork automation, visibility, and usability — ideal for customs workflows.</a:t>
            </a:r>
          </a:p>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CA"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Flexport</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is an all-rounder: strong integration, visibility, and scalability.</a:t>
            </a:r>
          </a:p>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project44 shines in integration and real-time visibility.</a:t>
            </a:r>
          </a:p>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Tools like Kobo360 and </a:t>
            </a:r>
            <a:r>
              <a:rPr lang="en-CA" alt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Portcast</a:t>
            </a: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show mid-range performance, suitable for niche needs.</a:t>
            </a:r>
          </a:p>
          <a:p>
            <a:pPr eaLnBrk="1" hangingPunct="1">
              <a:spcBef>
                <a:spcPts val="600"/>
              </a:spcBef>
              <a:buClrTx/>
            </a:pPr>
            <a:r>
              <a:rPr lang="en-CA"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The heatmap helps identify tools that excel in specific categories even if their total score isn't the highest.</a:t>
            </a: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algn="ctr" eaLnBrk="1" hangingPunct="1">
              <a:spcBef>
                <a:spcPts val="600"/>
              </a:spcBef>
              <a:buClrTx/>
            </a:pPr>
            <a:r>
              <a:rPr lang="en-US" altLang="en-US" sz="1400" b="1" dirty="0">
                <a:solidFill>
                  <a:schemeClr val="tx1"/>
                </a:solidFill>
                <a:cs typeface="Times New Roman" panose="02020603050405020304" pitchFamily="18" charset="0"/>
              </a:rPr>
              <a:t>	</a:t>
            </a:r>
            <a:r>
              <a:rPr lang="en-CA" altLang="en-US" sz="1400" b="1" i="1" dirty="0">
                <a:solidFill>
                  <a:schemeClr val="tx1"/>
                </a:solidFill>
                <a:cs typeface="Times New Roman" panose="02020603050405020304" pitchFamily="18" charset="0"/>
              </a:rPr>
              <a:t>Heatmap of top 10 criteria-based performance</a:t>
            </a:r>
            <a:endParaRPr lang="en-US" altLang="en-US" sz="1400" i="1" dirty="0">
              <a:solidFill>
                <a:schemeClr val="tx1"/>
              </a:solidFill>
              <a:cs typeface="Times New Roman" panose="02020603050405020304" pitchFamily="18" charset="0"/>
            </a:endParaRPr>
          </a:p>
        </p:txBody>
      </p:sp>
      <p:sp>
        <p:nvSpPr>
          <p:cNvPr id="6" name="Footer Placeholder 1">
            <a:extLst>
              <a:ext uri="{FF2B5EF4-FFF2-40B4-BE49-F238E27FC236}">
                <a16:creationId xmlns:a16="http://schemas.microsoft.com/office/drawing/2014/main" id="{FF725186-1160-CB30-F8A6-7C831627B39F}"/>
              </a:ext>
            </a:extLst>
          </p:cNvPr>
          <p:cNvSpPr txBox="1">
            <a:spLocks/>
          </p:cNvSpPr>
          <p:nvPr/>
        </p:nvSpPr>
        <p:spPr bwMode="auto">
          <a:xfrm>
            <a:off x="167640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028B39DD-CE9F-B827-7F0B-C1C26C1864D4}"/>
              </a:ext>
            </a:extLst>
          </p:cNvPr>
          <p:cNvSpPr txBox="1">
            <a:spLocks/>
          </p:cNvSpPr>
          <p:nvPr/>
        </p:nvSpPr>
        <p:spPr bwMode="auto">
          <a:xfrm>
            <a:off x="4179570" y="6416458"/>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8" name="Footer Placeholder 1">
            <a:extLst>
              <a:ext uri="{FF2B5EF4-FFF2-40B4-BE49-F238E27FC236}">
                <a16:creationId xmlns:a16="http://schemas.microsoft.com/office/drawing/2014/main" id="{DC25A551-EA4E-209D-2049-F91D240DA06B}"/>
              </a:ext>
            </a:extLst>
          </p:cNvPr>
          <p:cNvSpPr txBox="1">
            <a:spLocks/>
          </p:cNvSpPr>
          <p:nvPr/>
        </p:nvSpPr>
        <p:spPr bwMode="auto">
          <a:xfrm>
            <a:off x="645033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20 </a:t>
            </a:r>
          </a:p>
        </p:txBody>
      </p:sp>
      <p:pic>
        <p:nvPicPr>
          <p:cNvPr id="2" name="Picture 1">
            <a:extLst>
              <a:ext uri="{FF2B5EF4-FFF2-40B4-BE49-F238E27FC236}">
                <a16:creationId xmlns:a16="http://schemas.microsoft.com/office/drawing/2014/main" id="{40ABF028-A0E0-A221-20CA-200C2F044822}"/>
              </a:ext>
            </a:extLst>
          </p:cNvPr>
          <p:cNvPicPr>
            <a:picLocks noChangeAspect="1"/>
          </p:cNvPicPr>
          <p:nvPr/>
        </p:nvPicPr>
        <p:blipFill>
          <a:blip r:embed="rId2"/>
          <a:stretch>
            <a:fillRect/>
          </a:stretch>
        </p:blipFill>
        <p:spPr>
          <a:xfrm>
            <a:off x="0" y="3048001"/>
            <a:ext cx="9041130" cy="2971800"/>
          </a:xfrm>
          <a:prstGeom prst="rect">
            <a:avLst/>
          </a:prstGeom>
        </p:spPr>
      </p:pic>
    </p:spTree>
    <p:extLst>
      <p:ext uri="{BB962C8B-B14F-4D97-AF65-F5344CB8AC3E}">
        <p14:creationId xmlns:p14="http://schemas.microsoft.com/office/powerpoint/2010/main" val="75894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1754-D1B2-49DE-E9DC-2DC1CCC10916}"/>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CFC206CB-EED9-8A57-EB5C-26EAC4EA19C2}"/>
              </a:ext>
            </a:extLst>
          </p:cNvPr>
          <p:cNvSpPr txBox="1">
            <a:spLocks noChangeArrowheads="1"/>
          </p:cNvSpPr>
          <p:nvPr/>
        </p:nvSpPr>
        <p:spPr bwMode="auto">
          <a:xfrm>
            <a:off x="380999" y="11112"/>
            <a:ext cx="6161087"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000" tIns="46800" rIns="90000" bIns="46800" numCol="1" anchor="ctr" anchorCtr="0" compatLnSpc="1">
            <a:prstTxWarp prst="textNoShape">
              <a:avLst/>
            </a:prstTxWarp>
            <a:norm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spcAft>
                <a:spcPts val="600"/>
              </a:spcAft>
              <a:buFont typeface="Times New Roman" panose="02020603050405020304" pitchFamily="18" charset="0"/>
              <a:buNone/>
            </a:pPr>
            <a:r>
              <a:rPr lang="en-US" altLang="en-US" b="1" dirty="0">
                <a:solidFill>
                  <a:srgbClr val="000000"/>
                </a:solidFill>
                <a:latin typeface="+mj-lt"/>
                <a:ea typeface="+mj-ea"/>
                <a:cs typeface="+mj-cs"/>
              </a:rPr>
              <a:t>Deliverable 3: Performance Comparison of Top Five Tools</a:t>
            </a:r>
          </a:p>
        </p:txBody>
      </p:sp>
      <p:sp>
        <p:nvSpPr>
          <p:cNvPr id="5" name="Text Box 5">
            <a:extLst>
              <a:ext uri="{FF2B5EF4-FFF2-40B4-BE49-F238E27FC236}">
                <a16:creationId xmlns:a16="http://schemas.microsoft.com/office/drawing/2014/main" id="{0186FF5B-C575-06C0-89D6-FE5963B89F84}"/>
              </a:ext>
            </a:extLst>
          </p:cNvPr>
          <p:cNvSpPr txBox="1">
            <a:spLocks noChangeArrowheads="1"/>
          </p:cNvSpPr>
          <p:nvPr/>
        </p:nvSpPr>
        <p:spPr bwMode="auto">
          <a:xfrm>
            <a:off x="76200" y="1201748"/>
            <a:ext cx="8763000" cy="53027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39725" indent="-331788">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1pPr>
            <a:lvl2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2pPr>
            <a:lvl3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3pPr>
            <a:lvl4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4pPr>
            <a:lvl5pPr>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 pos="9601200" algn="l"/>
                <a:tab pos="10058400" algn="l"/>
                <a:tab pos="10515600" algn="l"/>
                <a:tab pos="10780713" algn="l"/>
              </a:tabLst>
              <a:defRPr sz="2400">
                <a:solidFill>
                  <a:srgbClr val="FFFFFF"/>
                </a:solidFill>
                <a:latin typeface="Times New Roman" panose="02020603050405020304" pitchFamily="18" charset="0"/>
                <a:ea typeface="MS Gothic" panose="020B0609070205080204" pitchFamily="49" charset="-128"/>
              </a:defRPr>
            </a:lvl9pPr>
          </a:lstStyle>
          <a:p>
            <a:pPr>
              <a:buNone/>
            </a:pPr>
            <a:r>
              <a:rPr lang="en-US" altLang="en-US" sz="1400" b="1" dirty="0">
                <a:solidFill>
                  <a:schemeClr val="tx1"/>
                </a:solidFill>
                <a:cs typeface="Times New Roman" panose="02020603050405020304" pitchFamily="18" charset="0"/>
              </a:rPr>
              <a:t>	</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radar chart visually compares the </a:t>
            </a: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top 5 tools</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across all six evaluation criteria:</a:t>
            </a:r>
            <a:endParaRPr lang="en-CA"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200000"/>
              </a:lnSpc>
              <a:buSzPts val="1000"/>
              <a:buFont typeface="Symbol" panose="05050102010706020507" pitchFamily="18" charset="2"/>
              <a:buChar char=""/>
              <a:tabLst>
                <a:tab pos="457200" algn="l"/>
              </a:tabLst>
            </a:pPr>
            <a:r>
              <a:rPr lang="en-US" sz="1400" b="1"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Flexport</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KlearNow.AI</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show wide, balanced coverage ideal for ATD’s multi-functional needs.</a:t>
            </a:r>
            <a:endParaRPr lang="en-CA"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200000"/>
              </a:lnSpc>
              <a:buSzPts val="1000"/>
              <a:buFont typeface="Symbol" panose="05050102010706020507" pitchFamily="18" charset="2"/>
              <a:buChar char=""/>
              <a:tabLst>
                <a:tab pos="457200" algn="l"/>
              </a:tabLst>
            </a:pPr>
            <a:r>
              <a:rPr lang="en-US" sz="1400" b="1"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TradeSun</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shows exceptional scores in paperwork and cost efficiency.</a:t>
            </a:r>
            <a:endParaRPr lang="en-CA"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200000"/>
              </a:lnSpc>
              <a:buSzPts val="1000"/>
              <a:buFont typeface="Symbol" panose="05050102010706020507" pitchFamily="18" charset="2"/>
              <a:buChar char=""/>
              <a:tabLst>
                <a:tab pos="457200" algn="l"/>
              </a:tabLst>
            </a:pP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project44</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is the leader in </a:t>
            </a: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integration</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real-time visibility</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critical for shipment tracking.</a:t>
            </a:r>
            <a:endParaRPr lang="en-CA"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200000"/>
              </a:lnSpc>
              <a:buSzPts val="1000"/>
              <a:buFont typeface="Symbol" panose="05050102010706020507" pitchFamily="18" charset="2"/>
              <a:buChar char=""/>
              <a:tabLst>
                <a:tab pos="457200" algn="l"/>
              </a:tabLst>
            </a:pPr>
            <a:r>
              <a:rPr lang="en-US" sz="1400" b="1"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Freightos</a:t>
            </a:r>
            <a:r>
              <a:rPr lang="en-US"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perform well with ease of use and cost but show moderate scalability.</a:t>
            </a:r>
            <a:endParaRPr lang="en-CA" sz="14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pPr>
            <a:endPar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eaLnBrk="1" hangingPunct="1">
              <a:spcBef>
                <a:spcPts val="600"/>
              </a:spcBef>
              <a:buClrTx/>
            </a:pPr>
            <a:r>
              <a:rPr lang="en-US" altLang="en-US" sz="1400" b="1" dirty="0">
                <a:solidFill>
                  <a:schemeClr val="tx1"/>
                </a:solidFill>
                <a:cs typeface="Times New Roman" panose="02020603050405020304" pitchFamily="18" charset="0"/>
              </a:rPr>
              <a:t>							</a:t>
            </a: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algn="ctr" eaLnBrk="1" hangingPunct="1">
              <a:spcBef>
                <a:spcPts val="600"/>
              </a:spcBef>
              <a:buClrTx/>
            </a:pPr>
            <a:r>
              <a:rPr lang="en-CA" altLang="en-US" sz="1400" b="1" i="1" dirty="0">
                <a:solidFill>
                  <a:schemeClr val="tx1"/>
                </a:solidFill>
                <a:cs typeface="Times New Roman" panose="02020603050405020304" pitchFamily="18" charset="0"/>
              </a:rPr>
              <a:t>Radar Chart: Top 5 Tools Comparison</a:t>
            </a:r>
            <a:endParaRPr lang="en-US" altLang="en-US" sz="1400" b="1" i="1" dirty="0">
              <a:solidFill>
                <a:schemeClr val="tx1"/>
              </a:solidFill>
              <a:cs typeface="Times New Roman" panose="02020603050405020304" pitchFamily="18" charset="0"/>
            </a:endParaRPr>
          </a:p>
          <a:p>
            <a:pPr algn="ctr" eaLnBrk="1" hangingPunct="1">
              <a:spcBef>
                <a:spcPts val="600"/>
              </a:spcBef>
              <a:buClrTx/>
            </a:pPr>
            <a:endParaRPr lang="en-US" altLang="en-US" sz="1400" b="1" i="1" dirty="0">
              <a:solidFill>
                <a:schemeClr val="tx1"/>
              </a:solidFill>
              <a:cs typeface="Times New Roman" panose="02020603050405020304" pitchFamily="18" charset="0"/>
            </a:endParaRPr>
          </a:p>
          <a:p>
            <a:pPr eaLnBrk="1" hangingPunct="1">
              <a:spcBef>
                <a:spcPts val="600"/>
              </a:spcBef>
              <a:buClrTx/>
            </a:pPr>
            <a:endParaRPr lang="en-US" altLang="en-US" sz="1400" b="1" dirty="0">
              <a:solidFill>
                <a:schemeClr val="tx1"/>
              </a:solidFill>
              <a:cs typeface="Times New Roman" panose="02020603050405020304" pitchFamily="18" charset="0"/>
            </a:endParaRPr>
          </a:p>
          <a:p>
            <a:pPr eaLnBrk="1" hangingPunct="1">
              <a:spcBef>
                <a:spcPts val="600"/>
              </a:spcBef>
              <a:buClrTx/>
            </a:pPr>
            <a:r>
              <a:rPr lang="en-US" altLang="en-US" sz="1400" b="1" dirty="0">
                <a:solidFill>
                  <a:schemeClr val="tx1"/>
                </a:solidFill>
                <a:cs typeface="Times New Roman" panose="02020603050405020304" pitchFamily="18" charset="0"/>
              </a:rPr>
              <a:t>	</a:t>
            </a:r>
            <a:endParaRPr lang="en-US" altLang="en-US" sz="1400" dirty="0">
              <a:solidFill>
                <a:schemeClr val="tx1"/>
              </a:solidFill>
              <a:cs typeface="Times New Roman" panose="02020603050405020304" pitchFamily="18" charset="0"/>
            </a:endParaRPr>
          </a:p>
        </p:txBody>
      </p:sp>
      <p:sp>
        <p:nvSpPr>
          <p:cNvPr id="6" name="Footer Placeholder 1">
            <a:extLst>
              <a:ext uri="{FF2B5EF4-FFF2-40B4-BE49-F238E27FC236}">
                <a16:creationId xmlns:a16="http://schemas.microsoft.com/office/drawing/2014/main" id="{3D4A3AD7-AB37-BB85-15FE-C60C6D8CF1BF}"/>
              </a:ext>
            </a:extLst>
          </p:cNvPr>
          <p:cNvSpPr txBox="1">
            <a:spLocks/>
          </p:cNvSpPr>
          <p:nvPr/>
        </p:nvSpPr>
        <p:spPr bwMode="auto">
          <a:xfrm>
            <a:off x="167640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1016FC29-E074-2FFC-2291-B30992B3F173}"/>
              </a:ext>
            </a:extLst>
          </p:cNvPr>
          <p:cNvSpPr txBox="1">
            <a:spLocks/>
          </p:cNvSpPr>
          <p:nvPr/>
        </p:nvSpPr>
        <p:spPr bwMode="auto">
          <a:xfrm>
            <a:off x="4179570" y="6416458"/>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r>
              <a:rPr lang="en-US" b="0" dirty="0">
                <a:latin typeface="Calibri" panose="020F0502020204030204" pitchFamily="34" charset="0"/>
                <a:ea typeface="Calibri" panose="020F0502020204030204" pitchFamily="34" charset="0"/>
                <a:cs typeface="Calibri" panose="020F0502020204030204" pitchFamily="34" charset="0"/>
              </a:rPr>
              <a:t>July 29th, 2025</a:t>
            </a:r>
          </a:p>
        </p:txBody>
      </p:sp>
      <p:sp>
        <p:nvSpPr>
          <p:cNvPr id="8" name="Footer Placeholder 1">
            <a:extLst>
              <a:ext uri="{FF2B5EF4-FFF2-40B4-BE49-F238E27FC236}">
                <a16:creationId xmlns:a16="http://schemas.microsoft.com/office/drawing/2014/main" id="{A810D5C5-CD7E-A417-4E0A-665018EBB892}"/>
              </a:ext>
            </a:extLst>
          </p:cNvPr>
          <p:cNvSpPr txBox="1">
            <a:spLocks/>
          </p:cNvSpPr>
          <p:nvPr/>
        </p:nvSpPr>
        <p:spPr bwMode="auto">
          <a:xfrm>
            <a:off x="6450330" y="6400800"/>
            <a:ext cx="2590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rm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20 </a:t>
            </a:r>
          </a:p>
        </p:txBody>
      </p:sp>
      <p:pic>
        <p:nvPicPr>
          <p:cNvPr id="2" name="Picture 1">
            <a:extLst>
              <a:ext uri="{FF2B5EF4-FFF2-40B4-BE49-F238E27FC236}">
                <a16:creationId xmlns:a16="http://schemas.microsoft.com/office/drawing/2014/main" id="{56CAD727-4897-068D-DF1A-F4F66143DC18}"/>
              </a:ext>
            </a:extLst>
          </p:cNvPr>
          <p:cNvPicPr>
            <a:picLocks noChangeAspect="1"/>
          </p:cNvPicPr>
          <p:nvPr/>
        </p:nvPicPr>
        <p:blipFill>
          <a:blip r:embed="rId2"/>
          <a:stretch>
            <a:fillRect/>
          </a:stretch>
        </p:blipFill>
        <p:spPr>
          <a:xfrm>
            <a:off x="76200" y="3124201"/>
            <a:ext cx="7952964" cy="2895600"/>
          </a:xfrm>
          <a:prstGeom prst="rect">
            <a:avLst/>
          </a:prstGeom>
        </p:spPr>
      </p:pic>
    </p:spTree>
    <p:extLst>
      <p:ext uri="{BB962C8B-B14F-4D97-AF65-F5344CB8AC3E}">
        <p14:creationId xmlns:p14="http://schemas.microsoft.com/office/powerpoint/2010/main" val="227696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C16FB-863D-AD60-0A7A-738C3B9437EF}"/>
              </a:ext>
            </a:extLst>
          </p:cNvPr>
          <p:cNvSpPr>
            <a:spLocks noGrp="1"/>
          </p:cNvSpPr>
          <p:nvPr>
            <p:ph type="title"/>
          </p:nvPr>
        </p:nvSpPr>
        <p:spPr>
          <a:xfrm>
            <a:off x="-26669" y="11112"/>
            <a:ext cx="7875270" cy="1131888"/>
          </a:xfrm>
        </p:spPr>
        <p:txBody>
          <a:bodyPr/>
          <a:lstStyle/>
          <a:p>
            <a:r>
              <a:rPr lang="en-US" altLang="en-US" sz="2600" b="1" dirty="0"/>
              <a:t>Deliverable 4: Implementation Roadmap-</a:t>
            </a:r>
            <a:br>
              <a:rPr lang="en-US" altLang="en-US" sz="2600" b="1" dirty="0"/>
            </a:br>
            <a:r>
              <a:rPr lang="en-US" altLang="en-US" sz="2600" b="1" dirty="0"/>
              <a:t>AI-First</a:t>
            </a:r>
            <a:endParaRPr lang="en-US" sz="2600" dirty="0"/>
          </a:p>
        </p:txBody>
      </p:sp>
      <p:sp>
        <p:nvSpPr>
          <p:cNvPr id="3" name="Content Placeholder 2">
            <a:extLst>
              <a:ext uri="{FF2B5EF4-FFF2-40B4-BE49-F238E27FC236}">
                <a16:creationId xmlns:a16="http://schemas.microsoft.com/office/drawing/2014/main" id="{D869CDCB-B3F7-8F3C-4C74-4A50651EC9DD}"/>
              </a:ext>
            </a:extLst>
          </p:cNvPr>
          <p:cNvSpPr>
            <a:spLocks noGrp="1"/>
          </p:cNvSpPr>
          <p:nvPr>
            <p:ph idx="1"/>
          </p:nvPr>
        </p:nvSpPr>
        <p:spPr>
          <a:xfrm>
            <a:off x="76200" y="1220150"/>
            <a:ext cx="8991600" cy="4865688"/>
          </a:xfrm>
        </p:spPr>
        <p:txBody>
          <a:bodyPr/>
          <a:lstStyle/>
          <a:p>
            <a:pPr marL="114300" indent="-57150">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	Deliverable 4 operationalizes the AI-First philosophy by designing a roadmap for the Africa Trade Desk (ATD) that places AI tools not as auxiliary enhancements, but as central actors in business functions—aligning with the core concept of AI-First businesses (Furrier, 2024; Mollick, 2025).  This roadmap builds on Deliverables 1 to 3.</a:t>
            </a:r>
          </a:p>
          <a:p>
            <a:r>
              <a:rPr lang="en-US" sz="1400" b="1" dirty="0">
                <a:latin typeface="Calibri" panose="020F0502020204030204" pitchFamily="34" charset="0"/>
                <a:ea typeface="Calibri" panose="020F0502020204030204" pitchFamily="34" charset="0"/>
                <a:cs typeface="Calibri" panose="020F0502020204030204" pitchFamily="34" charset="0"/>
              </a:rPr>
              <a:t>AI-First Roadmap Flow Diagram</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1">
            <a:extLst>
              <a:ext uri="{FF2B5EF4-FFF2-40B4-BE49-F238E27FC236}">
                <a16:creationId xmlns:a16="http://schemas.microsoft.com/office/drawing/2014/main" id="{EE9C229E-875E-0C80-2793-B60432DC7C97}"/>
              </a:ext>
            </a:extLst>
          </p:cNvPr>
          <p:cNvSpPr>
            <a:spLocks noGrp="1"/>
          </p:cNvSpPr>
          <p:nvPr>
            <p:ph type="ftr" idx="10"/>
          </p:nvPr>
        </p:nvSpPr>
        <p:spPr>
          <a:xfrm>
            <a:off x="609600" y="6400800"/>
            <a:ext cx="2590800" cy="446088"/>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9F59C076-DD83-8726-8A4D-9DB376D2F8A4}"/>
              </a:ext>
            </a:extLst>
          </p:cNvPr>
          <p:cNvSpPr txBox="1">
            <a:spLocks/>
          </p:cNvSpPr>
          <p:nvPr/>
        </p:nvSpPr>
        <p:spPr bwMode="auto">
          <a:xfrm>
            <a:off x="3467100" y="6427470"/>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2B6D846A-66E2-CDD5-FBD6-7E40BEDAC807}"/>
              </a:ext>
            </a:extLst>
          </p:cNvPr>
          <p:cNvSpPr txBox="1">
            <a:spLocks/>
          </p:cNvSpPr>
          <p:nvPr/>
        </p:nvSpPr>
        <p:spPr bwMode="auto">
          <a:xfrm>
            <a:off x="6324600" y="6411912"/>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22</a:t>
            </a:r>
          </a:p>
        </p:txBody>
      </p:sp>
      <p:pic>
        <p:nvPicPr>
          <p:cNvPr id="4" name="Picture 3">
            <a:extLst>
              <a:ext uri="{FF2B5EF4-FFF2-40B4-BE49-F238E27FC236}">
                <a16:creationId xmlns:a16="http://schemas.microsoft.com/office/drawing/2014/main" id="{258FFAB2-D3EA-AD19-6128-F67C8E4A441D}"/>
              </a:ext>
            </a:extLst>
          </p:cNvPr>
          <p:cNvPicPr>
            <a:picLocks noChangeAspect="1"/>
          </p:cNvPicPr>
          <p:nvPr/>
        </p:nvPicPr>
        <p:blipFill>
          <a:blip r:embed="rId2"/>
          <a:stretch>
            <a:fillRect/>
          </a:stretch>
        </p:blipFill>
        <p:spPr>
          <a:xfrm>
            <a:off x="3163824" y="2514600"/>
            <a:ext cx="2475191" cy="3810000"/>
          </a:xfrm>
          <a:prstGeom prst="rect">
            <a:avLst/>
          </a:prstGeom>
        </p:spPr>
      </p:pic>
    </p:spTree>
    <p:extLst>
      <p:ext uri="{BB962C8B-B14F-4D97-AF65-F5344CB8AC3E}">
        <p14:creationId xmlns:p14="http://schemas.microsoft.com/office/powerpoint/2010/main" val="1413437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AA74C-C6AE-6F91-CE2B-331819D6C064}"/>
              </a:ext>
            </a:extLst>
          </p:cNvPr>
          <p:cNvSpPr>
            <a:spLocks noGrp="1"/>
          </p:cNvSpPr>
          <p:nvPr>
            <p:ph type="title"/>
          </p:nvPr>
        </p:nvSpPr>
        <p:spPr/>
        <p:txBody>
          <a:bodyPr/>
          <a:lstStyle/>
          <a:p>
            <a:r>
              <a:rPr lang="en-US" altLang="en-US" sz="2400" b="1" dirty="0"/>
              <a:t>Deliverable 4: Implementation Roadmap-</a:t>
            </a:r>
            <a:br>
              <a:rPr lang="en-US" altLang="en-US" sz="2400" b="1" dirty="0"/>
            </a:br>
            <a:r>
              <a:rPr lang="en-US" altLang="en-US" sz="2400" b="1" dirty="0"/>
              <a:t>AI-First</a:t>
            </a:r>
            <a:endParaRPr lang="en-US" sz="2400" dirty="0"/>
          </a:p>
        </p:txBody>
      </p:sp>
      <p:sp>
        <p:nvSpPr>
          <p:cNvPr id="3" name="Content Placeholder 2">
            <a:extLst>
              <a:ext uri="{FF2B5EF4-FFF2-40B4-BE49-F238E27FC236}">
                <a16:creationId xmlns:a16="http://schemas.microsoft.com/office/drawing/2014/main" id="{D2170A35-8648-AB7A-1E2D-39C533D940A0}"/>
              </a:ext>
            </a:extLst>
          </p:cNvPr>
          <p:cNvSpPr>
            <a:spLocks noGrp="1"/>
          </p:cNvSpPr>
          <p:nvPr>
            <p:ph idx="1"/>
          </p:nvPr>
        </p:nvSpPr>
        <p:spPr>
          <a:xfrm>
            <a:off x="152399" y="1219199"/>
            <a:ext cx="8836025" cy="5214395"/>
          </a:xfrm>
        </p:spPr>
        <p:txBody>
          <a:bodyPr/>
          <a:lstStyle/>
          <a:p>
            <a:pPr>
              <a:buNone/>
            </a:pPr>
            <a:r>
              <a:rPr lang="en-CA" sz="1400" b="1" dirty="0">
                <a:latin typeface="Calibri" panose="020F0502020204030204" pitchFamily="34" charset="0"/>
                <a:ea typeface="Calibri" panose="020F0502020204030204" pitchFamily="34" charset="0"/>
                <a:cs typeface="Calibri" panose="020F0502020204030204" pitchFamily="34" charset="0"/>
              </a:rPr>
              <a:t>Phase 1: Foundation – Embed AI Capabilities</a:t>
            </a:r>
          </a:p>
          <a:p>
            <a:pPr>
              <a:buNone/>
            </a:pPr>
            <a:r>
              <a:rPr lang="en-CA" sz="1400" b="1" dirty="0">
                <a:latin typeface="Calibri" panose="020F0502020204030204" pitchFamily="34" charset="0"/>
                <a:ea typeface="Calibri" panose="020F0502020204030204" pitchFamily="34" charset="0"/>
                <a:cs typeface="Calibri" panose="020F0502020204030204" pitchFamily="34" charset="0"/>
              </a:rPr>
              <a:t>Objective:</a:t>
            </a:r>
            <a:r>
              <a:rPr lang="en-CA" sz="1400" dirty="0">
                <a:latin typeface="Calibri" panose="020F0502020204030204" pitchFamily="34" charset="0"/>
                <a:ea typeface="Calibri" panose="020F0502020204030204" pitchFamily="34" charset="0"/>
                <a:cs typeface="Calibri" panose="020F0502020204030204" pitchFamily="34" charset="0"/>
              </a:rPr>
              <a:t> Build strategic groundwork for AI-first adoption.</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Redesign logistics workflows around AI use cases.</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Select high-priority tools (from Deliverable 3).</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Identify quick-win use cases aligned with ATD’s capacity.</a:t>
            </a:r>
            <a:br>
              <a:rPr lang="en-CA" sz="1400" dirty="0">
                <a:latin typeface="Calibri" panose="020F0502020204030204" pitchFamily="34" charset="0"/>
                <a:ea typeface="Calibri" panose="020F0502020204030204" pitchFamily="34" charset="0"/>
                <a:cs typeface="Calibri" panose="020F0502020204030204" pitchFamily="34" charset="0"/>
              </a:rPr>
            </a:br>
            <a:endParaRPr lang="en-CA" sz="1400" dirty="0">
              <a:latin typeface="Calibri" panose="020F0502020204030204" pitchFamily="34" charset="0"/>
              <a:ea typeface="Calibri" panose="020F0502020204030204" pitchFamily="34" charset="0"/>
              <a:cs typeface="Calibri" panose="020F0502020204030204" pitchFamily="34" charset="0"/>
            </a:endParaRPr>
          </a:p>
          <a:p>
            <a:pPr marL="0" indent="0"/>
            <a:r>
              <a:rPr lang="en-CA" sz="1400" b="1" dirty="0">
                <a:latin typeface="Calibri" panose="020F0502020204030204" pitchFamily="34" charset="0"/>
                <a:ea typeface="Calibri" panose="020F0502020204030204" pitchFamily="34" charset="0"/>
                <a:cs typeface="Calibri" panose="020F0502020204030204" pitchFamily="34" charset="0"/>
              </a:rPr>
              <a:t>Examples:</a:t>
            </a:r>
            <a:br>
              <a:rPr lang="en-CA" sz="1400" dirty="0">
                <a:latin typeface="Calibri" panose="020F0502020204030204" pitchFamily="34" charset="0"/>
                <a:ea typeface="Calibri" panose="020F0502020204030204" pitchFamily="34" charset="0"/>
                <a:cs typeface="Calibri" panose="020F0502020204030204" pitchFamily="34" charset="0"/>
              </a:rPr>
            </a:br>
            <a:r>
              <a:rPr lang="en-CA" sz="1400" dirty="0">
                <a:latin typeface="Calibri" panose="020F0502020204030204" pitchFamily="34" charset="0"/>
                <a:ea typeface="Calibri" panose="020F0502020204030204" pitchFamily="34" charset="0"/>
                <a:cs typeface="Calibri" panose="020F0502020204030204" pitchFamily="34" charset="0"/>
              </a:rPr>
              <a:t>KlearNow.AI (customs automation), </a:t>
            </a:r>
            <a:r>
              <a:rPr lang="en-CA" sz="1400" dirty="0" err="1">
                <a:latin typeface="Calibri" panose="020F0502020204030204" pitchFamily="34" charset="0"/>
                <a:ea typeface="Calibri" panose="020F0502020204030204" pitchFamily="34" charset="0"/>
                <a:cs typeface="Calibri" panose="020F0502020204030204" pitchFamily="34" charset="0"/>
              </a:rPr>
              <a:t>Flexport</a:t>
            </a:r>
            <a:r>
              <a:rPr lang="en-CA" sz="1400" dirty="0">
                <a:latin typeface="Calibri" panose="020F0502020204030204" pitchFamily="34" charset="0"/>
                <a:ea typeface="Calibri" panose="020F0502020204030204" pitchFamily="34" charset="0"/>
                <a:cs typeface="Calibri" panose="020F0502020204030204" pitchFamily="34" charset="0"/>
              </a:rPr>
              <a:t> (digital freight coordination), </a:t>
            </a:r>
            <a:r>
              <a:rPr lang="en-CA" sz="1400" dirty="0" err="1">
                <a:latin typeface="Calibri" panose="020F0502020204030204" pitchFamily="34" charset="0"/>
                <a:ea typeface="Calibri" panose="020F0502020204030204" pitchFamily="34" charset="0"/>
                <a:cs typeface="Calibri" panose="020F0502020204030204" pitchFamily="34" charset="0"/>
              </a:rPr>
              <a:t>TradeSun</a:t>
            </a:r>
            <a:r>
              <a:rPr lang="en-CA" sz="1400" dirty="0">
                <a:latin typeface="Calibri" panose="020F0502020204030204" pitchFamily="34" charset="0"/>
                <a:ea typeface="Calibri" panose="020F0502020204030204" pitchFamily="34" charset="0"/>
                <a:cs typeface="Calibri" panose="020F0502020204030204" pitchFamily="34" charset="0"/>
              </a:rPr>
              <a:t> (compliance).</a:t>
            </a:r>
            <a:br>
              <a:rPr lang="en-CA" sz="1400" dirty="0">
                <a:latin typeface="Calibri" panose="020F0502020204030204" pitchFamily="34" charset="0"/>
                <a:ea typeface="Calibri" panose="020F0502020204030204" pitchFamily="34" charset="0"/>
                <a:cs typeface="Calibri" panose="020F0502020204030204" pitchFamily="34" charset="0"/>
              </a:rPr>
            </a:br>
            <a:endParaRPr lang="en-CA" sz="1400" dirty="0">
              <a:latin typeface="Calibri" panose="020F0502020204030204" pitchFamily="34" charset="0"/>
              <a:ea typeface="Calibri" panose="020F0502020204030204" pitchFamily="34" charset="0"/>
              <a:cs typeface="Calibri" panose="020F0502020204030204" pitchFamily="34" charset="0"/>
            </a:endParaRPr>
          </a:p>
          <a:p>
            <a:pPr marL="0" indent="0"/>
            <a:r>
              <a:rPr lang="en-CA" sz="1400" b="1" dirty="0">
                <a:latin typeface="Calibri" panose="020F0502020204030204" pitchFamily="34" charset="0"/>
                <a:ea typeface="Calibri" panose="020F0502020204030204" pitchFamily="34" charset="0"/>
                <a:cs typeface="Calibri" panose="020F0502020204030204" pitchFamily="34" charset="0"/>
              </a:rPr>
              <a:t>Outputs:</a:t>
            </a:r>
            <a:r>
              <a:rPr lang="en-CA" sz="1400" dirty="0">
                <a:latin typeface="Calibri" panose="020F0502020204030204" pitchFamily="34" charset="0"/>
                <a:ea typeface="Calibri" panose="020F0502020204030204" pitchFamily="34" charset="0"/>
                <a:cs typeface="Calibri" panose="020F0502020204030204" pitchFamily="34" charset="0"/>
              </a:rPr>
              <a:t> Capability map, use case success criteria, ATD AI-first charter.</a:t>
            </a:r>
          </a:p>
          <a:p>
            <a:pPr>
              <a:buNone/>
            </a:pPr>
            <a:r>
              <a:rPr lang="en-CA" sz="1400" b="1" dirty="0">
                <a:latin typeface="Calibri" panose="020F0502020204030204" pitchFamily="34" charset="0"/>
                <a:ea typeface="Calibri" panose="020F0502020204030204" pitchFamily="34" charset="0"/>
                <a:cs typeface="Calibri" panose="020F0502020204030204" pitchFamily="34" charset="0"/>
              </a:rPr>
              <a:t>Phase 2: Activation – Pilot in High-Impact Workflows</a:t>
            </a:r>
          </a:p>
          <a:p>
            <a:pPr>
              <a:buNone/>
            </a:pPr>
            <a:r>
              <a:rPr lang="en-CA" sz="1400" b="1" dirty="0">
                <a:latin typeface="Calibri" panose="020F0502020204030204" pitchFamily="34" charset="0"/>
                <a:ea typeface="Calibri" panose="020F0502020204030204" pitchFamily="34" charset="0"/>
                <a:cs typeface="Calibri" panose="020F0502020204030204" pitchFamily="34" charset="0"/>
              </a:rPr>
              <a:t>Objective:</a:t>
            </a:r>
            <a:r>
              <a:rPr lang="en-CA" sz="1400" dirty="0">
                <a:latin typeface="Calibri" panose="020F0502020204030204" pitchFamily="34" charset="0"/>
                <a:ea typeface="Calibri" panose="020F0502020204030204" pitchFamily="34" charset="0"/>
                <a:cs typeface="Calibri" panose="020F0502020204030204" pitchFamily="34" charset="0"/>
              </a:rPr>
              <a:t> Test tools under real conditions with human-AI collaboration.</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Deploy 2–3 tools in sandbox mode across one supplier cluster.</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Assign human “AI overseers” to validate outputs.</a:t>
            </a:r>
          </a:p>
          <a:p>
            <a:pPr marL="171450" indent="-171450">
              <a:buFont typeface="Arial" panose="020B0604020202020204" pitchFamily="34" charset="0"/>
              <a:buChar char="•"/>
            </a:pPr>
            <a:r>
              <a:rPr lang="en-CA" sz="1400" dirty="0">
                <a:latin typeface="Calibri" panose="020F0502020204030204" pitchFamily="34" charset="0"/>
                <a:ea typeface="Calibri" panose="020F0502020204030204" pitchFamily="34" charset="0"/>
                <a:cs typeface="Calibri" panose="020F0502020204030204" pitchFamily="34" charset="0"/>
              </a:rPr>
              <a:t>Capture real-time feedback (accuracy, usability, speed).</a:t>
            </a:r>
          </a:p>
          <a:p>
            <a:pPr marL="0" indent="0"/>
            <a:endParaRPr lang="en-CA" sz="1400" b="1" dirty="0">
              <a:latin typeface="Calibri" panose="020F0502020204030204" pitchFamily="34" charset="0"/>
              <a:ea typeface="Calibri" panose="020F0502020204030204" pitchFamily="34" charset="0"/>
              <a:cs typeface="Calibri" panose="020F0502020204030204" pitchFamily="34" charset="0"/>
            </a:endParaRPr>
          </a:p>
          <a:p>
            <a:pPr marL="0" indent="0"/>
            <a:r>
              <a:rPr lang="en-CA" sz="1400" b="1" dirty="0">
                <a:latin typeface="Calibri" panose="020F0502020204030204" pitchFamily="34" charset="0"/>
                <a:ea typeface="Calibri" panose="020F0502020204030204" pitchFamily="34" charset="0"/>
                <a:cs typeface="Calibri" panose="020F0502020204030204" pitchFamily="34" charset="0"/>
              </a:rPr>
              <a:t>Tool Pilots:</a:t>
            </a:r>
            <a:br>
              <a:rPr lang="en-CA" sz="1400" dirty="0">
                <a:latin typeface="Calibri" panose="020F0502020204030204" pitchFamily="34" charset="0"/>
                <a:ea typeface="Calibri" panose="020F0502020204030204" pitchFamily="34" charset="0"/>
                <a:cs typeface="Calibri" panose="020F0502020204030204" pitchFamily="34" charset="0"/>
              </a:rPr>
            </a:br>
            <a:r>
              <a:rPr lang="en-CA" sz="1400" dirty="0" err="1">
                <a:latin typeface="Calibri" panose="020F0502020204030204" pitchFamily="34" charset="0"/>
                <a:ea typeface="Calibri" panose="020F0502020204030204" pitchFamily="34" charset="0"/>
                <a:cs typeface="Calibri" panose="020F0502020204030204" pitchFamily="34" charset="0"/>
              </a:rPr>
              <a:t>Freightos</a:t>
            </a:r>
            <a:r>
              <a:rPr lang="en-CA" sz="1400" dirty="0">
                <a:latin typeface="Calibri" panose="020F0502020204030204" pitchFamily="34" charset="0"/>
                <a:ea typeface="Calibri" panose="020F0502020204030204" pitchFamily="34" charset="0"/>
                <a:cs typeface="Calibri" panose="020F0502020204030204" pitchFamily="34" charset="0"/>
              </a:rPr>
              <a:t> (freight booking), </a:t>
            </a:r>
            <a:r>
              <a:rPr lang="en-CA" sz="1400" dirty="0" err="1">
                <a:latin typeface="Calibri" panose="020F0502020204030204" pitchFamily="34" charset="0"/>
                <a:ea typeface="Calibri" panose="020F0502020204030204" pitchFamily="34" charset="0"/>
                <a:cs typeface="Calibri" panose="020F0502020204030204" pitchFamily="34" charset="0"/>
              </a:rPr>
              <a:t>Portcast</a:t>
            </a:r>
            <a:r>
              <a:rPr lang="en-CA" sz="1400" dirty="0">
                <a:latin typeface="Calibri" panose="020F0502020204030204" pitchFamily="34" charset="0"/>
                <a:ea typeface="Calibri" panose="020F0502020204030204" pitchFamily="34" charset="0"/>
                <a:cs typeface="Calibri" panose="020F0502020204030204" pitchFamily="34" charset="0"/>
              </a:rPr>
              <a:t> (forecasting &amp; tracking), Risk dashboards (sanctions alerts).</a:t>
            </a:r>
            <a:br>
              <a:rPr lang="en-CA" sz="1400" dirty="0">
                <a:latin typeface="Calibri" panose="020F0502020204030204" pitchFamily="34" charset="0"/>
                <a:ea typeface="Calibri" panose="020F0502020204030204" pitchFamily="34" charset="0"/>
                <a:cs typeface="Calibri" panose="020F0502020204030204" pitchFamily="34" charset="0"/>
              </a:rPr>
            </a:br>
            <a:r>
              <a:rPr lang="en-CA" sz="1400" b="1" dirty="0">
                <a:latin typeface="Calibri" panose="020F0502020204030204" pitchFamily="34" charset="0"/>
                <a:ea typeface="Calibri" panose="020F0502020204030204" pitchFamily="34" charset="0"/>
                <a:cs typeface="Calibri" panose="020F0502020204030204" pitchFamily="34" charset="0"/>
              </a:rPr>
              <a:t>Outputs:</a:t>
            </a:r>
            <a:r>
              <a:rPr lang="en-CA" sz="1400" dirty="0">
                <a:latin typeface="Calibri" panose="020F0502020204030204" pitchFamily="34" charset="0"/>
                <a:ea typeface="Calibri" panose="020F0502020204030204" pitchFamily="34" charset="0"/>
                <a:cs typeface="Calibri" panose="020F0502020204030204" pitchFamily="34" charset="0"/>
              </a:rPr>
              <a:t> Pilot KPI dashboard, refinement issues list, go/no-go decision matrix.</a:t>
            </a:r>
          </a:p>
          <a:p>
            <a:pPr algn="just">
              <a:lnSpc>
                <a:spcPct val="150000"/>
              </a:lnSpc>
            </a:pPr>
            <a:endParaRPr lang="en-US" sz="14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1">
            <a:extLst>
              <a:ext uri="{FF2B5EF4-FFF2-40B4-BE49-F238E27FC236}">
                <a16:creationId xmlns:a16="http://schemas.microsoft.com/office/drawing/2014/main" id="{B91C53C3-BAFC-4D06-1D16-BBBAF913727D}"/>
              </a:ext>
            </a:extLst>
          </p:cNvPr>
          <p:cNvSpPr>
            <a:spLocks noGrp="1"/>
          </p:cNvSpPr>
          <p:nvPr>
            <p:ph type="ftr" idx="10"/>
          </p:nvPr>
        </p:nvSpPr>
        <p:spPr>
          <a:xfrm>
            <a:off x="609600" y="6400800"/>
            <a:ext cx="2590800" cy="446088"/>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5291F650-E5A4-1A92-881C-A262F8F3A882}"/>
              </a:ext>
            </a:extLst>
          </p:cNvPr>
          <p:cNvSpPr txBox="1">
            <a:spLocks/>
          </p:cNvSpPr>
          <p:nvPr/>
        </p:nvSpPr>
        <p:spPr bwMode="auto">
          <a:xfrm>
            <a:off x="3416463" y="6411912"/>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BD93CEBD-92A6-8D44-E589-B1EAD5DFE836}"/>
              </a:ext>
            </a:extLst>
          </p:cNvPr>
          <p:cNvSpPr txBox="1">
            <a:spLocks/>
          </p:cNvSpPr>
          <p:nvPr/>
        </p:nvSpPr>
        <p:spPr bwMode="auto">
          <a:xfrm>
            <a:off x="6553200" y="6433595"/>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23</a:t>
            </a:r>
          </a:p>
        </p:txBody>
      </p:sp>
    </p:spTree>
    <p:extLst>
      <p:ext uri="{BB962C8B-B14F-4D97-AF65-F5344CB8AC3E}">
        <p14:creationId xmlns:p14="http://schemas.microsoft.com/office/powerpoint/2010/main" val="936723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AD83D-7D03-52CC-81F4-F628BB811D92}"/>
              </a:ext>
            </a:extLst>
          </p:cNvPr>
          <p:cNvSpPr>
            <a:spLocks noGrp="1"/>
          </p:cNvSpPr>
          <p:nvPr>
            <p:ph type="title"/>
          </p:nvPr>
        </p:nvSpPr>
        <p:spPr/>
        <p:txBody>
          <a:bodyPr/>
          <a:lstStyle/>
          <a:p>
            <a:r>
              <a:rPr lang="en-US" altLang="en-US" sz="2400" b="1" dirty="0"/>
              <a:t>Deliverable 4: Implementation Roadmap-</a:t>
            </a:r>
            <a:br>
              <a:rPr lang="en-US" altLang="en-US" sz="2400" b="1" dirty="0"/>
            </a:br>
            <a:r>
              <a:rPr lang="en-US" altLang="en-US" sz="2400" b="1" dirty="0"/>
              <a:t>AI-First</a:t>
            </a:r>
            <a:endParaRPr lang="en-US" sz="2400" dirty="0"/>
          </a:p>
        </p:txBody>
      </p:sp>
      <p:sp>
        <p:nvSpPr>
          <p:cNvPr id="3" name="Content Placeholder 2">
            <a:extLst>
              <a:ext uri="{FF2B5EF4-FFF2-40B4-BE49-F238E27FC236}">
                <a16:creationId xmlns:a16="http://schemas.microsoft.com/office/drawing/2014/main" id="{754A095E-EF49-2FFF-4784-B16BBA59D0C6}"/>
              </a:ext>
            </a:extLst>
          </p:cNvPr>
          <p:cNvSpPr>
            <a:spLocks noGrp="1"/>
          </p:cNvSpPr>
          <p:nvPr>
            <p:ph idx="1"/>
          </p:nvPr>
        </p:nvSpPr>
        <p:spPr>
          <a:xfrm>
            <a:off x="152400" y="1295400"/>
            <a:ext cx="8218488" cy="4789488"/>
          </a:xfrm>
        </p:spPr>
        <p:txBody>
          <a:bodyPr/>
          <a:lstStyle/>
          <a:p>
            <a:pPr>
              <a:buNone/>
            </a:pPr>
            <a:r>
              <a:rPr lang="en-CA" sz="1400" b="1" dirty="0"/>
              <a:t>Phase 3: Integration – Institutionalize AI with Governance</a:t>
            </a:r>
          </a:p>
          <a:p>
            <a:pPr>
              <a:buNone/>
            </a:pPr>
            <a:r>
              <a:rPr lang="en-CA" sz="1400" b="1" dirty="0"/>
              <a:t>Objective:</a:t>
            </a:r>
            <a:r>
              <a:rPr lang="en-CA" sz="1400" dirty="0"/>
              <a:t> Scale proven pilots and mature AI adoption.</a:t>
            </a:r>
          </a:p>
          <a:p>
            <a:pPr>
              <a:buFont typeface="Arial" panose="020B0604020202020204" pitchFamily="34" charset="0"/>
              <a:buChar char="•"/>
            </a:pPr>
            <a:r>
              <a:rPr lang="en-CA" sz="1400" dirty="0"/>
              <a:t>Train staff on SOPs &amp; AI decision-support roles.</a:t>
            </a:r>
          </a:p>
          <a:p>
            <a:pPr>
              <a:buFont typeface="Arial" panose="020B0604020202020204" pitchFamily="34" charset="0"/>
              <a:buChar char="•"/>
            </a:pPr>
            <a:r>
              <a:rPr lang="en-CA" sz="1400" dirty="0"/>
              <a:t>Define governance metrics (e.g., customs clearance time).</a:t>
            </a:r>
          </a:p>
          <a:p>
            <a:pPr>
              <a:buFont typeface="Arial" panose="020B0604020202020204" pitchFamily="34" charset="0"/>
              <a:buChar char="•"/>
            </a:pPr>
            <a:r>
              <a:rPr lang="en-CA" sz="1400" dirty="0"/>
              <a:t>Codify governance: audit logs, fallback procedures, licensing.</a:t>
            </a:r>
            <a:br>
              <a:rPr lang="en-CA" sz="1400" dirty="0"/>
            </a:br>
            <a:endParaRPr lang="en-CA" sz="1400" dirty="0"/>
          </a:p>
          <a:p>
            <a:pPr marL="0" indent="0"/>
            <a:r>
              <a:rPr lang="en-CA" sz="1400" b="1" dirty="0"/>
              <a:t>Tools to Scale:</a:t>
            </a:r>
            <a:br>
              <a:rPr lang="en-CA" sz="1400" dirty="0"/>
            </a:br>
            <a:r>
              <a:rPr lang="en-CA" sz="1400" dirty="0" err="1"/>
              <a:t>Flexport</a:t>
            </a:r>
            <a:r>
              <a:rPr lang="en-CA" sz="1400" dirty="0"/>
              <a:t> (tracking), KlearNow.AI (customs), project44 Movement (shipment visibility).</a:t>
            </a:r>
            <a:br>
              <a:rPr lang="en-CA" sz="1400" dirty="0"/>
            </a:br>
            <a:endParaRPr lang="en-CA" sz="1400" dirty="0"/>
          </a:p>
          <a:p>
            <a:pPr marL="0" indent="0"/>
            <a:r>
              <a:rPr lang="en-CA" sz="1400" b="1" dirty="0"/>
              <a:t>Outputs:</a:t>
            </a:r>
            <a:r>
              <a:rPr lang="en-CA" sz="1400" dirty="0"/>
              <a:t> ATD AI Operations Manual, AI performance review template, license &amp; data plan.</a:t>
            </a:r>
          </a:p>
          <a:p>
            <a:endParaRPr lang="en-US" sz="1400" b="1" dirty="0">
              <a:latin typeface="Calibri" panose="020F0502020204030204" pitchFamily="34" charset="0"/>
              <a:ea typeface="Calibri" panose="020F0502020204030204" pitchFamily="34" charset="0"/>
              <a:cs typeface="Calibri" panose="020F0502020204030204" pitchFamily="34" charset="0"/>
            </a:endParaRPr>
          </a:p>
          <a:p>
            <a:pPr indent="1588"/>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1">
            <a:extLst>
              <a:ext uri="{FF2B5EF4-FFF2-40B4-BE49-F238E27FC236}">
                <a16:creationId xmlns:a16="http://schemas.microsoft.com/office/drawing/2014/main" id="{F3F90846-563D-4F69-D269-A1DEEF664806}"/>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3F26A153-5600-7E88-8AF9-BF3784B8E7CF}"/>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867B3244-7E73-926A-2306-A389B7F5D6A0}"/>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2708675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998A-C892-386E-EFE6-B05F554FD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C71B3-58E5-DE92-16D8-39FDF48D6E56}"/>
              </a:ext>
            </a:extLst>
          </p:cNvPr>
          <p:cNvSpPr>
            <a:spLocks noGrp="1"/>
          </p:cNvSpPr>
          <p:nvPr>
            <p:ph type="title"/>
          </p:nvPr>
        </p:nvSpPr>
        <p:spPr/>
        <p:txBody>
          <a:bodyPr/>
          <a:lstStyle/>
          <a:p>
            <a:r>
              <a:rPr lang="en-US" sz="2400" b="1" dirty="0"/>
              <a:t>Discussion of  Results</a:t>
            </a:r>
          </a:p>
        </p:txBody>
      </p:sp>
      <p:sp>
        <p:nvSpPr>
          <p:cNvPr id="3" name="Content Placeholder 2">
            <a:extLst>
              <a:ext uri="{FF2B5EF4-FFF2-40B4-BE49-F238E27FC236}">
                <a16:creationId xmlns:a16="http://schemas.microsoft.com/office/drawing/2014/main" id="{046B4E08-AF1F-2886-E905-47D5D8DB4D4B}"/>
              </a:ext>
            </a:extLst>
          </p:cNvPr>
          <p:cNvSpPr>
            <a:spLocks noGrp="1"/>
          </p:cNvSpPr>
          <p:nvPr>
            <p:ph idx="1"/>
          </p:nvPr>
        </p:nvSpPr>
        <p:spPr>
          <a:xfrm>
            <a:off x="152400" y="1295400"/>
            <a:ext cx="8218488" cy="4789488"/>
          </a:xfrm>
        </p:spPr>
        <p:txBody>
          <a:bodyPr/>
          <a:lstStyle/>
          <a:p>
            <a:pPr indent="0"/>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Built an evidence base and classified AI logistics tools; evaluated 6 options with an MCDA rubric.</a:t>
            </a:r>
          </a:p>
          <a:p>
            <a:pPr indent="1588"/>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Shortlist &amp; scores: KlearNow.AI (4.7) and </a:t>
            </a:r>
            <a:r>
              <a:rPr lang="en-US" sz="1400" dirty="0" err="1">
                <a:latin typeface="Calibri" panose="020F0502020204030204" pitchFamily="34" charset="0"/>
                <a:ea typeface="Calibri" panose="020F0502020204030204" pitchFamily="34" charset="0"/>
                <a:cs typeface="Calibri" panose="020F0502020204030204" pitchFamily="34" charset="0"/>
              </a:rPr>
              <a:t>Flexport</a:t>
            </a:r>
            <a:r>
              <a:rPr lang="en-US" sz="1400" dirty="0">
                <a:latin typeface="Calibri" panose="020F0502020204030204" pitchFamily="34" charset="0"/>
                <a:ea typeface="Calibri" panose="020F0502020204030204" pitchFamily="34" charset="0"/>
                <a:cs typeface="Calibri" panose="020F0502020204030204" pitchFamily="34" charset="0"/>
              </a:rPr>
              <a:t> (4.7) lead; project44 (4.2) and </a:t>
            </a:r>
            <a:r>
              <a:rPr lang="en-US" sz="1400" dirty="0" err="1">
                <a:latin typeface="Calibri" panose="020F0502020204030204" pitchFamily="34" charset="0"/>
                <a:ea typeface="Calibri" panose="020F0502020204030204" pitchFamily="34" charset="0"/>
                <a:cs typeface="Calibri" panose="020F0502020204030204" pitchFamily="34" charset="0"/>
              </a:rPr>
              <a:t>Freightos</a:t>
            </a:r>
            <a:r>
              <a:rPr lang="en-US" sz="1400" dirty="0">
                <a:latin typeface="Calibri" panose="020F0502020204030204" pitchFamily="34" charset="0"/>
                <a:ea typeface="Calibri" panose="020F0502020204030204" pitchFamily="34" charset="0"/>
                <a:cs typeface="Calibri" panose="020F0502020204030204" pitchFamily="34" charset="0"/>
              </a:rPr>
              <a:t> (4.0) are strong alternates; Kobo360 (3.7) and Altana Atlas (3.3) fit niche needs.</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Key insight: Biggest near-term wins are customs automation and end-to-end coordination; real-time visibility remains a gap.</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Roadmap: AI-first, gated pilot with KPI baselines (ETA error, manual touches, OTIF, lane-onboarding time).</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Impact: Fewer manual steps, better ETA/OTIF, faster onboarding—lower-risk adoption for ATD’s Canada–Africa lanes.</a:t>
            </a:r>
          </a:p>
        </p:txBody>
      </p:sp>
      <p:sp>
        <p:nvSpPr>
          <p:cNvPr id="6" name="Footer Placeholder 1">
            <a:extLst>
              <a:ext uri="{FF2B5EF4-FFF2-40B4-BE49-F238E27FC236}">
                <a16:creationId xmlns:a16="http://schemas.microsoft.com/office/drawing/2014/main" id="{D7509640-EF63-515B-F367-F29DE970C034}"/>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2D9E205A-0976-2BB0-8E73-551981E20081}"/>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84E7FCD7-5AF9-A44E-56B6-9233CEA25251}"/>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563190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C8C29-2AB1-883D-2AA1-99F0C2FCB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FD837-7E2A-ED92-3817-591F83A6CE7C}"/>
              </a:ext>
            </a:extLst>
          </p:cNvPr>
          <p:cNvSpPr>
            <a:spLocks noGrp="1"/>
          </p:cNvSpPr>
          <p:nvPr>
            <p:ph type="title"/>
          </p:nvPr>
        </p:nvSpPr>
        <p:spPr/>
        <p:txBody>
          <a:bodyPr/>
          <a:lstStyle/>
          <a:p>
            <a:r>
              <a:rPr lang="en-US" sz="2400" b="1" dirty="0"/>
              <a:t>Why your project meets your pathway </a:t>
            </a:r>
            <a:br>
              <a:rPr lang="en-US" sz="2400" b="1" dirty="0"/>
            </a:br>
            <a:r>
              <a:rPr lang="en-US" sz="2400" b="1" dirty="0"/>
              <a:t>requirements</a:t>
            </a:r>
            <a:br>
              <a:rPr lang="en-US" sz="2400" b="1" dirty="0"/>
            </a:br>
            <a:endParaRPr lang="en-US" sz="2400" b="1" dirty="0"/>
          </a:p>
        </p:txBody>
      </p:sp>
      <p:sp>
        <p:nvSpPr>
          <p:cNvPr id="3" name="Content Placeholder 2">
            <a:extLst>
              <a:ext uri="{FF2B5EF4-FFF2-40B4-BE49-F238E27FC236}">
                <a16:creationId xmlns:a16="http://schemas.microsoft.com/office/drawing/2014/main" id="{03735595-8EEA-37C7-FC0E-9D9941F98690}"/>
              </a:ext>
            </a:extLst>
          </p:cNvPr>
          <p:cNvSpPr>
            <a:spLocks noGrp="1"/>
          </p:cNvSpPr>
          <p:nvPr>
            <p:ph idx="1"/>
          </p:nvPr>
        </p:nvSpPr>
        <p:spPr>
          <a:xfrm>
            <a:off x="152400" y="1295400"/>
            <a:ext cx="8218488" cy="4789488"/>
          </a:xfrm>
        </p:spPr>
        <p:txBody>
          <a:bodyPr/>
          <a:lstStyle/>
          <a:p>
            <a:pPr indent="0"/>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It’s applied and client-facing. The work solves a real ATD problem using applied research exactly what the </a:t>
            </a:r>
            <a:r>
              <a:rPr lang="en-US" sz="1400" dirty="0" err="1">
                <a:latin typeface="Calibri" panose="020F0502020204030204" pitchFamily="34" charset="0"/>
                <a:ea typeface="Calibri" panose="020F0502020204030204" pitchFamily="34" charset="0"/>
                <a:cs typeface="Calibri" panose="020F0502020204030204" pitchFamily="34" charset="0"/>
              </a:rPr>
              <a:t>M.Eng</a:t>
            </a:r>
            <a:r>
              <a:rPr lang="en-US" sz="1400" dirty="0">
                <a:latin typeface="Calibri" panose="020F0502020204030204" pitchFamily="34" charset="0"/>
                <a:ea typeface="Calibri" panose="020F0502020204030204" pitchFamily="34" charset="0"/>
                <a:cs typeface="Calibri" panose="020F0502020204030204" pitchFamily="34" charset="0"/>
              </a:rPr>
              <a:t> (TIM) pathway expects (project-based, client problem–solving).Engineering analysis &amp; decisions. </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Uses structured methods (MCDA) and measurable KPIs to design, test, and evaluate solutions consistent with engineering design and evidence-based decision-making in TIM.</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Interdisciplinary integration. Blends engineering, business, and data (tool selection, process redesign, ROI), aligning with </a:t>
            </a:r>
            <a:r>
              <a:rPr lang="en-US" sz="1400" dirty="0" err="1">
                <a:latin typeface="Calibri" panose="020F0502020204030204" pitchFamily="34" charset="0"/>
                <a:ea typeface="Calibri" panose="020F0502020204030204" pitchFamily="34" charset="0"/>
                <a:cs typeface="Calibri" panose="020F0502020204030204" pitchFamily="34" charset="0"/>
              </a:rPr>
              <a:t>M.Eng</a:t>
            </a:r>
            <a:r>
              <a:rPr lang="en-US" sz="1400" dirty="0">
                <a:latin typeface="Calibri" panose="020F0502020204030204" pitchFamily="34" charset="0"/>
                <a:ea typeface="Calibri" panose="020F0502020204030204" pitchFamily="34" charset="0"/>
                <a:cs typeface="Calibri" panose="020F0502020204030204" pitchFamily="34" charset="0"/>
              </a:rPr>
              <a:t> expectations to integrate coursework across these areas.</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Commercialization &amp; implementation focus. The AI-first roadmap, pilot plan, and ROI framing reflect emphasis on technology entrepreneurship and readiness for implementation.</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Professional communication. Delivers a structured report and presentation that synthesize literature, analysis, and recommendations core professional skills developed in the program.</a:t>
            </a:r>
          </a:p>
        </p:txBody>
      </p:sp>
      <p:sp>
        <p:nvSpPr>
          <p:cNvPr id="6" name="Footer Placeholder 1">
            <a:extLst>
              <a:ext uri="{FF2B5EF4-FFF2-40B4-BE49-F238E27FC236}">
                <a16:creationId xmlns:a16="http://schemas.microsoft.com/office/drawing/2014/main" id="{53034A3A-1FA9-D9BC-E19C-3DA265B8CFFC}"/>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7D775F86-031D-2212-252B-BE3F4AF1BAA4}"/>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5177D70F-F4B9-7BF0-94DE-2059BC5A56C9}"/>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217948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11301-3DBB-04A2-F8A0-F4FBB9A68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0D398-8514-EE97-8483-4FFD3FF8725B}"/>
              </a:ext>
            </a:extLst>
          </p:cNvPr>
          <p:cNvSpPr>
            <a:spLocks noGrp="1"/>
          </p:cNvSpPr>
          <p:nvPr>
            <p:ph type="title"/>
          </p:nvPr>
        </p:nvSpPr>
        <p:spPr/>
        <p:txBody>
          <a:bodyPr/>
          <a:lstStyle/>
          <a:p>
            <a:r>
              <a:rPr lang="en-US" sz="2400" b="1" dirty="0"/>
              <a:t>Novelty of The Project</a:t>
            </a:r>
          </a:p>
        </p:txBody>
      </p:sp>
      <p:sp>
        <p:nvSpPr>
          <p:cNvPr id="3" name="Content Placeholder 2">
            <a:extLst>
              <a:ext uri="{FF2B5EF4-FFF2-40B4-BE49-F238E27FC236}">
                <a16:creationId xmlns:a16="http://schemas.microsoft.com/office/drawing/2014/main" id="{7F52175A-4C40-DC0C-E0BE-DDF6CD9976EC}"/>
              </a:ext>
            </a:extLst>
          </p:cNvPr>
          <p:cNvSpPr>
            <a:spLocks noGrp="1"/>
          </p:cNvSpPr>
          <p:nvPr>
            <p:ph idx="1"/>
          </p:nvPr>
        </p:nvSpPr>
        <p:spPr>
          <a:xfrm>
            <a:off x="152400" y="1295400"/>
            <a:ext cx="8218488" cy="4789488"/>
          </a:xfrm>
        </p:spPr>
        <p:txBody>
          <a:bodyPr/>
          <a:lstStyle/>
          <a:p>
            <a:pPr indent="0"/>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Underexplored corridor: Focuses on the Canada–Africa trade lane—rare in AI logistics research—addressing real needs of Canadian firms working with African suppliers.</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Tailored to asymmetrical markets: Provides a classification + evaluation system built for cross-border operations with uneven data, infrastructure, and regulations.</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ROI-oriented features: Prioritizes pricing/cost–benefit models, real-time tracking, small-team usability (1–5 users), paperwork automation, and downloadable financial reports.</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Actionable now: Translates academic insight into a ready-to-pilot shortlist with KPI gates immediately usable by ATD.</a:t>
            </a:r>
          </a:p>
          <a:p>
            <a:pPr marL="6286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286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Reusable method: A flexible, replicable research model future TIM projects can apply and extend as new user needs emerge.</a:t>
            </a:r>
          </a:p>
        </p:txBody>
      </p:sp>
      <p:sp>
        <p:nvSpPr>
          <p:cNvPr id="6" name="Footer Placeholder 1">
            <a:extLst>
              <a:ext uri="{FF2B5EF4-FFF2-40B4-BE49-F238E27FC236}">
                <a16:creationId xmlns:a16="http://schemas.microsoft.com/office/drawing/2014/main" id="{B86ACC12-0CE6-3107-581E-7C18EC596E9B}"/>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AA973B57-5B76-B0FA-78C6-72BAC5061F10}"/>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A1AFC963-3E48-3EFB-4E02-F468B2ADC079}"/>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2260822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9DA31-77CF-A707-4BCD-1ADCA9540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1C679-DAB9-7438-B391-A3A42202F398}"/>
              </a:ext>
            </a:extLst>
          </p:cNvPr>
          <p:cNvSpPr>
            <a:spLocks noGrp="1"/>
          </p:cNvSpPr>
          <p:nvPr>
            <p:ph type="title"/>
          </p:nvPr>
        </p:nvSpPr>
        <p:spPr/>
        <p:txBody>
          <a:bodyPr/>
          <a:lstStyle/>
          <a:p>
            <a:r>
              <a:rPr lang="en-US" sz="2400" b="1" dirty="0"/>
              <a:t>Limitations </a:t>
            </a:r>
          </a:p>
        </p:txBody>
      </p:sp>
      <p:sp>
        <p:nvSpPr>
          <p:cNvPr id="3" name="Content Placeholder 2">
            <a:extLst>
              <a:ext uri="{FF2B5EF4-FFF2-40B4-BE49-F238E27FC236}">
                <a16:creationId xmlns:a16="http://schemas.microsoft.com/office/drawing/2014/main" id="{C34779D5-5BB2-5568-8010-AC52ED9864DC}"/>
              </a:ext>
            </a:extLst>
          </p:cNvPr>
          <p:cNvSpPr>
            <a:spLocks noGrp="1"/>
          </p:cNvSpPr>
          <p:nvPr>
            <p:ph idx="1"/>
          </p:nvPr>
        </p:nvSpPr>
        <p:spPr>
          <a:xfrm>
            <a:off x="152400" y="1066800"/>
            <a:ext cx="8218488" cy="4854576"/>
          </a:xfrm>
        </p:spPr>
        <p:txBody>
          <a:bodyPr/>
          <a:lstStyle/>
          <a:p>
            <a:pPr indent="0"/>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No primary data yet: Baselines and live pilot results pending; findings are pre-validation.</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Grey-literature bias: Vendor claims may be promotional; mitigations applied but residual risk remains.</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Visibility gap: Limited evaluation of real-time tracking vendors and integration depth.</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Scope &amp; transferability: Built for Canada–Africa SMEs; may not generalize to other corridors or enterprise scale.</a:t>
            </a: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Cost/integration uncertainty: Pricing tiers, APIs, and data-sharing agreements not fully verified; ROI is provisional.</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Data quality risk: Inconsistent supplier data or low event capture could limit KPI tracking and comparisons.</a:t>
            </a:r>
          </a:p>
        </p:txBody>
      </p:sp>
      <p:sp>
        <p:nvSpPr>
          <p:cNvPr id="6" name="Footer Placeholder 1">
            <a:extLst>
              <a:ext uri="{FF2B5EF4-FFF2-40B4-BE49-F238E27FC236}">
                <a16:creationId xmlns:a16="http://schemas.microsoft.com/office/drawing/2014/main" id="{752DFDC5-CAAC-17A5-0A64-390A93809C88}"/>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E0DE387E-8031-2481-BA4A-8F433F0F1D9C}"/>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2D101B24-2D44-079A-7364-547357E65956}"/>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3404307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E0E54-32D7-89A0-1796-3C983560C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B37B8-1B51-A70E-76EF-CD83663AD6BA}"/>
              </a:ext>
            </a:extLst>
          </p:cNvPr>
          <p:cNvSpPr>
            <a:spLocks noGrp="1"/>
          </p:cNvSpPr>
          <p:nvPr>
            <p:ph type="title"/>
          </p:nvPr>
        </p:nvSpPr>
        <p:spPr/>
        <p:txBody>
          <a:bodyPr/>
          <a:lstStyle/>
          <a:p>
            <a:r>
              <a:rPr lang="en-US" sz="2400" b="1" dirty="0"/>
              <a:t>Suggestions for future research </a:t>
            </a:r>
          </a:p>
        </p:txBody>
      </p:sp>
      <p:sp>
        <p:nvSpPr>
          <p:cNvPr id="3" name="Content Placeholder 2">
            <a:extLst>
              <a:ext uri="{FF2B5EF4-FFF2-40B4-BE49-F238E27FC236}">
                <a16:creationId xmlns:a16="http://schemas.microsoft.com/office/drawing/2014/main" id="{ED029A44-6D08-E805-A924-2B4F8FA7B0D6}"/>
              </a:ext>
            </a:extLst>
          </p:cNvPr>
          <p:cNvSpPr>
            <a:spLocks noGrp="1"/>
          </p:cNvSpPr>
          <p:nvPr>
            <p:ph idx="1"/>
          </p:nvPr>
        </p:nvSpPr>
        <p:spPr>
          <a:xfrm>
            <a:off x="152400" y="1066800"/>
            <a:ext cx="8218488" cy="4854576"/>
          </a:xfrm>
        </p:spPr>
        <p:txBody>
          <a:bodyPr/>
          <a:lstStyle/>
          <a:p>
            <a:pPr indent="0"/>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Run longitudinal pilots: Multi-lane, 6–12-month trials to quantify KPI lift and cost-to-serve.</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Refine MCDA with primary data: Elicit weights via AHP/conjoint; add sensitivity analysis.</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Deep-dive on visibility tech: Head-to-head tests of real-time tracking (EPCIS events, latency, data completeness, API effort).Model TCO &amp; ROI scenarios: Include licenses, integrations, data fees, training, and change-management costs.</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Study human–AI workflows: Oversight protocols, exception rates, user adoption, and failure modes.</a:t>
            </a: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Data governance &amp; risk: Data-sharing agreements, privacy/security, and resilience in low-connectivity contexts.</a:t>
            </a:r>
          </a:p>
        </p:txBody>
      </p:sp>
      <p:sp>
        <p:nvSpPr>
          <p:cNvPr id="6" name="Footer Placeholder 1">
            <a:extLst>
              <a:ext uri="{FF2B5EF4-FFF2-40B4-BE49-F238E27FC236}">
                <a16:creationId xmlns:a16="http://schemas.microsoft.com/office/drawing/2014/main" id="{650B105A-EB93-0EDE-6F0A-DBE199ED2500}"/>
              </a:ext>
            </a:extLst>
          </p:cNvPr>
          <p:cNvSpPr>
            <a:spLocks noGrp="1"/>
          </p:cNvSpPr>
          <p:nvPr>
            <p:ph type="ftr" idx="10"/>
          </p:nvPr>
        </p:nvSpPr>
        <p:spPr>
          <a:xfrm>
            <a:off x="299495" y="6425647"/>
            <a:ext cx="2743200" cy="457200"/>
          </a:xfrm>
        </p:spPr>
        <p:txBody>
          <a:bodyPr vert="horz" wrap="square" lIns="90000" tIns="182880" rIns="90000" bIns="46800" numCol="1" anchor="t" anchorCtr="0" compatLnSpc="1">
            <a:prstTxWarp prst="textNoShape">
              <a:avLst/>
            </a:prstTxWarp>
            <a:noAutofit/>
          </a:bodyPr>
          <a:lstStyle/>
          <a:p>
            <a:pPr>
              <a:spcAft>
                <a:spcPts val="600"/>
              </a:spcAft>
            </a:pPr>
            <a:r>
              <a:rPr lang="en-CA" altLang="en-US" dirty="0"/>
              <a:t>onwonaagyekum@cmail.Carleton.ca</a:t>
            </a:r>
          </a:p>
        </p:txBody>
      </p:sp>
      <p:sp>
        <p:nvSpPr>
          <p:cNvPr id="7" name="Footer Placeholder 1">
            <a:extLst>
              <a:ext uri="{FF2B5EF4-FFF2-40B4-BE49-F238E27FC236}">
                <a16:creationId xmlns:a16="http://schemas.microsoft.com/office/drawing/2014/main" id="{FBB98657-ECEF-6871-22C5-9CEE0240FC85}"/>
              </a:ext>
            </a:extLst>
          </p:cNvPr>
          <p:cNvSpPr txBox="1">
            <a:spLocks/>
          </p:cNvSpPr>
          <p:nvPr/>
        </p:nvSpPr>
        <p:spPr bwMode="auto">
          <a:xfrm>
            <a:off x="335280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July 15</a:t>
            </a:r>
            <a:r>
              <a:rPr lang="en-CA" altLang="en-US" baseline="30000" dirty="0"/>
              <a:t>th</a:t>
            </a:r>
            <a:r>
              <a:rPr lang="en-CA" altLang="en-US" dirty="0"/>
              <a:t> ,2025</a:t>
            </a:r>
          </a:p>
        </p:txBody>
      </p:sp>
      <p:sp>
        <p:nvSpPr>
          <p:cNvPr id="8" name="Footer Placeholder 1">
            <a:extLst>
              <a:ext uri="{FF2B5EF4-FFF2-40B4-BE49-F238E27FC236}">
                <a16:creationId xmlns:a16="http://schemas.microsoft.com/office/drawing/2014/main" id="{A50E4AC1-F857-D05E-993C-692C58FF4F33}"/>
              </a:ext>
            </a:extLst>
          </p:cNvPr>
          <p:cNvSpPr txBox="1">
            <a:spLocks/>
          </p:cNvSpPr>
          <p:nvPr/>
        </p:nvSpPr>
        <p:spPr bwMode="auto">
          <a:xfrm>
            <a:off x="6563810" y="6431203"/>
            <a:ext cx="25908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182880" rIns="90000" bIns="46800" numCol="1" anchor="t" anchorCtr="0" compatLnSpc="1">
            <a:prstTxWarp prst="textNoShape">
              <a:avLst/>
            </a:prstTxWarp>
            <a:noAutofit/>
          </a:bodyPr>
          <a:lstStyle>
            <a:defPPr>
              <a:defRPr lang="en-GB"/>
            </a:defPPr>
            <a:lvl1pPr algn="ctr" defTabSz="449263" rtl="0" eaLnBrk="1" fontAlgn="base" hangingPunct="1">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780713" algn="l"/>
              </a:tabLst>
              <a:defRPr sz="1000" b="1" i="1" kern="1200">
                <a:solidFill>
                  <a:srgbClr val="FFFFFF"/>
                </a:solidFill>
                <a:latin typeface="+mn-lt"/>
                <a:ea typeface="MS Gothic" panose="020B0609070205080204" pitchFamily="49" charset="-128"/>
                <a:cs typeface="Arial Unicode MS" pitchFamily="32" charset="0"/>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2400" kern="1200">
                <a:solidFill>
                  <a:schemeClr val="bg1"/>
                </a:solidFill>
                <a:latin typeface="Times New Roman" panose="02020603050405020304" pitchFamily="18" charset="0"/>
                <a:ea typeface="MS Gothic" panose="020B0609070205080204" pitchFamily="49" charset="-128"/>
                <a:cs typeface="+mn-cs"/>
              </a:defRPr>
            </a:lvl5pPr>
            <a:lvl6pPr marL="22860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6pPr>
            <a:lvl7pPr marL="27432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7pPr>
            <a:lvl8pPr marL="32004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8pPr>
            <a:lvl9pPr marL="3657600" algn="l" defTabSz="914400" rtl="0" eaLnBrk="1" latinLnBrk="0" hangingPunct="1">
              <a:defRPr sz="2400" kern="1200">
                <a:solidFill>
                  <a:schemeClr val="bg1"/>
                </a:solidFill>
                <a:latin typeface="Times New Roman" panose="02020603050405020304" pitchFamily="18" charset="0"/>
                <a:ea typeface="MS Gothic" panose="020B0609070205080204" pitchFamily="49" charset="-128"/>
                <a:cs typeface="+mn-cs"/>
              </a:defRPr>
            </a:lvl9pPr>
          </a:lstStyle>
          <a:p>
            <a:pPr>
              <a:spcAft>
                <a:spcPts val="600"/>
              </a:spcAft>
            </a:pPr>
            <a:r>
              <a:rPr lang="en-CA" altLang="en-US" dirty="0"/>
              <a:t>Slide 24</a:t>
            </a:r>
          </a:p>
        </p:txBody>
      </p:sp>
    </p:spTree>
    <p:extLst>
      <p:ext uri="{BB962C8B-B14F-4D97-AF65-F5344CB8AC3E}">
        <p14:creationId xmlns:p14="http://schemas.microsoft.com/office/powerpoint/2010/main" val="236242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7CDF-400A-51D7-4148-1A7C22152DEC}"/>
              </a:ext>
            </a:extLst>
          </p:cNvPr>
          <p:cNvSpPr>
            <a:spLocks noGrp="1"/>
          </p:cNvSpPr>
          <p:nvPr>
            <p:ph type="title"/>
          </p:nvPr>
        </p:nvSpPr>
        <p:spPr/>
        <p:txBody>
          <a:bodyPr/>
          <a:lstStyle/>
          <a:p>
            <a:r>
              <a:rPr lang="en-US" sz="3200" b="1" dirty="0">
                <a:latin typeface="Calibri" panose="020F0502020204030204" pitchFamily="34" charset="0"/>
                <a:ea typeface="Calibri" panose="020F0502020204030204" pitchFamily="34" charset="0"/>
                <a:cs typeface="Calibri" panose="020F0502020204030204" pitchFamily="34" charset="0"/>
              </a:rPr>
              <a:t>Reference </a:t>
            </a:r>
          </a:p>
        </p:txBody>
      </p:sp>
      <p:sp>
        <p:nvSpPr>
          <p:cNvPr id="3" name="Content Placeholder 2">
            <a:extLst>
              <a:ext uri="{FF2B5EF4-FFF2-40B4-BE49-F238E27FC236}">
                <a16:creationId xmlns:a16="http://schemas.microsoft.com/office/drawing/2014/main" id="{B0F90D82-512A-14E0-5B80-750193BD5BEF}"/>
              </a:ext>
            </a:extLst>
          </p:cNvPr>
          <p:cNvSpPr>
            <a:spLocks noGrp="1"/>
          </p:cNvSpPr>
          <p:nvPr>
            <p:ph idx="1"/>
          </p:nvPr>
        </p:nvSpPr>
        <p:spPr>
          <a:xfrm>
            <a:off x="76200" y="1096471"/>
            <a:ext cx="8077200" cy="3124200"/>
          </a:xfrm>
        </p:spPr>
        <p:txBody>
          <a:bodyPr/>
          <a:lstStyle/>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AI-Obeidat, S., Al-Kilidar, H. &amp; Khan, S.</a:t>
            </a:r>
            <a:r>
              <a:rPr lang="en-US" sz="1000" dirty="0">
                <a:latin typeface="Calibri" panose="020F0502020204030204" pitchFamily="34" charset="0"/>
                <a:ea typeface="Calibri" panose="020F0502020204030204" pitchFamily="34" charset="0"/>
                <a:cs typeface="Calibri" panose="020F0502020204030204" pitchFamily="34" charset="0"/>
              </a:rPr>
              <a:t> (2023) ‘Artificial intelligence in supply chain logistics: Opportunities and performance metrics’, </a:t>
            </a:r>
            <a:r>
              <a:rPr lang="en-US" sz="1000" i="1" dirty="0">
                <a:latin typeface="Calibri" panose="020F0502020204030204" pitchFamily="34" charset="0"/>
                <a:ea typeface="Calibri" panose="020F0502020204030204" pitchFamily="34" charset="0"/>
                <a:cs typeface="Calibri" panose="020F0502020204030204" pitchFamily="34" charset="0"/>
              </a:rPr>
              <a:t>Journal of Supply Chain Innovation</a:t>
            </a:r>
            <a:r>
              <a:rPr lang="en-US" sz="1000" dirty="0">
                <a:latin typeface="Calibri" panose="020F0502020204030204" pitchFamily="34" charset="0"/>
                <a:ea typeface="Calibri" panose="020F0502020204030204" pitchFamily="34" charset="0"/>
                <a:cs typeface="Calibri" panose="020F0502020204030204" pitchFamily="34" charset="0"/>
              </a:rPr>
              <a:t>, 18(2), pp. 89–103.</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CB Insights</a:t>
            </a:r>
            <a:r>
              <a:rPr lang="en-US" sz="1000" dirty="0">
                <a:latin typeface="Calibri" panose="020F0502020204030204" pitchFamily="34" charset="0"/>
                <a:ea typeface="Calibri" panose="020F0502020204030204" pitchFamily="34" charset="0"/>
                <a:cs typeface="Calibri" panose="020F0502020204030204" pitchFamily="34" charset="0"/>
              </a:rPr>
              <a:t> (2024) </a:t>
            </a:r>
            <a:r>
              <a:rPr lang="en-US" sz="1000" i="1" dirty="0">
                <a:latin typeface="Calibri" panose="020F0502020204030204" pitchFamily="34" charset="0"/>
                <a:ea typeface="Calibri" panose="020F0502020204030204" pitchFamily="34" charset="0"/>
                <a:cs typeface="Calibri" panose="020F0502020204030204" pitchFamily="34" charset="0"/>
              </a:rPr>
              <a:t>AI logistics startups market map</a:t>
            </a:r>
            <a:r>
              <a:rPr lang="en-US" sz="1000" dirty="0">
                <a:latin typeface="Calibri" panose="020F0502020204030204" pitchFamily="34" charset="0"/>
                <a:ea typeface="Calibri" panose="020F0502020204030204" pitchFamily="34" charset="0"/>
                <a:cs typeface="Calibri" panose="020F0502020204030204" pitchFamily="34" charset="0"/>
              </a:rPr>
              <a:t>.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2"/>
              </a:rPr>
              <a:t>https://www.cbinsights.com</a:t>
            </a:r>
            <a:r>
              <a:rPr lang="en-US" sz="1000" dirty="0">
                <a:latin typeface="Calibri" panose="020F0502020204030204" pitchFamily="34" charset="0"/>
                <a:ea typeface="Calibri" panose="020F0502020204030204" pitchFamily="34" charset="0"/>
                <a:cs typeface="Calibri" panose="020F0502020204030204" pitchFamily="34" charset="0"/>
              </a:rPr>
              <a:t> (Accessed: 14 July 2025).</a:t>
            </a:r>
          </a:p>
          <a:p>
            <a:pPr>
              <a:buFont typeface="+mj-lt"/>
              <a:buAutoNum type="arabicPeriod"/>
            </a:pPr>
            <a:r>
              <a:rPr lang="en-US" sz="1000" dirty="0">
                <a:latin typeface="Calibri" panose="020F0502020204030204" pitchFamily="34" charset="0"/>
                <a:ea typeface="Calibri" panose="020F0502020204030204" pitchFamily="34" charset="0"/>
                <a:cs typeface="Calibri" panose="020F0502020204030204" pitchFamily="34" charset="0"/>
              </a:rPr>
              <a:t>Furrier, J. (2024). The AI-first enterprise: Rethinking digital transformation with agents at the center. AI Strategy Press.</a:t>
            </a:r>
          </a:p>
          <a:p>
            <a:pPr>
              <a:buFont typeface="+mj-lt"/>
              <a:buAutoNum type="arabicPeriod"/>
            </a:pPr>
            <a:r>
              <a:rPr lang="en-US" sz="1000" b="1" dirty="0" err="1">
                <a:latin typeface="Calibri" panose="020F0502020204030204" pitchFamily="34" charset="0"/>
                <a:ea typeface="Calibri" panose="020F0502020204030204" pitchFamily="34" charset="0"/>
                <a:cs typeface="Calibri" panose="020F0502020204030204" pitchFamily="34" charset="0"/>
              </a:rPr>
              <a:t>Jetvision</a:t>
            </a:r>
            <a:r>
              <a:rPr lang="en-US" sz="1000" b="1" dirty="0">
                <a:latin typeface="Calibri" panose="020F0502020204030204" pitchFamily="34" charset="0"/>
                <a:ea typeface="Calibri" panose="020F0502020204030204" pitchFamily="34" charset="0"/>
                <a:cs typeface="Calibri" panose="020F0502020204030204" pitchFamily="34" charset="0"/>
              </a:rPr>
              <a:t> AI</a:t>
            </a:r>
            <a:r>
              <a:rPr lang="en-US" sz="1000" dirty="0">
                <a:latin typeface="Calibri" panose="020F0502020204030204" pitchFamily="34" charset="0"/>
                <a:ea typeface="Calibri" panose="020F0502020204030204" pitchFamily="34" charset="0"/>
                <a:cs typeface="Calibri" panose="020F0502020204030204" pitchFamily="34" charset="0"/>
              </a:rPr>
              <a:t> (2024) </a:t>
            </a:r>
            <a:r>
              <a:rPr lang="en-US" sz="1000" i="1" dirty="0">
                <a:latin typeface="Calibri" panose="020F0502020204030204" pitchFamily="34" charset="0"/>
                <a:ea typeface="Calibri" panose="020F0502020204030204" pitchFamily="34" charset="0"/>
                <a:cs typeface="Calibri" panose="020F0502020204030204" pitchFamily="34" charset="0"/>
              </a:rPr>
              <a:t>ROI analytics and reporting tools for trade platforms</a:t>
            </a:r>
            <a:r>
              <a:rPr lang="en-US" sz="1000" dirty="0">
                <a:latin typeface="Calibri" panose="020F0502020204030204" pitchFamily="34" charset="0"/>
                <a:ea typeface="Calibri" panose="020F0502020204030204" pitchFamily="34" charset="0"/>
                <a:cs typeface="Calibri" panose="020F0502020204030204" pitchFamily="34" charset="0"/>
              </a:rPr>
              <a:t>.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3"/>
              </a:rPr>
              <a:t>https://www.jetvision.ai</a:t>
            </a:r>
            <a:r>
              <a:rPr lang="en-US" sz="1000" dirty="0">
                <a:latin typeface="Calibri" panose="020F0502020204030204" pitchFamily="34" charset="0"/>
                <a:ea typeface="Calibri" panose="020F0502020204030204" pitchFamily="34" charset="0"/>
                <a:cs typeface="Calibri" panose="020F0502020204030204" pitchFamily="34" charset="0"/>
              </a:rPr>
              <a:t> (Accessed: 14 July 2025).</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Kabir, G. &amp; Sadiq, R.</a:t>
            </a:r>
            <a:r>
              <a:rPr lang="en-US" sz="1000" dirty="0">
                <a:latin typeface="Calibri" panose="020F0502020204030204" pitchFamily="34" charset="0"/>
                <a:ea typeface="Calibri" panose="020F0502020204030204" pitchFamily="34" charset="0"/>
                <a:cs typeface="Calibri" panose="020F0502020204030204" pitchFamily="34" charset="0"/>
              </a:rPr>
              <a:t> (2021) ‘A review of multi-criteria decision-making methods for sustainability assessment of infrastructure systems’, </a:t>
            </a:r>
            <a:r>
              <a:rPr lang="en-US" sz="1000" i="1" dirty="0">
                <a:latin typeface="Calibri" panose="020F0502020204030204" pitchFamily="34" charset="0"/>
                <a:ea typeface="Calibri" panose="020F0502020204030204" pitchFamily="34" charset="0"/>
                <a:cs typeface="Calibri" panose="020F0502020204030204" pitchFamily="34" charset="0"/>
              </a:rPr>
              <a:t>Sustainable Cities and Society</a:t>
            </a:r>
            <a:r>
              <a:rPr lang="en-US" sz="1000" dirty="0">
                <a:latin typeface="Calibri" panose="020F0502020204030204" pitchFamily="34" charset="0"/>
                <a:ea typeface="Calibri" panose="020F0502020204030204" pitchFamily="34" charset="0"/>
                <a:cs typeface="Calibri" panose="020F0502020204030204" pitchFamily="34" charset="0"/>
              </a:rPr>
              <a:t>, 66, 102652.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4"/>
              </a:rPr>
              <a:t>https://doi.org/10.1016/j.scs.2020.102652</a:t>
            </a:r>
            <a:r>
              <a:rPr lang="en-US" sz="1000" dirty="0">
                <a:latin typeface="Calibri" panose="020F0502020204030204" pitchFamily="34" charset="0"/>
                <a:ea typeface="Calibri" panose="020F0502020204030204" pitchFamily="34" charset="0"/>
                <a:cs typeface="Calibri" panose="020F0502020204030204" pitchFamily="34" charset="0"/>
              </a:rPr>
              <a:t>.</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Kobo360</a:t>
            </a:r>
            <a:r>
              <a:rPr lang="en-US" sz="1000" dirty="0">
                <a:latin typeface="Calibri" panose="020F0502020204030204" pitchFamily="34" charset="0"/>
                <a:ea typeface="Calibri" panose="020F0502020204030204" pitchFamily="34" charset="0"/>
                <a:cs typeface="Calibri" panose="020F0502020204030204" pitchFamily="34" charset="0"/>
              </a:rPr>
              <a:t> (2023) </a:t>
            </a:r>
            <a:r>
              <a:rPr lang="en-US" sz="1000" i="1" dirty="0">
                <a:latin typeface="Calibri" panose="020F0502020204030204" pitchFamily="34" charset="0"/>
                <a:ea typeface="Calibri" panose="020F0502020204030204" pitchFamily="34" charset="0"/>
                <a:cs typeface="Calibri" panose="020F0502020204030204" pitchFamily="34" charset="0"/>
              </a:rPr>
              <a:t>AI logistics solutions for Africa</a:t>
            </a:r>
            <a:r>
              <a:rPr lang="en-US" sz="1000" dirty="0">
                <a:latin typeface="Calibri" panose="020F0502020204030204" pitchFamily="34" charset="0"/>
                <a:ea typeface="Calibri" panose="020F0502020204030204" pitchFamily="34" charset="0"/>
                <a:cs typeface="Calibri" panose="020F0502020204030204" pitchFamily="34" charset="0"/>
              </a:rPr>
              <a:t>.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5"/>
              </a:rPr>
              <a:t>https://www.kobo360.com</a:t>
            </a:r>
            <a:r>
              <a:rPr lang="en-US" sz="1000" dirty="0">
                <a:latin typeface="Calibri" panose="020F0502020204030204" pitchFamily="34" charset="0"/>
                <a:ea typeface="Calibri" panose="020F0502020204030204" pitchFamily="34" charset="0"/>
                <a:cs typeface="Calibri" panose="020F0502020204030204" pitchFamily="34" charset="0"/>
              </a:rPr>
              <a:t> (Accessed: 14 July 2025).</a:t>
            </a:r>
          </a:p>
          <a:p>
            <a:pPr>
              <a:buFont typeface="+mj-lt"/>
              <a:buAutoNum type="arabicPeriod"/>
            </a:pPr>
            <a:r>
              <a:rPr lang="en-US" sz="1000" dirty="0">
                <a:latin typeface="Calibri" panose="020F0502020204030204" pitchFamily="34" charset="0"/>
                <a:ea typeface="Calibri" panose="020F0502020204030204" pitchFamily="34" charset="0"/>
                <a:cs typeface="Calibri" panose="020F0502020204030204" pitchFamily="34" charset="0"/>
              </a:rPr>
              <a:t>Mollick, E. (2025). Leading with AI: How smart systems reshape small teams and strategy. Harvard Business Review Press.</a:t>
            </a:r>
          </a:p>
          <a:p>
            <a:pPr>
              <a:buFont typeface="+mj-lt"/>
              <a:buAutoNum type="arabicPeriod"/>
            </a:pPr>
            <a:r>
              <a:rPr lang="en-US" sz="1000" b="1" dirty="0" err="1">
                <a:latin typeface="Calibri" panose="020F0502020204030204" pitchFamily="34" charset="0"/>
                <a:ea typeface="Calibri" panose="020F0502020204030204" pitchFamily="34" charset="0"/>
                <a:cs typeface="Calibri" panose="020F0502020204030204" pitchFamily="34" charset="0"/>
              </a:rPr>
              <a:t>Petrudi</a:t>
            </a:r>
            <a:r>
              <a:rPr lang="en-US" sz="1000" b="1" dirty="0">
                <a:latin typeface="Calibri" panose="020F0502020204030204" pitchFamily="34" charset="0"/>
                <a:ea typeface="Calibri" panose="020F0502020204030204" pitchFamily="34" charset="0"/>
                <a:cs typeface="Calibri" panose="020F0502020204030204" pitchFamily="34" charset="0"/>
              </a:rPr>
              <a:t>, S.H., </a:t>
            </a:r>
            <a:r>
              <a:rPr lang="en-US" sz="1000" b="1" dirty="0" err="1">
                <a:latin typeface="Calibri" panose="020F0502020204030204" pitchFamily="34" charset="0"/>
                <a:ea typeface="Calibri" panose="020F0502020204030204" pitchFamily="34" charset="0"/>
                <a:cs typeface="Calibri" panose="020F0502020204030204" pitchFamily="34" charset="0"/>
              </a:rPr>
              <a:t>Pirayesh</a:t>
            </a:r>
            <a:r>
              <a:rPr lang="en-US" sz="1000" b="1" dirty="0">
                <a:latin typeface="Calibri" panose="020F0502020204030204" pitchFamily="34" charset="0"/>
                <a:ea typeface="Calibri" panose="020F0502020204030204" pitchFamily="34" charset="0"/>
                <a:cs typeface="Calibri" panose="020F0502020204030204" pitchFamily="34" charset="0"/>
              </a:rPr>
              <a:t>, A. &amp; Hashemi, H.</a:t>
            </a:r>
            <a:r>
              <a:rPr lang="en-US" sz="1000" dirty="0">
                <a:latin typeface="Calibri" panose="020F0502020204030204" pitchFamily="34" charset="0"/>
                <a:ea typeface="Calibri" panose="020F0502020204030204" pitchFamily="34" charset="0"/>
                <a:cs typeface="Calibri" panose="020F0502020204030204" pitchFamily="34" charset="0"/>
              </a:rPr>
              <a:t> (2022) ‘Integrating AI into supply chain cost reporting: Challenges and frameworks’, </a:t>
            </a:r>
            <a:r>
              <a:rPr lang="en-US" sz="1000" i="1" dirty="0">
                <a:latin typeface="Calibri" panose="020F0502020204030204" pitchFamily="34" charset="0"/>
                <a:ea typeface="Calibri" panose="020F0502020204030204" pitchFamily="34" charset="0"/>
                <a:cs typeface="Calibri" panose="020F0502020204030204" pitchFamily="34" charset="0"/>
              </a:rPr>
              <a:t>Journal of Business Analytics</a:t>
            </a:r>
            <a:r>
              <a:rPr lang="en-US" sz="1000" dirty="0">
                <a:latin typeface="Calibri" panose="020F0502020204030204" pitchFamily="34" charset="0"/>
                <a:ea typeface="Calibri" panose="020F0502020204030204" pitchFamily="34" charset="0"/>
                <a:cs typeface="Calibri" panose="020F0502020204030204" pitchFamily="34" charset="0"/>
              </a:rPr>
              <a:t>, 5(4), pp. 301–318.</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Planet Crust</a:t>
            </a:r>
            <a:r>
              <a:rPr lang="en-US" sz="1000" dirty="0">
                <a:latin typeface="Calibri" panose="020F0502020204030204" pitchFamily="34" charset="0"/>
                <a:ea typeface="Calibri" panose="020F0502020204030204" pitchFamily="34" charset="0"/>
                <a:cs typeface="Calibri" panose="020F0502020204030204" pitchFamily="34" charset="0"/>
              </a:rPr>
              <a:t> (2024) </a:t>
            </a:r>
            <a:r>
              <a:rPr lang="en-US" sz="1000" i="1" dirty="0">
                <a:latin typeface="Calibri" panose="020F0502020204030204" pitchFamily="34" charset="0"/>
                <a:ea typeface="Calibri" panose="020F0502020204030204" pitchFamily="34" charset="0"/>
                <a:cs typeface="Calibri" panose="020F0502020204030204" pitchFamily="34" charset="0"/>
              </a:rPr>
              <a:t>Low-code AI tools for logistics and SMEs</a:t>
            </a:r>
            <a:r>
              <a:rPr lang="en-US" sz="1000" dirty="0">
                <a:latin typeface="Calibri" panose="020F0502020204030204" pitchFamily="34" charset="0"/>
                <a:ea typeface="Calibri" panose="020F0502020204030204" pitchFamily="34" charset="0"/>
                <a:cs typeface="Calibri" panose="020F0502020204030204" pitchFamily="34" charset="0"/>
              </a:rPr>
              <a:t>.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6"/>
              </a:rPr>
              <a:t>https://www.planetcrust.com</a:t>
            </a:r>
            <a:r>
              <a:rPr lang="en-US" sz="1000" dirty="0">
                <a:latin typeface="Calibri" panose="020F0502020204030204" pitchFamily="34" charset="0"/>
                <a:ea typeface="Calibri" panose="020F0502020204030204" pitchFamily="34" charset="0"/>
                <a:cs typeface="Calibri" panose="020F0502020204030204" pitchFamily="34" charset="0"/>
              </a:rPr>
              <a:t> (Accessed: 14 July 2025).</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Rahman, K. &amp; Tetteh, D.</a:t>
            </a:r>
            <a:r>
              <a:rPr lang="en-US" sz="1000" dirty="0">
                <a:latin typeface="Calibri" panose="020F0502020204030204" pitchFamily="34" charset="0"/>
                <a:ea typeface="Calibri" panose="020F0502020204030204" pitchFamily="34" charset="0"/>
                <a:cs typeface="Calibri" panose="020F0502020204030204" pitchFamily="34" charset="0"/>
              </a:rPr>
              <a:t> (2024) ‘Scaling digital logistics in Sub-Saharan Africa: An SME perspective’, </a:t>
            </a:r>
            <a:r>
              <a:rPr lang="en-US" sz="1000" i="1" dirty="0">
                <a:latin typeface="Calibri" panose="020F0502020204030204" pitchFamily="34" charset="0"/>
                <a:ea typeface="Calibri" panose="020F0502020204030204" pitchFamily="34" charset="0"/>
                <a:cs typeface="Calibri" panose="020F0502020204030204" pitchFamily="34" charset="0"/>
              </a:rPr>
              <a:t>African Journal of Logistics and Development</a:t>
            </a:r>
            <a:r>
              <a:rPr lang="en-US" sz="1000" dirty="0">
                <a:latin typeface="Calibri" panose="020F0502020204030204" pitchFamily="34" charset="0"/>
                <a:ea typeface="Calibri" panose="020F0502020204030204" pitchFamily="34" charset="0"/>
                <a:cs typeface="Calibri" panose="020F0502020204030204" pitchFamily="34" charset="0"/>
              </a:rPr>
              <a:t>, 12(1), pp. 54–70.</a:t>
            </a:r>
          </a:p>
          <a:p>
            <a:pPr>
              <a:buFont typeface="+mj-lt"/>
              <a:buAutoNum type="arabicPeriod"/>
            </a:pPr>
            <a:r>
              <a:rPr lang="en-US" sz="1000" b="1" dirty="0" err="1">
                <a:latin typeface="Calibri" panose="020F0502020204030204" pitchFamily="34" charset="0"/>
                <a:ea typeface="Calibri" panose="020F0502020204030204" pitchFamily="34" charset="0"/>
                <a:cs typeface="Calibri" panose="020F0502020204030204" pitchFamily="34" charset="0"/>
              </a:rPr>
              <a:t>Saghafian</a:t>
            </a:r>
            <a:r>
              <a:rPr lang="en-US" sz="1000" b="1" dirty="0">
                <a:latin typeface="Calibri" panose="020F0502020204030204" pitchFamily="34" charset="0"/>
                <a:ea typeface="Calibri" panose="020F0502020204030204" pitchFamily="34" charset="0"/>
                <a:cs typeface="Calibri" panose="020F0502020204030204" pitchFamily="34" charset="0"/>
              </a:rPr>
              <a:t>, S. &amp; Van Oyen, M.P.</a:t>
            </a:r>
            <a:r>
              <a:rPr lang="en-US" sz="1000" dirty="0">
                <a:latin typeface="Calibri" panose="020F0502020204030204" pitchFamily="34" charset="0"/>
                <a:ea typeface="Calibri" panose="020F0502020204030204" pitchFamily="34" charset="0"/>
                <a:cs typeface="Calibri" panose="020F0502020204030204" pitchFamily="34" charset="0"/>
              </a:rPr>
              <a:t> (2023) ‘Operational challenges and opportunities in Africa-focused supply chains’, </a:t>
            </a:r>
            <a:r>
              <a:rPr lang="en-US" sz="1000" i="1" dirty="0">
                <a:latin typeface="Calibri" panose="020F0502020204030204" pitchFamily="34" charset="0"/>
                <a:ea typeface="Calibri" panose="020F0502020204030204" pitchFamily="34" charset="0"/>
                <a:cs typeface="Calibri" panose="020F0502020204030204" pitchFamily="34" charset="0"/>
              </a:rPr>
              <a:t>International Journal of Operations &amp; Production Management</a:t>
            </a:r>
            <a:r>
              <a:rPr lang="en-US" sz="1000" dirty="0">
                <a:latin typeface="Calibri" panose="020F0502020204030204" pitchFamily="34" charset="0"/>
                <a:ea typeface="Calibri" panose="020F0502020204030204" pitchFamily="34" charset="0"/>
                <a:cs typeface="Calibri" panose="020F0502020204030204" pitchFamily="34" charset="0"/>
              </a:rPr>
              <a:t>, 43(1), pp. 45–67.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7"/>
              </a:rPr>
              <a:t>https://doi.org/10.1108/IJOPM-03-2022-0164</a:t>
            </a:r>
            <a:endParaRPr lang="en-US" sz="10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000" b="1" dirty="0" err="1"/>
              <a:t>Tricco</a:t>
            </a:r>
            <a:r>
              <a:rPr lang="en-US" sz="1000" b="1" dirty="0"/>
              <a:t>, A. C., Lillie, E., Zarin, W., O’Brien, K. K., Colquhoun, H., Levac, D., ... &amp; Straus, S. E.</a:t>
            </a:r>
            <a:r>
              <a:rPr lang="en-US" sz="1000" dirty="0"/>
              <a:t> (2018). PRISMA extension for scoping reviews (PRISMA-</a:t>
            </a:r>
            <a:r>
              <a:rPr lang="en-US" sz="1000" dirty="0" err="1"/>
              <a:t>ScR</a:t>
            </a:r>
            <a:r>
              <a:rPr lang="en-US" sz="1000" dirty="0"/>
              <a:t>): Checklist and explanation. </a:t>
            </a:r>
            <a:r>
              <a:rPr lang="en-US" sz="1000" i="1" dirty="0"/>
              <a:t>Annals of Internal Medicine</a:t>
            </a:r>
            <a:r>
              <a:rPr lang="en-US" sz="1000" dirty="0"/>
              <a:t>, 169(7), 467–473. https://doi.org/10.7326/M18-0850</a:t>
            </a:r>
            <a:endParaRPr lang="en-US" sz="10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UNECA</a:t>
            </a:r>
            <a:r>
              <a:rPr lang="en-US" sz="1000" dirty="0">
                <a:latin typeface="Calibri" panose="020F0502020204030204" pitchFamily="34" charset="0"/>
                <a:ea typeface="Calibri" panose="020F0502020204030204" pitchFamily="34" charset="0"/>
                <a:cs typeface="Calibri" panose="020F0502020204030204" pitchFamily="34" charset="0"/>
              </a:rPr>
              <a:t> (2023) </a:t>
            </a:r>
            <a:r>
              <a:rPr lang="en-US" sz="1000" i="1" dirty="0">
                <a:latin typeface="Calibri" panose="020F0502020204030204" pitchFamily="34" charset="0"/>
                <a:ea typeface="Calibri" panose="020F0502020204030204" pitchFamily="34" charset="0"/>
                <a:cs typeface="Calibri" panose="020F0502020204030204" pitchFamily="34" charset="0"/>
              </a:rPr>
              <a:t>Technology and innovation in African logistics: Regional policy outlook</a:t>
            </a:r>
            <a:r>
              <a:rPr lang="en-US" sz="1000" dirty="0">
                <a:latin typeface="Calibri" panose="020F0502020204030204" pitchFamily="34" charset="0"/>
                <a:ea typeface="Calibri" panose="020F0502020204030204" pitchFamily="34" charset="0"/>
                <a:cs typeface="Calibri" panose="020F0502020204030204" pitchFamily="34" charset="0"/>
              </a:rPr>
              <a:t>. Addis Ababa: United Nations Economic Commission for Africa.</a:t>
            </a:r>
          </a:p>
          <a:p>
            <a:pPr>
              <a:buFont typeface="+mj-lt"/>
              <a:buAutoNum type="arabicPeriod"/>
            </a:pPr>
            <a:r>
              <a:rPr lang="en-US" sz="1000" b="1" dirty="0">
                <a:latin typeface="Calibri" panose="020F0502020204030204" pitchFamily="34" charset="0"/>
                <a:ea typeface="Calibri" panose="020F0502020204030204" pitchFamily="34" charset="0"/>
                <a:cs typeface="Calibri" panose="020F0502020204030204" pitchFamily="34" charset="0"/>
              </a:rPr>
              <a:t>Wang, Y., Zhao, X. &amp; Huo, B.</a:t>
            </a:r>
            <a:r>
              <a:rPr lang="en-US" sz="1000" dirty="0">
                <a:latin typeface="Calibri" panose="020F0502020204030204" pitchFamily="34" charset="0"/>
                <a:ea typeface="Calibri" panose="020F0502020204030204" pitchFamily="34" charset="0"/>
                <a:cs typeface="Calibri" panose="020F0502020204030204" pitchFamily="34" charset="0"/>
              </a:rPr>
              <a:t> (2022) ‘The role of artificial intelligence in supply chain visibility: A literature review and future research directions’, </a:t>
            </a:r>
            <a:r>
              <a:rPr lang="en-US" sz="1000" i="1" dirty="0">
                <a:latin typeface="Calibri" panose="020F0502020204030204" pitchFamily="34" charset="0"/>
                <a:ea typeface="Calibri" panose="020F0502020204030204" pitchFamily="34" charset="0"/>
                <a:cs typeface="Calibri" panose="020F0502020204030204" pitchFamily="34" charset="0"/>
              </a:rPr>
              <a:t>Transportation Research Part E: Logistics and Transportation Review</a:t>
            </a:r>
            <a:r>
              <a:rPr lang="en-US" sz="1000" dirty="0">
                <a:latin typeface="Calibri" panose="020F0502020204030204" pitchFamily="34" charset="0"/>
                <a:ea typeface="Calibri" panose="020F0502020204030204" pitchFamily="34" charset="0"/>
                <a:cs typeface="Calibri" panose="020F0502020204030204" pitchFamily="34" charset="0"/>
              </a:rPr>
              <a:t>, 158, 102611. Available at: </a:t>
            </a:r>
            <a:r>
              <a:rPr lang="en-US" sz="1000" dirty="0">
                <a:latin typeface="Calibri" panose="020F0502020204030204" pitchFamily="34" charset="0"/>
                <a:ea typeface="Calibri" panose="020F0502020204030204" pitchFamily="34" charset="0"/>
                <a:cs typeface="Calibri" panose="020F0502020204030204" pitchFamily="34" charset="0"/>
                <a:hlinkClick r:id="rId8"/>
              </a:rPr>
              <a:t>https://doi.org/10.1016/j.tre.2022.102611</a:t>
            </a:r>
            <a:endParaRPr lang="en-US" sz="10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000" b="1" dirty="0"/>
              <a:t>World Bank</a:t>
            </a:r>
            <a:r>
              <a:rPr lang="en-US" sz="1000" dirty="0"/>
              <a:t>. (2023). </a:t>
            </a:r>
            <a:r>
              <a:rPr lang="en-US" sz="1000" i="1" dirty="0"/>
              <a:t>AI in African Supply Chains: Landscape Review</a:t>
            </a:r>
            <a:r>
              <a:rPr lang="en-US" sz="1000" dirty="0"/>
              <a:t>. World Bank Digital Trade Unit Report.</a:t>
            </a:r>
          </a:p>
          <a:p>
            <a:pPr marL="0" indent="0"/>
            <a:endParaRPr lang="en-US" sz="1100" dirty="0">
              <a:latin typeface="Calibri" panose="020F0502020204030204" pitchFamily="34" charset="0"/>
              <a:ea typeface="Calibri" panose="020F0502020204030204" pitchFamily="34" charset="0"/>
              <a:cs typeface="Calibri" panose="020F0502020204030204" pitchFamily="34" charset="0"/>
            </a:endParaRPr>
          </a:p>
          <a:p>
            <a:endParaRPr lang="en-US" sz="1200" dirty="0"/>
          </a:p>
        </p:txBody>
      </p:sp>
    </p:spTree>
    <p:extLst>
      <p:ext uri="{BB962C8B-B14F-4D97-AF65-F5344CB8AC3E}">
        <p14:creationId xmlns:p14="http://schemas.microsoft.com/office/powerpoint/2010/main" val="1452560709"/>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Gothic"/>
        <a:cs typeface=""/>
      </a:majorFont>
      <a:minorFont>
        <a:latin typeface="Arial"/>
        <a:ea typeface="MS 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2400" b="0" i="0" u="none" strike="noStrike" cap="none" normalizeH="0" baseline="0" smtClean="0">
            <a:ln>
              <a:noFill/>
            </a:ln>
            <a:solidFill>
              <a:schemeClr val="bg1"/>
            </a:solidFill>
            <a:effectLst/>
            <a:latin typeface="Times New Roman" panose="02020603050405020304" pitchFamily="18" charset="0"/>
            <a:ea typeface="MS Gothic" panose="020B0609070205080204" pitchFamily="49"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2400" b="0" i="0" u="none" strike="noStrike" cap="none" normalizeH="0" baseline="0" smtClean="0">
            <a:ln>
              <a:noFill/>
            </a:ln>
            <a:solidFill>
              <a:schemeClr val="bg1"/>
            </a:solidFill>
            <a:effectLst/>
            <a:latin typeface="Times New Roman" panose="02020603050405020304" pitchFamily="18" charset="0"/>
            <a:ea typeface="MS Gothic" panose="020B0609070205080204" pitchFamily="49" charset="-128"/>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58814</TotalTime>
  <Words>5167</Words>
  <Application>Microsoft Office PowerPoint</Application>
  <PresentationFormat>On-screen Show (4:3)</PresentationFormat>
  <Paragraphs>537</Paragraphs>
  <Slides>32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Arial</vt:lpstr>
      <vt:lpstr>Arial Unicode MS</vt:lpstr>
      <vt:lpstr>Calibri</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Deliverable 4: Implementation Roadmap- AI-First</vt:lpstr>
      <vt:lpstr>Deliverable 4: Implementation Roadmap- AI-First</vt:lpstr>
      <vt:lpstr>Deliverable 4: Implementation Roadmap- AI-First</vt:lpstr>
      <vt:lpstr>Discussion of  Results</vt:lpstr>
      <vt:lpstr>Why your project meets your pathway  requirements </vt:lpstr>
      <vt:lpstr>Novelty of The Project</vt:lpstr>
      <vt:lpstr>Limitations </vt:lpstr>
      <vt:lpstr>Suggestions for future research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for TIM Gate 0 project presentarions - revised February 2019</dc:title>
  <dc:subject>Technology Innovation Management (TIM), https://www.carleton.ca/tim/</dc:subject>
  <dc:creator>John Callahan</dc:creator>
  <cp:keywords>Research, MEng, MEnt, Engineering, Entrepreneurship, Innovation</cp:keywords>
  <cp:lastModifiedBy>Breck Agyekum</cp:lastModifiedBy>
  <cp:revision>387</cp:revision>
  <cp:lastPrinted>2025-07-27T22:05:09Z</cp:lastPrinted>
  <dcterms:created xsi:type="dcterms:W3CDTF">2001-12-14T21:35:44Z</dcterms:created>
  <dcterms:modified xsi:type="dcterms:W3CDTF">2025-08-26T14:19:44Z</dcterms:modified>
</cp:coreProperties>
</file>